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8ae627a4d64eca" /><Relationship Type="http://schemas.openxmlformats.org/officeDocument/2006/relationships/extended-properties" Target="/docProps/app.xml" Id="R7a337b8581bb4a4d" /><Relationship Type="http://schemas.openxmlformats.org/officeDocument/2006/relationships/officeDocument" Target="/ppt/presentation.xml" Id="Rc630818f709a4f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495c52ac124cad"/>
  </p:sldMasterIdLst>
  <p:notesMasterIdLst>
    <p:notesMasterId xmlns:r="http://schemas.openxmlformats.org/officeDocument/2006/relationships" r:id="R68443564ca9447ef"/>
  </p:notesMasterIdLst>
  <p:sldIdLst>
    <p:sldId xmlns:r="http://schemas.openxmlformats.org/officeDocument/2006/relationships" id="256" r:id="R1339929d4a8b4c57"/>
    <p:sldId xmlns:r="http://schemas.openxmlformats.org/officeDocument/2006/relationships" id="257" r:id="R092baff7b3fb4a13"/>
    <p:sldId xmlns:r="http://schemas.openxmlformats.org/officeDocument/2006/relationships" id="258" r:id="R44e6fba059f34f66"/>
    <p:sldId xmlns:r="http://schemas.openxmlformats.org/officeDocument/2006/relationships" id="259" r:id="Ref4ab86781cb49c9"/>
    <p:sldId xmlns:r="http://schemas.openxmlformats.org/officeDocument/2006/relationships" id="260" r:id="R10d25371f230424f"/>
    <p:sldId xmlns:r="http://schemas.openxmlformats.org/officeDocument/2006/relationships" id="261" r:id="Rbe66a98413a24e62"/>
    <p:sldId xmlns:r="http://schemas.openxmlformats.org/officeDocument/2006/relationships" id="262" r:id="R22669ea7e9694972"/>
    <p:sldId xmlns:r="http://schemas.openxmlformats.org/officeDocument/2006/relationships" id="263" r:id="R5600daa7b4a8472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3ab3a738db40af" /><Relationship Type="http://schemas.openxmlformats.org/officeDocument/2006/relationships/slideMaster" Target="/ppt/slideMasters/slideMaster1.xml" Id="R1c495c52ac124cad" /><Relationship Type="http://schemas.openxmlformats.org/officeDocument/2006/relationships/notesMaster" Target="/ppt/notesMasters/notesMaster1.xml" Id="R68443564ca9447ef" /><Relationship Type="http://schemas.openxmlformats.org/officeDocument/2006/relationships/presProps" Target="/ppt/presProps.xml" Id="R51347d8463fc4578" /><Relationship Type="http://schemas.openxmlformats.org/officeDocument/2006/relationships/tableStyles" Target="/ppt/tableStyles.xml" Id="R3a9742fdd59a4b2d" /><Relationship Type="http://schemas.openxmlformats.org/officeDocument/2006/relationships/slide" Target="/ppt/slides/slide1.xml" Id="R1339929d4a8b4c57" /><Relationship Type="http://schemas.openxmlformats.org/officeDocument/2006/relationships/slide" Target="/ppt/slides/slide2.xml" Id="R092baff7b3fb4a13" /><Relationship Type="http://schemas.openxmlformats.org/officeDocument/2006/relationships/slide" Target="/ppt/slides/slide3.xml" Id="R44e6fba059f34f66" /><Relationship Type="http://schemas.openxmlformats.org/officeDocument/2006/relationships/slide" Target="/ppt/slides/slide4.xml" Id="Ref4ab86781cb49c9" /><Relationship Type="http://schemas.openxmlformats.org/officeDocument/2006/relationships/slide" Target="/ppt/slides/slide5.xml" Id="R10d25371f230424f" /><Relationship Type="http://schemas.openxmlformats.org/officeDocument/2006/relationships/slide" Target="/ppt/slides/slide6.xml" Id="Rbe66a98413a24e62" /><Relationship Type="http://schemas.openxmlformats.org/officeDocument/2006/relationships/slide" Target="/ppt/slides/slide7.xml" Id="R22669ea7e9694972" /><Relationship Type="http://schemas.openxmlformats.org/officeDocument/2006/relationships/slide" Target="/ppt/slides/slide8.xml" Id="R5600daa7b4a847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647498bb4643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Voyager Light Corporate">
      <a:dk1>
        <a:srgbClr val="000000"/>
      </a:dk1>
      <a:lt1>
        <a:srgbClr val="FFFFFF"/>
      </a:lt1>
      <a:dk2>
        <a:srgbClr val="17324D"/>
      </a:dk2>
      <a:lt2>
        <a:srgbClr val="D7E0E7"/>
      </a:lt2>
      <a:accent1>
        <a:srgbClr val="3E78B2"/>
      </a:accent1>
      <a:accent2>
        <a:srgbClr val="3F8C86"/>
      </a:accent2>
      <a:accent3>
        <a:srgbClr val="D46A52"/>
      </a:accent3>
      <a:accent4>
        <a:srgbClr val="E3B341"/>
      </a:accent4>
      <a:accent5>
        <a:srgbClr val="244C70"/>
      </a:accent5>
      <a:accent6>
        <a:srgbClr val="6F8FAF"/>
      </a:accent6>
      <a:hlink>
        <a:srgbClr val="3E78B2"/>
      </a:hlink>
      <a:folHlink>
        <a:srgbClr val="715C9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Voyager Light Corpora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ded2441d9f46f4" /><Relationship Type="http://schemas.openxmlformats.org/officeDocument/2006/relationships/notesMaster" Target="/ppt/notesMasters/notesMaster1.xml" Id="R664f00a6b5e949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5705bf8a074b24" /><Relationship Type="http://schemas.openxmlformats.org/officeDocument/2006/relationships/notesMaster" Target="/ppt/notesMasters/notesMaster1.xml" Id="R3eb1fb7cc93f45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f104dfef3f4c6f" /><Relationship Type="http://schemas.openxmlformats.org/officeDocument/2006/relationships/notesMaster" Target="/ppt/notesMasters/notesMaster1.xml" Id="Rd5e52745a7f940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5e6eed7a6b4e5c" /><Relationship Type="http://schemas.openxmlformats.org/officeDocument/2006/relationships/notesMaster" Target="/ppt/notesMasters/notesMaster1.xml" Id="R4f71e21b30774f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3e43b226224582" /><Relationship Type="http://schemas.openxmlformats.org/officeDocument/2006/relationships/notesMaster" Target="/ppt/notesMasters/notesMaster1.xml" Id="R05dbc491f4124a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d8fed9eaf94bb6" /><Relationship Type="http://schemas.openxmlformats.org/officeDocument/2006/relationships/notesMaster" Target="/ppt/notesMasters/notesMaster1.xml" Id="Re1c160449e8a49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a191f905fd4353" /><Relationship Type="http://schemas.openxmlformats.org/officeDocument/2006/relationships/notesMaster" Target="/ppt/notesMasters/notesMaster1.xml" Id="R54118619295e43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5f370a04644dc8" /><Relationship Type="http://schemas.openxmlformats.org/officeDocument/2006/relationships/notesMaster" Target="/ppt/notesMasters/notesMaster1.xml" Id="R6cd7d178642940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Sandeep Uppal</a:t>
            </a:r>
          </a:p>
          <a:p xmlns:a="http://schemas.openxmlformats.org/drawingml/2006/main">
            <a:r>
              <a:t>Suggested time: 2 minutes</a:t>
            </a:r>
          </a:p>
          <a:p xmlns:a="http://schemas.openxmlformats.org/drawingml/2006/main">
            <a:r>
              <a:t>Open with the business story. Voyager.AI connects airline customer data to real-time decisions and activation.</a:t>
            </a:r>
          </a:p>
          <a:p xmlns:a="http://schemas.openxmlformats.org/drawingml/2006/main">
            <a:r>
              <a:t>Set the expectation that the session will cover the customer problem, the solution, the architecture, the route to market, and how the team can participate.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 deck: Voyager_AI_AllHands_30min.pptx, supplied 25 July 2026.</a:t>
            </a:r>
          </a:p>
          <a:p xmlns:a="http://schemas.openxmlformats.org/drawingml/2006/main">
            <a:r>
              <a:t>- Coforge Voyager.AI product page: https://www.coforge.com/industries/travel/voyager-ai, accessed 25 July 2026.</a:t>
            </a:r>
          </a:p>
          <a:p xmlns:a="http://schemas.openxmlformats.org/drawingml/2006/main">
            <a:r>
              <a:t>- Adobe Exchange Voyager.AI listing: https://exchange.adobe.com/apps/ec/1200205/voyager-ai-an-airline-customer-intelligence-personalization-accelerator, accessed 25 July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Sandeep Uppal</a:t>
            </a:r>
          </a:p>
          <a:p xmlns:a="http://schemas.openxmlformats.org/drawingml/2006/main">
            <a:r>
              <a:t>Suggested time: 4 minutes</a:t>
            </a:r>
          </a:p>
          <a:p xmlns:a="http://schemas.openxmlformats.org/drawingml/2006/main">
            <a:r>
              <a:t>The problem is fragmentation and latency, not the absence of data.</a:t>
            </a:r>
          </a:p>
          <a:p xmlns:a="http://schemas.openxmlformats.org/drawingml/2006/main">
            <a:r>
              <a:t>Use one airline example, such as a disruption message that does not reflect loyalty status or current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 deck: Voyager_AI_AllHands_30min.pptx, slide 2.</a:t>
            </a:r>
          </a:p>
          <a:p xmlns:a="http://schemas.openxmlformats.org/drawingml/2006/main">
            <a:r>
              <a:t>- Coforge Voyager.AI product page: https://www.coforge.com/industries/travel/voyager-ai, accessed 25 July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Sandeep Uppal</a:t>
            </a:r>
          </a:p>
          <a:p xmlns:a="http://schemas.openxmlformats.org/drawingml/2006/main">
            <a:r>
              <a:t>Suggested time: 4 minutes</a:t>
            </a:r>
          </a:p>
          <a:p xmlns:a="http://schemas.openxmlformats.org/drawingml/2006/main">
            <a:r>
              <a:t>Describe Voyager.AI as an operating pattern rather than a collection of disconnected features.</a:t>
            </a:r>
          </a:p>
          <a:p xmlns:a="http://schemas.openxmlformats.org/drawingml/2006/main">
            <a:r>
              <a:t>Emphasize the closed loop: understand the traveler, decide the action, activate it, and learn from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Coforge Voyager.AI product page: https://www.coforge.com/industries/travel/voyager-ai, accessed 25 July 2026.</a:t>
            </a:r>
          </a:p>
          <a:p xmlns:a="http://schemas.openxmlformats.org/drawingml/2006/main">
            <a:r>
              <a:t>- Internal source deck: Voyager_AI_AllHands_30min.pptx, slide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Adobe Architect</a:t>
            </a:r>
          </a:p>
          <a:p xmlns:a="http://schemas.openxmlformats.org/drawingml/2006/main">
            <a:r>
              <a:t>Suggested time: 4 minutes</a:t>
            </a:r>
          </a:p>
          <a:p xmlns:a="http://schemas.openxmlformats.org/drawingml/2006/main">
            <a:r>
              <a:t>Explain the Rapid Deployment designation in practical terms: packaged scope, repeatable steps, and Adobe review.</a:t>
            </a:r>
          </a:p>
          <a:p xmlns:a="http://schemas.openxmlformats.org/drawingml/2006/main">
            <a:r>
              <a:t>Avoid presenting the designation as a guarantee of customer outcomes. It validates the offer and its go-to-market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Adobe Rapid Deployment solution guidance: https://partners.adobe.com/digitalexperience/activation/topics/solution-validation/rapid-deployment-solutions, accessed 25 July 2026.</a:t>
            </a:r>
          </a:p>
          <a:p xmlns:a="http://schemas.openxmlformats.org/drawingml/2006/main">
            <a:r>
              <a:t>- Adobe packaged services guidance: https://partners.adobe.com/digitalexperience/activation/partner-offerings/packaged-services, accessed 25 July 2026.</a:t>
            </a:r>
          </a:p>
          <a:p xmlns:a="http://schemas.openxmlformats.org/drawingml/2006/main">
            <a:r>
              <a:t>- Adobe Exchange Voyager.AI listing: https://exchange.adobe.com/apps/ec/1200205/voyager-ai-an-airline-customer-intelligence-personalization-accelerator, accessed 25 July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Presenters: Anant and Adobe Architect</a:t>
            </a:r>
          </a:p>
          <a:p xmlns:a="http://schemas.openxmlformats.org/drawingml/2006/main">
            <a:r>
              <a:t>Suggested time: 6 minutes</a:t>
            </a:r>
          </a:p>
          <a:p xmlns:a="http://schemas.openxmlformats.org/drawingml/2006/main">
            <a:r>
              <a:t>Walk from left to right. Start with airline source systems, unify the traveler profile, make a decision, then activate and measure.</a:t>
            </a:r>
          </a:p>
          <a:p xmlns:a="http://schemas.openxmlformats.org/drawingml/2006/main">
            <a:r>
              <a:t>Call out that the architecture is modular. The exact Adobe components depend on the customer's current estate and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 deck: Voyager_AI_AllHands_30min.pptx, slide 5.</a:t>
            </a:r>
          </a:p>
          <a:p xmlns:a="http://schemas.openxmlformats.org/drawingml/2006/main">
            <a:r>
              <a:t>- Coforge Voyager.AI product page: https://www.coforge.com/industries/travel/voyager-ai, accessed 25 July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Anant</a:t>
            </a:r>
          </a:p>
          <a:p xmlns:a="http://schemas.openxmlformats.org/drawingml/2006/main">
            <a:r>
              <a:t>Suggested time: 4 minutes</a:t>
            </a:r>
          </a:p>
          <a:p xmlns:a="http://schemas.openxmlformats.org/drawingml/2006/main">
            <a:r>
              <a:t>Use these journeys to move from architecture to business action.</a:t>
            </a:r>
          </a:p>
          <a:p xmlns:a="http://schemas.openxmlformats.org/drawingml/2006/main">
            <a:r>
              <a:t>For the upgrade journey, emphasize the combination of digital behavior, booking context and loyalty data.</a:t>
            </a:r>
          </a:p>
          <a:p xmlns:a="http://schemas.openxmlformats.org/drawingml/2006/main">
            <a:r>
              <a:t>For disruption care, focus on relevance and speed rather than a generic message to every passenger.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 deck: Voyager_AI_AllHands_30min.pptx, slides 3 and 5.</a:t>
            </a:r>
          </a:p>
          <a:p xmlns:a="http://schemas.openxmlformats.org/drawingml/2006/main">
            <a:r>
              <a:t>- Coforge Voyager.AI product page: https://www.coforge.com/industries/travel/voyager-ai, accessed 25 July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Sandeep Uppal</a:t>
            </a:r>
          </a:p>
          <a:p xmlns:a="http://schemas.openxmlformats.org/drawingml/2006/main">
            <a:r>
              <a:t>Suggested time: 4 minutes</a:t>
            </a:r>
          </a:p>
          <a:p xmlns:a="http://schemas.openxmlformats.org/drawingml/2006/main">
            <a:r>
              <a:t>The purpose of this slide is opportunity recognition, not a complete sales playbook.</a:t>
            </a:r>
          </a:p>
          <a:p xmlns:a="http://schemas.openxmlformats.org/drawingml/2006/main">
            <a:r>
              <a:t>A strong starting point is an airline that already has Adobe technology and a visible personalization, loyalty or disruption challenge.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 deck: Voyager_AI_AllHands_30min.pptx, slide 6.</a:t>
            </a:r>
          </a:p>
          <a:p xmlns:a="http://schemas.openxmlformats.org/drawingml/2006/main">
            <a:r>
              <a:t>- Adobe Exchange Voyager.AI listing: https://exchange.adobe.com/apps/ec/1200205/voyager-ai-an-airline-customer-intelligence-personalization-accelerator, accessed 25 July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Presenters: Anant and Sandeep Uppal</a:t>
            </a:r>
          </a:p>
          <a:p xmlns:a="http://schemas.openxmlformats.org/drawingml/2006/main">
            <a:r>
              <a:t>Suggested time: 2 minutes</a:t>
            </a:r>
          </a:p>
          <a:p xmlns:a="http://schemas.openxmlformats.org/drawingml/2006/main">
            <a:r>
              <a:t>Close on one clear action: identify one account and bring it to the team.</a:t>
            </a:r>
          </a:p>
          <a:p xmlns:a="http://schemas.openxmlformats.org/drawingml/2006/main">
            <a:r>
              <a:t>Direct the audience to the Voyager.AI hub for the deck, demo scripts and enablement material.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 deck: Voyager_AI_AllHands_30min.pptx, slides 7 and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a920d6c10947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f2f189e8614e25" /><Relationship Type="http://schemas.openxmlformats.org/officeDocument/2006/relationships/slideLayout" Target="/ppt/slideLayouts/slideLayout1.xml" Id="R5e3f57b3a7ec48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3f57b3a7ec48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Voyager Light Corporate">
      <a:dk1>
        <a:srgbClr val="000000"/>
      </a:dk1>
      <a:lt1>
        <a:srgbClr val="FFFFFF"/>
      </a:lt1>
      <a:dk2>
        <a:srgbClr val="17324D"/>
      </a:dk2>
      <a:lt2>
        <a:srgbClr val="D7E0E7"/>
      </a:lt2>
      <a:accent1>
        <a:srgbClr val="3E78B2"/>
      </a:accent1>
      <a:accent2>
        <a:srgbClr val="3F8C86"/>
      </a:accent2>
      <a:accent3>
        <a:srgbClr val="D46A52"/>
      </a:accent3>
      <a:accent4>
        <a:srgbClr val="E3B341"/>
      </a:accent4>
      <a:accent5>
        <a:srgbClr val="244C70"/>
      </a:accent5>
      <a:accent6>
        <a:srgbClr val="6F8FAF"/>
      </a:accent6>
      <a:hlink>
        <a:srgbClr val="3E78B2"/>
      </a:hlink>
      <a:folHlink>
        <a:srgbClr val="715C9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Voyager Light Corpora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1d8259d5347ba" /><Relationship Type="http://schemas.openxmlformats.org/officeDocument/2006/relationships/notesSlide" Target="/ppt/notesSlides/notesSlide1.xml" Id="Raafccccae23947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971de4c8444e8" /><Relationship Type="http://schemas.openxmlformats.org/officeDocument/2006/relationships/notesSlide" Target="/ppt/notesSlides/notesSlide2.xml" Id="R88988ae39b4a4f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8425d59024719" /><Relationship Type="http://schemas.openxmlformats.org/officeDocument/2006/relationships/notesSlide" Target="/ppt/notesSlides/notesSlide3.xml" Id="R422bdb667b144a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c30ef2b59473c" /><Relationship Type="http://schemas.openxmlformats.org/officeDocument/2006/relationships/notesSlide" Target="/ppt/notesSlides/notesSlide4.xml" Id="R356ec93bbb7f42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fcceb11f14bba" /><Relationship Type="http://schemas.openxmlformats.org/officeDocument/2006/relationships/notesSlide" Target="/ppt/notesSlides/notesSlide5.xml" Id="R4c4a2202a7ba49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97b57eed14943" /><Relationship Type="http://schemas.openxmlformats.org/officeDocument/2006/relationships/notesSlide" Target="/ppt/notesSlides/notesSlide6.xml" Id="Rfc10a62fe58341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c8d5a0cd94e74" /><Relationship Type="http://schemas.openxmlformats.org/officeDocument/2006/relationships/notesSlide" Target="/ppt/notesSlides/notesSlide7.xml" Id="R4daa58fc5b5245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7e18dd211441f" /><Relationship Type="http://schemas.openxmlformats.org/officeDocument/2006/relationships/notesSlide" Target="/ppt/notesSlides/notesSlide8.xml" Id="Rcf360727737f45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3CA7BA-2A64-4C73-B89C-C9955163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D145B-0DDA-4C30-8A7F-0921AB00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E78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E78B2"/>
                </a:solidFill>
                <a:latin typeface="Arial"/>
                <a:ea typeface="Arial"/>
                <a:cs typeface="Arial"/>
              </a:rPr>
              <a:t>EXPERIENCE ALL HANDS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A1B89-96D6-4C7B-A798-0C1495B9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685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VOYAGER.AI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E909B-9A6F-4E35-B681-3C572C6A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232D"/>
                </a:solidFill>
                <a:latin typeface="Arial"/>
                <a:ea typeface="Arial"/>
                <a:cs typeface="Arial"/>
              </a:rPr>
              <a:t>Real-time airline personalization,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232D"/>
                </a:solidFill>
                <a:latin typeface="Arial"/>
                <a:ea typeface="Arial"/>
                <a:cs typeface="Arial"/>
              </a:rPr>
              <a:t>built for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72C18-6EA3-4184-9B9A-76B0FE34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6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C78"/>
                </a:solidFill>
                <a:latin typeface="Arial"/>
                <a:ea typeface="Arial"/>
                <a:cs typeface="Arial"/>
              </a:rPr>
              <a:t>A clear view of the proposition, architecture, use cases and route to market.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685E6-11F0-4E98-83BF-7194CC83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0"/>
            <a:ext cx="4238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0E0E0-2726-49AF-9652-16BD4242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430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BFD0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FD0E0"/>
                </a:solidFill>
                <a:latin typeface="Arial"/>
                <a:ea typeface="Arial"/>
                <a:cs typeface="Arial"/>
              </a:rPr>
              <a:t>THE OPERATING PATTERN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0986E-16DF-4B3E-846E-357612FD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85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AEEE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AEEE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79708-1550-4939-B307-EBA77FC3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Connect traveler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DBAB6-A345-42A2-B9B6-CDBFC16B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47925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617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4B26E-84FC-49CA-A4B5-74B712C5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AEEE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AEEE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EB303-36C2-4FC2-BFD4-89000BEC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956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3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Decide the next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F16B4-70EB-424B-8BAD-274CBC4F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76625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617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520AC-BB6E-48B4-A01A-A4C87B05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433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AEEE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AEEE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0204FD-1792-4EEF-B39A-7F6EA1DD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243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6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Activate across channels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3F445-08A0-4B97-9792-657A5E3B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8637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DCE7F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CE7F0"/>
                </a:solidFill>
                <a:latin typeface="Arial"/>
                <a:ea typeface="Arial"/>
                <a:cs typeface="Arial"/>
              </a:rPr>
              <a:t>Built on Adobe Experience 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BD390-E816-47D6-B2C9-87A4BB97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75903C-AC5F-443E-93DB-67458647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911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C78"/>
                </a:solidFill>
                <a:latin typeface="Arial"/>
                <a:ea typeface="Arial"/>
                <a:cs typeface="Arial"/>
              </a:rPr>
              <a:t>30-minute session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FAC905-8630-4627-B18C-75BE6F15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817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Sandeep Uppal  |  Adobe Architect  |  Anant</a:t>
            </a:r>
          </a:p>
        </p:txBody>
      </p:sp>
    </p:spTree>
    <p:extLst>
      <p:ext uri="{BB962C8B-B14F-4D97-AF65-F5344CB8AC3E}">
        <p14:creationId xmlns:p14="http://schemas.microsoft.com/office/powerpoint/2010/main" val="17487261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label-left">
            <a:extLst xmlns:a="http://schemas.openxmlformats.org/drawingml/2006/main">
              <a:ext uri="{FF2B5EF4-FFF2-40B4-BE49-F238E27FC236}">
                <a16:creationId xmlns:a16="http://schemas.microsoft.com/office/drawing/2014/main" id="{E4FEE809-AEE4-4874-9A5D-E16F0A93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C78"/>
                </a:solidFill>
                <a:latin typeface="Arial"/>
                <a:ea typeface="Arial"/>
                <a:cs typeface="Arial"/>
              </a:rPr>
              <a:t>VOYAGER.AI  |  EXPERIENCE ALL HANDS</a:t>
            </a:r>
          </a:p>
        </p:txBody>
      </p:sp>
      <p:sp>
        <p:nvSpPr>
          <p:cNvPr id="2" name="top-label-section">
            <a:extLst xmlns:a="http://schemas.openxmlformats.org/drawingml/2006/main">
              <a:ext uri="{FF2B5EF4-FFF2-40B4-BE49-F238E27FC236}">
                <a16:creationId xmlns:a16="http://schemas.microsoft.com/office/drawing/2014/main" id="{76ECBDCA-A3DA-4994-A85B-A80D40BD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3E78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E78B2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F8E46202-308B-44D1-9A15-691D851C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C21D0-A2BC-4427-B9F0-39A0916D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Airline data is abundant. Real-time action is not.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AADFB-1DEF-4AAF-9E88-F038AD63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F8C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F8C86"/>
                </a:solidFill>
                <a:latin typeface="Arial"/>
                <a:ea typeface="Arial"/>
                <a:cs typeface="Arial"/>
              </a:rPr>
              <a:t>WHAT AIRLINES ALREADY HAVE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6E21F-DE72-479B-8319-FE3CC4A7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F8C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F8C8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1E54E-EBD6-40CC-BE61-12A12E20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193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PSS and PNR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FF3EA-8478-4BDD-94C9-F3864D27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383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C78"/>
                </a:solidFill>
                <a:latin typeface="Arial"/>
                <a:ea typeface="Arial"/>
                <a:cs typeface="Arial"/>
              </a:rPr>
              <a:t>Bookings, fares, itineraries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7E82F-DDBE-4D64-8246-4299E9CF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98048-62CF-4D2A-BF18-857E05F0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5752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F8C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F8C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855D9-7D56-4411-8C80-7D30C5AF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384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Loyalty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5AD56-DF74-4F12-BAAA-4C2627F3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575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C78"/>
                </a:solidFill>
                <a:latin typeface="Arial"/>
                <a:ea typeface="Arial"/>
                <a:cs typeface="Arial"/>
              </a:rPr>
              <a:t>Tier, status, preferences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BD4B4-B912-417B-8434-24310A84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22D91-C0C8-47E3-83CB-77B98349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F8C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F8C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52ED10-B541-42EC-BCDF-E9B6657A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Digital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FF3D37-15E5-4EC8-A43F-23BD968A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766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C78"/>
                </a:solidFill>
                <a:latin typeface="Arial"/>
                <a:ea typeface="Arial"/>
                <a:cs typeface="Arial"/>
              </a:rPr>
              <a:t>Web and app interactions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41E98A-1DA6-4241-8113-5F3B4870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C431C-9063-4828-8B62-C63AB9A2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F8C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F8C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9876F-2462-4E7B-89C0-DDC3FAB5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767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Live 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E81123-0582-45CA-A684-11BBEBDD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958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C78"/>
                </a:solidFill>
                <a:latin typeface="Arial"/>
                <a:ea typeface="Arial"/>
                <a:cs typeface="Arial"/>
              </a:rPr>
              <a:t>Disruption and service events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91ECBA-7CA5-48EC-A80B-FD3CB420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5029200" cy="3943350"/>
          </a:xfrm>
          <a:prstGeom xmlns:a="http://schemas.openxmlformats.org/drawingml/2006/main" prst="roundRect">
            <a:avLst>
              <a:gd name="adj" fmla="val 24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5FDA51-5704-4873-A47A-392BC5BA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46A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46A52"/>
                </a:solidFill>
                <a:latin typeface="Arial"/>
                <a:ea typeface="Arial"/>
                <a:cs typeface="Arial"/>
              </a:rPr>
              <a:t>WHAT GETS LOST BETWEEN SYSTEMS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7B8249-0CC2-4765-A5D8-B6ED978D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33650"/>
            <a:ext cx="409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Data often arrives too late or without enough context to shape the next customer moment.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4F7E12-180C-49AC-84AF-8BFF59B3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BA5A59-225F-4DAD-AC64-612CE461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3848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Generic recovery messages for very different travelers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79A4DE-9481-47A9-ABC4-566AB0E2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AC1B25-04AE-4D0E-9991-E5D9457E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848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Slow audience activation and delayed campaigns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2203F1-BCB5-4F16-BAEB-BAC6B3D7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76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096E32-CFE6-496B-BBAA-F8D63DA7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00600"/>
            <a:ext cx="3848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Missed upgrade, ancillary and loyalty opportunities</a:t>
            </a:r>
          </a:p>
        </p:txBody>
      </p:sp>
      <p:sp>
        <p:nvSpPr>
          <p:cNvPr id="3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B208505-F143-46EA-AEA7-BA6CBE7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19B02AA-74D9-47D0-8C8D-034E366E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C78"/>
                </a:solidFill>
                <a:latin typeface="Arial"/>
                <a:ea typeface="Arial"/>
                <a:cs typeface="Arial"/>
              </a:rPr>
              <a:t>Coforge  |  Voyager.AI</a:t>
            </a:r>
          </a:p>
        </p:txBody>
      </p:sp>
      <p:sp>
        <p:nvSpPr>
          <p:cNvPr id="3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CDFBC99-820D-49A0-8677-495B6FCC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572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48257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label-left">
            <a:extLst xmlns:a="http://schemas.openxmlformats.org/drawingml/2006/main">
              <a:ext uri="{FF2B5EF4-FFF2-40B4-BE49-F238E27FC236}">
                <a16:creationId xmlns:a16="http://schemas.microsoft.com/office/drawing/2014/main" id="{4214A8CF-0516-4F4A-8904-61082259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C78"/>
                </a:solidFill>
                <a:latin typeface="Arial"/>
                <a:ea typeface="Arial"/>
                <a:cs typeface="Arial"/>
              </a:rPr>
              <a:t>VOYAGER.AI  |  EXPERIENCE ALL HANDS</a:t>
            </a:r>
          </a:p>
        </p:txBody>
      </p:sp>
      <p:sp>
        <p:nvSpPr>
          <p:cNvPr id="2" name="top-label-section">
            <a:extLst xmlns:a="http://schemas.openxmlformats.org/drawingml/2006/main">
              <a:ext uri="{FF2B5EF4-FFF2-40B4-BE49-F238E27FC236}">
                <a16:creationId xmlns:a16="http://schemas.microsoft.com/office/drawing/2014/main" id="{DBC86677-2A7F-4A69-86AD-775B787A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3E78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E78B2"/>
                </a:solidFill>
                <a:latin typeface="Arial"/>
                <a:ea typeface="Arial"/>
                <a:cs typeface="Arial"/>
              </a:rPr>
              <a:t>THE SOLUTION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2540559C-3DDE-4C91-AD3D-308877B1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48920-5B73-4E23-B820-5D629FAF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Voyager.AI connects traveler data to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73E2F-3EB3-4CB2-8C49-0DC568EC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4290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F9764-F044-48D6-9397-08D15982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E78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E78B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E369A-AEBF-410E-A9F1-912D5179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B2A77-341A-48C3-8062-19AFF6CF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99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E78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44651-C1CD-4F7E-B366-EE180F2A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B5CF2-600D-4604-AF23-C00B1851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71875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Unify PSS, loyalty and digital behavior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3FC8F-88C8-457D-925C-1AD31AA4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52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ED701-D6AE-4827-BF50-8FB06AD8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76725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Connect known and anonymous journeys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B07DB-2D95-4CD9-BC04-50AEEF1E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34290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8D741-3FDD-4C01-8DED-2D1196E0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717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F8C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F8C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BBB92-8EF1-45C2-9E27-CA2900B1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289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93AF47-9081-4B9A-B406-3C247183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099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F8C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85F38A-E3D1-495C-A2B6-1C9C6994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636D8-346E-4DCF-A751-DB7CB68C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71875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Score upgrade, ancillary and churn propensity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6C4E29-4AC7-45E1-9DC3-D4D3F634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52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1DC651-8706-4E41-9ABC-CC7FA0F1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76725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Select the most relevant next 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94E75D-F848-4068-836B-046CE708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05000"/>
            <a:ext cx="34290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AEEE9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2801AB-1F32-451B-B4B1-9EAE5A25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717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46A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46A5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64FBD5-934E-4FC5-A6DF-674564C2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289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Activate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1FCB0-E85B-4C38-99D7-0970EE6C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99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6A5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C4F0CC-BFF8-43AE-9858-0EC83640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1164AB-9235-4671-B198-4079F8C1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71875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Deliver across web, app, email, SMS and notifications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02935C-8236-41C3-B1BE-C89A2DED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52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3A9FD8-E40B-4B18-B97C-8B7A3F12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Measure outcomes and improve the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8FB79C-FB66-40B0-8ABE-6CF650EC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823F49-B436-4D33-BB4A-00693982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57825"/>
            <a:ext cx="1017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connected operating pattern for personalization, loyalty and disruption journeys.</a:t>
            </a:r>
          </a:p>
        </p:txBody>
      </p:sp>
      <p:sp>
        <p:nvSpPr>
          <p:cNvPr id="3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B24D3A8-D918-4DDA-B4B0-5E7F8E62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5C05292-6ECF-44CE-9F6B-79EDB555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C78"/>
                </a:solidFill>
                <a:latin typeface="Arial"/>
                <a:ea typeface="Arial"/>
                <a:cs typeface="Arial"/>
              </a:rPr>
              <a:t>Coforge  |  Voyager.AI</a:t>
            </a:r>
          </a:p>
        </p:txBody>
      </p:sp>
      <p:sp>
        <p:nvSpPr>
          <p:cNvPr id="3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8322379-4DB6-419D-AB56-DAB866EB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572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986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label-left">
            <a:extLst xmlns:a="http://schemas.openxmlformats.org/drawingml/2006/main">
              <a:ext uri="{FF2B5EF4-FFF2-40B4-BE49-F238E27FC236}">
                <a16:creationId xmlns:a16="http://schemas.microsoft.com/office/drawing/2014/main" id="{91CED49D-5DB3-4F4C-A31A-63A9FF67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C78"/>
                </a:solidFill>
                <a:latin typeface="Arial"/>
                <a:ea typeface="Arial"/>
                <a:cs typeface="Arial"/>
              </a:rPr>
              <a:t>VOYAGER.AI  |  EXPERIENCE ALL HANDS</a:t>
            </a:r>
          </a:p>
        </p:txBody>
      </p:sp>
      <p:sp>
        <p:nvSpPr>
          <p:cNvPr id="2" name="top-label-section">
            <a:extLst xmlns:a="http://schemas.openxmlformats.org/drawingml/2006/main">
              <a:ext uri="{FF2B5EF4-FFF2-40B4-BE49-F238E27FC236}">
                <a16:creationId xmlns:a16="http://schemas.microsoft.com/office/drawing/2014/main" id="{091A7D97-1E0B-4811-9CA4-23F6C90D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3E78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E78B2"/>
                </a:solidFill>
                <a:latin typeface="Arial"/>
                <a:ea typeface="Arial"/>
                <a:cs typeface="Arial"/>
              </a:rPr>
              <a:t>ADOBE PERSPECTIVE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A9446BDA-F8E2-4BFA-BA6C-66FE6332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0FCA7-4918-4067-A22B-672440D3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5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Adobe validation gives Voyager.AI a clearer route to market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D77D2-9ADB-4F85-9316-B22DF84D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067300" cy="3638550"/>
          </a:xfrm>
          <a:prstGeom xmlns:a="http://schemas.openxmlformats.org/drawingml/2006/main" prst="roundRect">
            <a:avLst>
              <a:gd name="adj" fmla="val 2618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CB8E3-DDF1-4D56-A43F-B740B114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E78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E78B2"/>
                </a:solidFill>
                <a:latin typeface="Arial"/>
                <a:ea typeface="Arial"/>
                <a:cs typeface="Arial"/>
              </a:rPr>
              <a:t>WHAT THE DESIGNATION CONFIRMS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06887-B17F-4CE4-8F36-B91B9950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38425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8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 packaged service with repeatable implementation steps and a defined delivery approach.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E870B-254B-49FF-9E1C-44FF6D02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38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9FEC2-85A8-45BD-93A1-50FC6E7D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62375"/>
            <a:ext cx="3790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3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Defined scope, project plan and pricing approach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4AB19-77DC-4B26-8E6E-5479A379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46F63-03C3-4FD9-8FE7-63B2DFF0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3790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3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Architecture and deployment material reviewed by Adobe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8659D-A735-4D77-A6DE-F43B446B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86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2416D-9160-4BB0-ABAD-82C27E90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10125"/>
            <a:ext cx="3790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7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A repeatable offer designed for faster adoption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29949-2A07-4F22-AFC2-86371196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66900"/>
            <a:ext cx="5448300" cy="3638550"/>
          </a:xfrm>
          <a:prstGeom xmlns:a="http://schemas.openxmlformats.org/drawingml/2006/main" prst="roundRect">
            <a:avLst>
              <a:gd name="adj" fmla="val 2618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64B74-D50C-4E1F-8DCD-EE5F6124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F8C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F8C86"/>
                </a:solidFill>
                <a:latin typeface="Arial"/>
                <a:ea typeface="Arial"/>
                <a:cs typeface="Arial"/>
              </a:rPr>
              <a:t>WHAT IT CREATES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7AA16-59CB-41C5-8712-DB9608BC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842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8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 stronger customer conversation and a more structured way to take the solution to market.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A8E2A-CE86-44F9-995E-3F3B4366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38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88572-0118-429F-AD91-3679744B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62375"/>
            <a:ext cx="4248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Customer assurance around the delivery pattern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F64116-D1A1-4C20-8816-B0F48E7C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62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82BCBF-2FF4-48FC-BD24-102D6859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86250"/>
            <a:ext cx="4248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Discoverability through Adobe Exchange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C4C472-DEE4-4DE9-AD21-0EBCC236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86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FA98BF-1F49-444A-96DF-26B743BB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10125"/>
            <a:ext cx="4248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6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A clearer foundation for alignment with Adobe sellers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B7ED4A-F6FF-45FD-9211-168ACF9F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53100"/>
            <a:ext cx="81534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86632C-75C5-4F46-BA8B-246E3FC6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848350"/>
            <a:ext cx="769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Voyager.AI is listed on Adobe Exchange as a Rapid Deployment solution.</a:t>
            </a:r>
          </a:p>
        </p:txBody>
      </p:sp>
      <p:sp>
        <p:nvSpPr>
          <p:cNvPr id="2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03E14B9-B3E8-4E6D-B600-25A3C575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B4E5C69-64E5-455D-BDFE-51748639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C78"/>
                </a:solidFill>
                <a:latin typeface="Arial"/>
                <a:ea typeface="Arial"/>
                <a:cs typeface="Arial"/>
              </a:rPr>
              <a:t>Coforge  |  Voyager.AI</a:t>
            </a:r>
          </a:p>
        </p:txBody>
      </p:sp>
      <p:sp>
        <p:nvSpPr>
          <p:cNvPr id="2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F78D3C5-39F0-4744-8BA7-203281A5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572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892499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label-left">
            <a:extLst xmlns:a="http://schemas.openxmlformats.org/drawingml/2006/main">
              <a:ext uri="{FF2B5EF4-FFF2-40B4-BE49-F238E27FC236}">
                <a16:creationId xmlns:a16="http://schemas.microsoft.com/office/drawing/2014/main" id="{4F0ED9C9-7590-4EA5-AE8B-C1E6712E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C78"/>
                </a:solidFill>
                <a:latin typeface="Arial"/>
                <a:ea typeface="Arial"/>
                <a:cs typeface="Arial"/>
              </a:rPr>
              <a:t>VOYAGER.AI  |  EXPERIENCE ALL HANDS</a:t>
            </a:r>
          </a:p>
        </p:txBody>
      </p:sp>
      <p:sp>
        <p:nvSpPr>
          <p:cNvPr id="2" name="top-label-section">
            <a:extLst xmlns:a="http://schemas.openxmlformats.org/drawingml/2006/main">
              <a:ext uri="{FF2B5EF4-FFF2-40B4-BE49-F238E27FC236}">
                <a16:creationId xmlns:a16="http://schemas.microsoft.com/office/drawing/2014/main" id="{87420FED-383D-444F-B7B2-33451DBD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3E78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E78B2"/>
                </a:solidFill>
                <a:latin typeface="Arial"/>
                <a:ea typeface="Arial"/>
                <a:cs typeface="Arial"/>
              </a:rPr>
              <a:t>UNDER THE HOOD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F87EAABC-7871-46E6-B6CB-E648E5C1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D71C6-683E-4D48-987D-DBC2D60A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Connect data, decisions and activation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67033-E627-4136-B51F-F12934C6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4766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244C7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4C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C9B4E-96C0-49BA-BBEE-A12C9296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4766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244C7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4C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26356-FDF3-4104-B35C-1343BE09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4766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244C7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4C7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69960-0242-4D8D-8BAD-3F278466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438400" cy="3352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EEE9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66244-629C-4AAB-92F4-53BA9E45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438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1ABA3-1A94-41B1-AD0E-0B7EA020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1981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Data 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EF0A7-943C-4CFB-82E0-0DD0CCEF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B9388-B988-4178-AA17-1F5EF796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PSS and Sabre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4FA88-AFAA-4AEC-9F14-9A825BDC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A3741-EBC3-44A2-A9DF-2E65FF47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576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Loyalty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F1C51-DB38-4155-871F-A8F6202C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F0E3A-9660-4838-9449-E9904E0C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Web and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8AEBB7-2A66-44B1-9320-E5094F44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09F04-29F1-49C0-9D3B-242C3106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Live operations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0A9BA1-6FCB-429F-B8E1-5BA51567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438400" cy="3352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F99D59-FBFA-41FE-8AA5-13E0A1B4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438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AE2839-5F63-4061-B375-7B349E9E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24100"/>
            <a:ext cx="1981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Unified profile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E477C-0873-47E1-A8B6-07427263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4E4301-5855-4104-B321-93550D84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004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1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AEP Real-Time CDP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F41B97-3CEE-471E-9106-5B519D8F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33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2E0D9D-622B-40FB-8F67-E406DE7F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576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Identity resolution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7C7742-1D69-428B-8854-1EA36B3E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DC87A1-253A-431A-8F0E-2D19BEF8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148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Airline data models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A1DEBB-34A5-4AAA-A9D9-76F81611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48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359A13-0E3D-413E-9D4D-FBE4839D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720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8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Current traveler context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8F2198-0382-4150-AC8D-69685831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2438400" cy="3352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D498F0-7D68-4C31-96A6-054B1E1A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2438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021F97-12DC-4694-B2CF-60454CE3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1981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Decisioning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166DB5-E8E4-4394-A298-31985282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4B21A9-AF2C-4D07-A51B-80E783BC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004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Propensity models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76E946-7D6D-41F3-86E8-F7E6E7E6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3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BF850D-5A83-468D-AC4E-C9875DFE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576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Next best offer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8FDCE3-C113-4AD7-9837-5713DBDF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D7F0F4-DF36-4D3C-904E-E9284ACC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148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Journey rules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1224E9-E6F1-4ECD-B0B1-0E05F2FB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AAF605-8256-4B84-A923-738A009E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720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Content selection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8CFFA0-F18E-4B7C-BCBC-6C6829F7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00250"/>
            <a:ext cx="2438400" cy="3352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BF5E3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0B510D-5550-434A-A64E-87587678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00250"/>
            <a:ext cx="2438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C891D0-A001-4D28-BF1E-CE45F8FB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24100"/>
            <a:ext cx="1981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Activation and learning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892114-7D1D-4571-9CC5-E72D3EB4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3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156FEC-06A0-4DD7-8671-FCC49184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004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AJO orchestration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F403B2-23DF-44A2-97FA-45F4E7EC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3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E92867-2E49-41D5-8329-A31B6009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576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Web, app and messaging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B9D089-F4CF-49CC-9BED-DAC08203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3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8CF200-A23E-4F10-AE00-85BCA265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148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Target and AEM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C51F74-F712-422A-A39E-B6F29C27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48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3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D21A9F-DCC7-4DC8-A9B8-F7728CF6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CJA measurement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266B9B-6CA4-4465-8042-8BA0E5F4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15000"/>
            <a:ext cx="975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C78"/>
                </a:solidFill>
                <a:latin typeface="Arial"/>
                <a:ea typeface="Arial"/>
                <a:cs typeface="Arial"/>
              </a:rPr>
              <a:t>The pattern can be adapted to the customer's existing Adobe estate and priority use cases.</a:t>
            </a:r>
          </a:p>
        </p:txBody>
      </p:sp>
      <p:sp>
        <p:nvSpPr>
          <p:cNvPr id="5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65566AF-A9C3-4CD9-885E-986C52E3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5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84562A5-A7FD-4912-90F9-AD532B5B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C78"/>
                </a:solidFill>
                <a:latin typeface="Arial"/>
                <a:ea typeface="Arial"/>
                <a:cs typeface="Arial"/>
              </a:rPr>
              <a:t>Coforge  |  Voyager.AI</a:t>
            </a:r>
          </a:p>
        </p:txBody>
      </p:sp>
      <p:sp>
        <p:nvSpPr>
          <p:cNvPr id="5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1BD0E80-D89E-4527-98B4-AB6B4312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572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C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026831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6CBE39-7750-49C0-AB06-E0F2510A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Two journeys make the proposition tangible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18C92-AE5A-4B83-831E-92BB6C46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219700" cy="3848100"/>
          </a:xfrm>
          <a:prstGeom xmlns:a="http://schemas.openxmlformats.org/drawingml/2006/main" prst="roundRect">
            <a:avLst>
              <a:gd name="adj" fmla="val 2475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B0DCB-7D91-4B54-A3B6-83B474CF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VIP disruption 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0869A-6894-498A-A55A-13600A01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461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E78B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1BDB9-31FE-4F60-9BC2-496E9F09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E78B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E78B2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F6410-AE49-4353-817C-529F1F0D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124200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A cancellation or disruption is detected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64E8E-4E98-4236-9329-A645F68D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623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E78B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E78B2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A764E-3A69-4CDD-B1FC-0DF28F96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43325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9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Use traveler value, context and available alternatives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7AD69-09B3-4907-A820-27E82E81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E78B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E78B2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8D997-F0E7-4DAF-869D-4D274FEA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62450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9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Send priority recovery guidance and a relevant offer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AADB2-CB89-4BE8-BDCF-4A83F516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0062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E78B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E78B2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DCB7E-05C4-472F-9F2A-50686DC4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81575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9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Faster response with more appropriate care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5F6B0-0C0E-47FE-B094-37F9F308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5219700" cy="3848100"/>
          </a:xfrm>
          <a:prstGeom xmlns:a="http://schemas.openxmlformats.org/drawingml/2006/main" prst="roundRect">
            <a:avLst>
              <a:gd name="adj" fmla="val 2475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FB465-E102-4ECF-A0D7-8A2619DA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098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Smart seat upgrade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9B355-F4CE-4D40-AC6C-36983939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00350"/>
            <a:ext cx="461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F8C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AB967-26E2-44F2-97CA-F6E3EA42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432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F8C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8C86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6E9C3-A26D-456B-9574-AA65677B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24200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The traveler returns for check-in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6481D-D697-4E4D-865E-82272CBF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623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F8C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8C86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F65061-A533-46BA-884A-A844E8F0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43325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9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Combine browsing, booking, loyalty and propensity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8535C-9A49-4697-BF6C-1BBA6AA1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F8C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8C86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22FC7-25FF-4BD6-B869-8FE78AA5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62450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9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Present a relevant upgrade offer in the moment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B0CF6-06B3-44FD-8FAE-2B10BA03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0062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F8C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8C86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71AA80-C812-4461-A725-2D0F8D4F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81575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9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A better ancillary opportunity without blanket promotion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BCFA44-5B33-41E0-8287-25BDF9B1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53125"/>
            <a:ext cx="956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C78"/>
                </a:solidFill>
                <a:latin typeface="Arial"/>
                <a:ea typeface="Arial"/>
                <a:cs typeface="Arial"/>
              </a:rPr>
              <a:t>The same pattern can support loyalty progression, churn prevention and next best offers.</a:t>
            </a:r>
          </a:p>
        </p:txBody>
      </p:sp>
      <p:sp>
        <p:nvSpPr>
          <p:cNvPr id="25" name="top-rule">
            <a:extLst xmlns:a="http://schemas.openxmlformats.org/drawingml/2006/main">
              <a:ext uri="{FF2B5EF4-FFF2-40B4-BE49-F238E27FC236}">
                <a16:creationId xmlns:a16="http://schemas.microsoft.com/office/drawing/2014/main" id="{CBAF5365-141B-4FDC-BE4E-65F20F8A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24FF34F-3600-400E-A6FE-782C6D29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op-label-left">
            <a:extLst xmlns:a="http://schemas.openxmlformats.org/drawingml/2006/main">
              <a:ext uri="{FF2B5EF4-FFF2-40B4-BE49-F238E27FC236}">
                <a16:creationId xmlns:a16="http://schemas.microsoft.com/office/drawing/2014/main" id="{48E2E79C-5BD1-4DFE-8016-4E8F42D3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C78"/>
                </a:solidFill>
                <a:latin typeface="Arial"/>
                <a:ea typeface="Arial"/>
                <a:cs typeface="Arial"/>
              </a:rPr>
              <a:t>VOYAGER.AI  |  EXPERIENCE ALL HANDS</a:t>
            </a:r>
          </a:p>
        </p:txBody>
      </p:sp>
      <p:sp>
        <p:nvSpPr>
          <p:cNvPr id="28" name="top-label-section">
            <a:extLst xmlns:a="http://schemas.openxmlformats.org/drawingml/2006/main">
              <a:ext uri="{FF2B5EF4-FFF2-40B4-BE49-F238E27FC236}">
                <a16:creationId xmlns:a16="http://schemas.microsoft.com/office/drawing/2014/main" id="{C53EBC9F-EA1E-4556-925A-2743E7F2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3E78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E78B2"/>
                </a:solidFill>
                <a:latin typeface="Arial"/>
                <a:ea typeface="Arial"/>
                <a:cs typeface="Arial"/>
              </a:rPr>
              <a:t>FLAGSHIP USE CASES</a:t>
            </a:r>
          </a:p>
        </p:txBody>
      </p:sp>
      <p:sp>
        <p:nvSpPr>
          <p:cNvPr id="2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CDFF792-460E-4AB0-9777-CFDFE9A7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C78"/>
                </a:solidFill>
                <a:latin typeface="Arial"/>
                <a:ea typeface="Arial"/>
                <a:cs typeface="Arial"/>
              </a:rPr>
              <a:t>Coforge  |  Voyager.AI</a:t>
            </a:r>
          </a:p>
        </p:txBody>
      </p:sp>
      <p:sp>
        <p:nvSpPr>
          <p:cNvPr id="3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5C31719-9728-4167-A1C9-5045D358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572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C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212147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label-left">
            <a:extLst xmlns:a="http://schemas.openxmlformats.org/drawingml/2006/main">
              <a:ext uri="{FF2B5EF4-FFF2-40B4-BE49-F238E27FC236}">
                <a16:creationId xmlns:a16="http://schemas.microsoft.com/office/drawing/2014/main" id="{E60B993A-F4A5-447A-A5D8-1315E576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C78"/>
                </a:solidFill>
                <a:latin typeface="Arial"/>
                <a:ea typeface="Arial"/>
                <a:cs typeface="Arial"/>
              </a:rPr>
              <a:t>VOYAGER.AI  |  EXPERIENCE ALL HANDS</a:t>
            </a:r>
          </a:p>
        </p:txBody>
      </p:sp>
      <p:sp>
        <p:nvSpPr>
          <p:cNvPr id="2" name="top-label-section">
            <a:extLst xmlns:a="http://schemas.openxmlformats.org/drawingml/2006/main">
              <a:ext uri="{FF2B5EF4-FFF2-40B4-BE49-F238E27FC236}">
                <a16:creationId xmlns:a16="http://schemas.microsoft.com/office/drawing/2014/main" id="{07ED643D-A353-4701-BBD7-BA1F83CC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3E78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E78B2"/>
                </a:solidFill>
                <a:latin typeface="Arial"/>
                <a:ea typeface="Arial"/>
                <a:cs typeface="Arial"/>
              </a:rPr>
              <a:t>TAKING IT TO MARKET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0F44A7EF-D8FE-4C7F-89C8-79FB989D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7A81C-542A-4BE3-A3EA-248C0093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Look for three signals in an airline account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E3A09-F442-433D-AB2E-01EA1571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E78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E78B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F94EC-A7FA-4867-8F21-8502B508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The right buyer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AF604-76B0-42D5-B40F-345C9638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E78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D175D-7597-42DE-9CDD-300B8E34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C1610-05EE-4FFE-8164-F4705F45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2933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Chief Customer or Loyalty Officer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F2DBD-78CB-4412-BE63-86C0362D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441DD-A5C6-4AEF-B291-7A659F96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48125"/>
            <a:ext cx="2933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VP Digital or E-commerce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08B4A-D47A-442E-A781-827DC506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FBA78-E6F3-453B-BA11-AC26CA23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2933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Head of CRM or Personalization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9A7DE-8BF5-41A1-9631-0401BE27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46A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46A5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4A102-C13C-4402-8330-48C9EE3A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 visible trigger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CCB79-5850-4F9B-9435-060C5F8C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03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6A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B1F31-2368-43AC-BDAD-942B084F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D2A17-B061-46C5-934E-813349CC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2933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A slow or stalled Adobe rollout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E1F2A3-75AC-48B7-9813-07F1C5D2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24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48037-18EA-4C9D-B949-1F49F9AE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48125"/>
            <a:ext cx="2933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Disruption experience under scrutiny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27AF30-5052-4D37-94E0-7AE0AB16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19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AF5112-AD63-4401-8875-D855CBF4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43450"/>
            <a:ext cx="2933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Loyalty churn or flat ancillary revenue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ED73A4-F979-401E-99D3-C35AD70F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52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F8C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F8C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787C6D-EF2D-4773-81E3-CE44F50B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 useful question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F24163-AB7A-4B59-9AB7-F5A78061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03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F8C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FC4298-0ECD-486E-861E-1B0E14B9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29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F01183-C416-4920-BC80-BF8A7E4D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2933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How quickly can you act after disruption?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2E91D5-EAE6-4060-AAD4-C0C0D187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24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70DD61-4973-4DA4-BC82-F96B609A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48125"/>
            <a:ext cx="2933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Can you connect known and anonymous behavior?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32FD7B-E0C2-4F2E-825B-2F277D47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8781CE-AC12-46BF-B117-8252C2CB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2933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32D"/>
                </a:solidFill>
                <a:latin typeface="Arial"/>
                <a:ea typeface="Arial"/>
                <a:cs typeface="Arial"/>
              </a:rPr>
              <a:t>How long does a new personalized journey take?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EC8C77-5E2A-486A-AB0B-FB5653C7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36C1EF-2699-4427-8169-7D1D4BD9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72150"/>
            <a:ext cx="1013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Position Voyager.AI as a prebuilt accelerator that shortens the path from use case to live journey.</a:t>
            </a:r>
          </a:p>
        </p:txBody>
      </p:sp>
      <p:sp>
        <p:nvSpPr>
          <p:cNvPr id="3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1CCEF89-7234-4861-943B-A1E02004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023DA88-6162-4FCA-A436-572CF3CB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C78"/>
                </a:solidFill>
                <a:latin typeface="Arial"/>
                <a:ea typeface="Arial"/>
                <a:cs typeface="Arial"/>
              </a:rPr>
              <a:t>Coforge  |  Voyager.AI</a:t>
            </a:r>
          </a:p>
        </p:txBody>
      </p:sp>
      <p:sp>
        <p:nvSpPr>
          <p:cNvPr id="3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8BC7B21-E9E3-4E54-A467-4F9E016A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572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C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314743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label-left">
            <a:extLst xmlns:a="http://schemas.openxmlformats.org/drawingml/2006/main">
              <a:ext uri="{FF2B5EF4-FFF2-40B4-BE49-F238E27FC236}">
                <a16:creationId xmlns:a16="http://schemas.microsoft.com/office/drawing/2014/main" id="{F1EAB42E-F248-4E60-9A26-06A62182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C78"/>
                </a:solidFill>
                <a:latin typeface="Arial"/>
                <a:ea typeface="Arial"/>
                <a:cs typeface="Arial"/>
              </a:rPr>
              <a:t>VOYAGER.AI  |  EXPERIENCE ALL HANDS</a:t>
            </a:r>
          </a:p>
        </p:txBody>
      </p:sp>
      <p:sp>
        <p:nvSpPr>
          <p:cNvPr id="2" name="top-label-section">
            <a:extLst xmlns:a="http://schemas.openxmlformats.org/drawingml/2006/main">
              <a:ext uri="{FF2B5EF4-FFF2-40B4-BE49-F238E27FC236}">
                <a16:creationId xmlns:a16="http://schemas.microsoft.com/office/drawing/2014/main" id="{471B3F18-5790-438F-B283-283B70EF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3E78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E78B2"/>
                </a:solidFill>
                <a:latin typeface="Arial"/>
                <a:ea typeface="Arial"/>
                <a:cs typeface="Arial"/>
              </a:rPr>
              <a:t>YOUR ROLE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C7E5B960-E113-4B49-869B-33A32FDF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88F29-B49E-479D-8022-677CDD5B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Learn it, show it, bring an account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88F1B-A850-4440-9840-0AF02E77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E78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E78B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198DB-B35B-4147-B962-8EDFA318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05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Get enabled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FF388-A281-4BD6-A7A0-947A37B0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24050"/>
            <a:ext cx="3762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C78"/>
                </a:solidFill>
                <a:latin typeface="Arial"/>
                <a:ea typeface="Arial"/>
                <a:cs typeface="Arial"/>
              </a:rPr>
              <a:t>Complete the Voyager.AI enablement path.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2AF9B-B057-4F06-897A-93C55287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691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4FAB4-9814-4676-A80C-CF28AD05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F8C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F8C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134E0-D8EC-4A97-B073-16D44202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574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Learn the 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C6662-7012-479E-958D-6B23F4DC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76525"/>
            <a:ext cx="3762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1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C78"/>
                </a:solidFill>
                <a:latin typeface="Arial"/>
                <a:ea typeface="Arial"/>
                <a:cs typeface="Arial"/>
              </a:rPr>
              <a:t>Be ready to show the two flagship journeys.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BDB63-15DA-4D8D-A192-25FF1AEC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691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1D28D-2706-4C4F-830C-7AD1F461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E78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E78B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3C2FD-5835-4DE5-BF75-9F357459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09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Build the skills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AE2D3-C877-4163-A887-600CFCBD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3762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C78"/>
                </a:solidFill>
                <a:latin typeface="Arial"/>
                <a:ea typeface="Arial"/>
                <a:cs typeface="Arial"/>
              </a:rPr>
              <a:t>Strengthen AEP, AJO, CJA and activation capability.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557F7-9ECA-4690-9B0A-B4CF7101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33825"/>
            <a:ext cx="691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39371-B3C9-4942-8C7C-80D4526A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814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F8C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F8C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A6E50E-DDC7-4DDA-8A78-0148C3FB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624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Adapt the pattern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B9885-B831-44DC-8F6C-42911050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81475"/>
            <a:ext cx="3762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1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C78"/>
                </a:solidFill>
                <a:latin typeface="Arial"/>
                <a:ea typeface="Arial"/>
                <a:cs typeface="Arial"/>
              </a:rPr>
              <a:t>Bring the same thinking to another industry.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D4419-61BC-4938-8E69-276C9F29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691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81B5DA-BF4D-48E3-9CED-CEAF19D1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E78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E78B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BFF2A1-18A3-4F03-8187-CCDFD52E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14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Nominate an account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277A71-0BFA-48E0-8653-E24D505E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33950"/>
            <a:ext cx="3762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C78"/>
                </a:solidFill>
                <a:latin typeface="Arial"/>
                <a:ea typeface="Arial"/>
                <a:cs typeface="Arial"/>
              </a:rPr>
              <a:t>Identify one airline with the right trigger.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07BCEE-A6D4-4B67-9F14-9E4D9EBB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85950"/>
            <a:ext cx="3467100" cy="3848100"/>
          </a:xfrm>
          <a:prstGeom xmlns:a="http://schemas.openxmlformats.org/drawingml/2006/main" prst="roundRect">
            <a:avLst>
              <a:gd name="adj" fmla="val 2747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7AA06-8E7C-48E0-8DFB-D6E939A9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95525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BFD0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FD0E0"/>
                </a:solidFill>
                <a:latin typeface="Arial"/>
                <a:ea typeface="Arial"/>
                <a:cs typeface="Arial"/>
              </a:rPr>
              <a:t>START WITH 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252AB9-B500-4325-B7E3-2B0188B6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705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qualified account is enough to start a pursuit.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019608-8ACA-4057-A0C4-334EC3A6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00550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617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384C44-0819-43BA-9F27-39E75A1F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67250"/>
            <a:ext cx="270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DCE7F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CE7F0"/>
                </a:solidFill>
                <a:latin typeface="Arial"/>
                <a:ea typeface="Arial"/>
                <a:cs typeface="Arial"/>
              </a:rPr>
              <a:t>Enablement material: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DCE7F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CE7F0"/>
                </a:solidFill>
                <a:latin typeface="Arial"/>
                <a:ea typeface="Arial"/>
                <a:cs typeface="Arial"/>
              </a:rPr>
              <a:t>Voyager.AI hub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EB3BD4-AB9D-42A8-A571-5AD55ADE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693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E78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E78B2"/>
                </a:solidFill>
                <a:latin typeface="Arial"/>
                <a:ea typeface="Arial"/>
                <a:cs typeface="Arial"/>
              </a:rPr>
              <a:t>contact@coforge.com</a:t>
            </a:r>
          </a:p>
        </p:txBody>
      </p:sp>
      <p:sp>
        <p:nvSpPr>
          <p:cNvPr id="3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E08BF98-D145-446E-BECC-10093363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6209A38-62B0-4ACB-BB00-F57B453A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C78"/>
                </a:solidFill>
                <a:latin typeface="Arial"/>
                <a:ea typeface="Arial"/>
                <a:cs typeface="Arial"/>
              </a:rPr>
              <a:t>Coforge  |  Voyager.AI</a:t>
            </a:r>
          </a:p>
        </p:txBody>
      </p:sp>
      <p:sp>
        <p:nvSpPr>
          <p:cNvPr id="3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FB74B99-432B-469A-A224-731FBFEE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572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C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94841197"/>
      </p:ext>
    </p:extLst>
  </p:cSld>
</p:sld>
</file>

<file path=ppt/theme/theme1.xml><?xml version="1.0" encoding="utf-8"?>
<a:theme xmlns:a="http://schemas.openxmlformats.org/drawingml/2006/main" name="ChatGPT">
  <a:themeElements>
    <a:clrScheme name="Voyager Light Corporate">
      <a:dk1>
        <a:srgbClr val="000000"/>
      </a:dk1>
      <a:lt1>
        <a:srgbClr val="FFFFFF"/>
      </a:lt1>
      <a:dk2>
        <a:srgbClr val="17324D"/>
      </a:dk2>
      <a:lt2>
        <a:srgbClr val="D7E0E7"/>
      </a:lt2>
      <a:accent1>
        <a:srgbClr val="3E78B2"/>
      </a:accent1>
      <a:accent2>
        <a:srgbClr val="3F8C86"/>
      </a:accent2>
      <a:accent3>
        <a:srgbClr val="D46A52"/>
      </a:accent3>
      <a:accent4>
        <a:srgbClr val="E3B341"/>
      </a:accent4>
      <a:accent5>
        <a:srgbClr val="244C70"/>
      </a:accent5>
      <a:accent6>
        <a:srgbClr val="6F8FAF"/>
      </a:accent6>
      <a:hlink>
        <a:srgbClr val="3E78B2"/>
      </a:hlink>
      <a:folHlink>
        <a:srgbClr val="715C9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Voyager Light Corpora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Microsoft Office PowerPoint</ap:Application>
  <ap:PresentationFormat>On-screen Show (16:9)</ap:PresentationFormat>
  <ap:Slides>8</ap:Slides>
  <ap:Notes>8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Anant Singh</dc:creator>
  <lastModifiedBy>Anant Singh</lastModifiedBy>
  <dc:title>Voyager.AI Experience All Hands</dc:title>
  <dcterms:created xsi:type="dcterms:W3CDTF">2026-07-25T04:59:28.4820000Z</dcterms:created>
  <dcterms:modified xsi:type="dcterms:W3CDTF">2026-07-25T04:59:28.4820000Z</dcterms:modified>
</coreProperties>
</file>