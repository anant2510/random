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" y="100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CONTEXT · SYNTHESIS OF OUR CMO CONVERSATIONS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292608"/>
            <a:ext cx="8549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challenges, one root cause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92608" y="841248"/>
            <a:ext cx="8549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PMI's marketing organisation needs one coherent, compliant view of performance, content and the consumer — across 95+ markets, three product platforms (IQOS · ZYN · VEEV) and an evolving regulatory landscape.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335024"/>
            <a:ext cx="2743200" cy="2871216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35024"/>
            <a:ext cx="2743200" cy="45720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481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8912" y="1847088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PERFORMANCE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MANAGEMENT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3408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channels &amp; ~900 APIs on Datorama / Salesforce — heavy licence + data-ops cost</a:t>
            </a:r>
            <a:endParaRPr lang="en-US" sz="80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extraction &amp; insight generation — slow decisions at HQ and in markets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2336" y="3163824"/>
            <a:ext cx="2487168" cy="914400"/>
          </a:xfrm>
          <a:prstGeom prst="roundRect">
            <a:avLst>
              <a:gd name="adj" fmla="val 3000"/>
            </a:avLst>
          </a:prstGeom>
          <a:solidFill>
            <a:srgbClr val="E9F7F4"/>
          </a:solidFill>
          <a:ln w="12700">
            <a:solidFill>
              <a:srgbClr val="CDEB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323697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 CONVERSATION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512064" y="340156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need is visibility of global toolkit adoption &amp; in-market performance — with market requirements feeding HQ strategy.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200400" y="1335024"/>
            <a:ext cx="2743200" cy="2871216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335024"/>
            <a:ext cx="2743200" cy="45720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1481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64992" y="1847088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SCALE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23408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production lacks the speed &amp; scalability AI content creation could unlock</a:t>
            </a:r>
            <a:endParaRPr lang="en-US" sz="80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 or personalisation across channels — content stays generic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28416" y="3163824"/>
            <a:ext cx="2487168" cy="914400"/>
          </a:xfrm>
          <a:prstGeom prst="roundRect">
            <a:avLst>
              <a:gd name="adj" fmla="val 3000"/>
            </a:avLst>
          </a:prstGeom>
          <a:solidFill>
            <a:srgbClr val="E9F7F4"/>
          </a:solidFill>
          <a:ln w="12700">
            <a:solidFill>
              <a:srgbClr val="CDEB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38144" y="323697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 CONVERSATION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3438144" y="340156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legal review is the single biggest bottleneck to speed — for brand and SFP commercialisation alike.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126480" y="1335024"/>
            <a:ext cx="2743200" cy="2871216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335024"/>
            <a:ext cx="2743200" cy="45720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25" name="Text 23"/>
          <p:cNvSpPr/>
          <p:nvPr/>
        </p:nvSpPr>
        <p:spPr>
          <a:xfrm>
            <a:off x="6291072" y="1481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91072" y="1847088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COOKIES, TRACKING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MEASUREMENT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23408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Cookieless transition unresolved; GTM pings fragmented across markets</a:t>
            </a:r>
            <a:endParaRPr lang="en-US" sz="80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must stay accurate, compliant and continuous through the shift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54496" y="3163824"/>
            <a:ext cx="2487168" cy="914400"/>
          </a:xfrm>
          <a:prstGeom prst="roundRect">
            <a:avLst>
              <a:gd name="adj" fmla="val 3000"/>
            </a:avLst>
          </a:prstGeom>
          <a:solidFill>
            <a:srgbClr val="E9F7F4"/>
          </a:solidFill>
          <a:ln w="12700">
            <a:solidFill>
              <a:srgbClr val="CDEB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323697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 CONVERSATION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6364224" y="340156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challenge is one coherent customer view across paid · owned · earned — incl. the 21-day LAS conversion journey.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74320" y="4334256"/>
            <a:ext cx="8595360" cy="457200"/>
          </a:xfrm>
          <a:prstGeom prst="roundRect">
            <a:avLst>
              <a:gd name="adj" fmla="val 8000"/>
            </a:avLst>
          </a:prstGeom>
          <a:solidFill>
            <a:srgbClr val="141B34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433425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THREAD 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challenge traces to the same root — fragmented data, manual processes, and compliance handled serially rather than by design.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49286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</a:t>
            </a:r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Confidential — for PMI discussion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321040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" y="100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292608"/>
            <a:ext cx="8549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point of view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92608" y="841248"/>
            <a:ext cx="8549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data foundation · an AI content supply chain · consented customer intelligence — built by extending PMI's existing stack (EDP on Snowflake · Adobe · SFMC) with Coforge Data Cosmos accelerators. Nothing ripped out.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316736"/>
            <a:ext cx="4224528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0624" y="1453896"/>
            <a:ext cx="310896" cy="310896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453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435608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that measures outcomes, not activity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3858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360° view across 95+ markets ties spend to devices activated, consumables reorder and combustible→SFP switching. Toolkit adoption scored, not surveyed — Datorama reduced to visualisation-only.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4645152" y="1316736"/>
            <a:ext cx="4224528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91456" y="1453896"/>
            <a:ext cx="310896" cy="310896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14" name="Text 12"/>
          <p:cNvSpPr/>
          <p:nvPr/>
        </p:nvSpPr>
        <p:spPr>
          <a:xfrm>
            <a:off x="4791456" y="1453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93792" y="1435608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velocity without compromising compliance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28032" y="1828800"/>
            <a:ext cx="3858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content supply chain takes PMTA / TPD review off the critical path — citation-grounded checks, reusable transcreation memory and a full audit trail across HQ → region → market.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224528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0624" y="3063240"/>
            <a:ext cx="310896" cy="310896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044952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consented customer across IQOS · ZYN · VEEV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438144"/>
            <a:ext cx="3858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First-party CDP, server-side measurement and a cross-platform identity graph. Higher CLTV per legal-age user, faster 21-day combustible→SFP conversion — consent governed as data.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645152" y="2926080"/>
            <a:ext cx="4224528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91456" y="3063240"/>
            <a:ext cx="310896" cy="310896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456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93792" y="3044952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Financially viable · vendor-neutral · no rip &amp; replace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3438144"/>
            <a:ext cx="3858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Rationalises Datorama and data-ops cost while preserving continuity. Extends PMI's EDP and existing data products — delivered by Coforge AI agents + engineers, 100% PMI-owned.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274320" y="4517136"/>
            <a:ext cx="8595360" cy="310896"/>
          </a:xfrm>
          <a:prstGeom prst="roundRect">
            <a:avLst>
              <a:gd name="adj" fmla="val 11765"/>
            </a:avLst>
          </a:prstGeom>
          <a:solidFill>
            <a:srgbClr val="141B34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5171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BY AI AGENTS + ENGINEERS + DOMAIN EXPERTS   ·   FASTER TIME-TO-VALUE   ·   VENDOR-NEUTRAL   ·   100% PMI-OWNED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49286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</a:t>
            </a:r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Confidential — for PMI discussion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321040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" y="100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· MARKETING PERFORMANCE &amp; DATA MANAGEMENT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292608"/>
            <a:ext cx="8549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data foundation that can be trusted and defended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2608" y="841248"/>
            <a:ext cx="8549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need: visibility of global toolkit adoption &amp; in-market performance — market signal feeding HQ strategy, not just cheaper tooling.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10158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6" y="1623060"/>
            <a:ext cx="192024" cy="1920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8328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channels, ~900 APIs, device signal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1784909" y="1371600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040941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76779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67" y="1623060"/>
            <a:ext cx="192024" cy="1920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86661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104949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taxonomy enforced at capture</a:t>
            </a:r>
            <a:endParaRPr lang="en-US" sz="680" dirty="0"/>
          </a:p>
        </p:txBody>
      </p:sp>
      <p:sp>
        <p:nvSpPr>
          <p:cNvPr id="19" name="Text 15"/>
          <p:cNvSpPr/>
          <p:nvPr/>
        </p:nvSpPr>
        <p:spPr>
          <a:xfrm>
            <a:off x="3551530" y="1371600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3807562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343400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988" y="1623060"/>
            <a:ext cx="192024" cy="1920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53282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3871570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data-quality + semantic layer</a:t>
            </a:r>
            <a:endParaRPr lang="en-US" sz="680" dirty="0"/>
          </a:p>
        </p:txBody>
      </p:sp>
      <p:sp>
        <p:nvSpPr>
          <p:cNvPr id="25" name="Text 20"/>
          <p:cNvSpPr/>
          <p:nvPr/>
        </p:nvSpPr>
        <p:spPr>
          <a:xfrm>
            <a:off x="5318150" y="1371600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574182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10021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609" y="1623060"/>
            <a:ext cx="192024" cy="1920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19902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638190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dashboards, ask-your-data</a:t>
            </a:r>
            <a:endParaRPr lang="en-US" sz="680" dirty="0"/>
          </a:p>
        </p:txBody>
      </p:sp>
      <p:sp>
        <p:nvSpPr>
          <p:cNvPr id="31" name="Text 25"/>
          <p:cNvSpPr/>
          <p:nvPr/>
        </p:nvSpPr>
        <p:spPr>
          <a:xfrm>
            <a:off x="7084771" y="1371600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7340803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876642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9230" y="1623060"/>
            <a:ext cx="192024" cy="1920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86523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7404811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commercialization outcomes</a:t>
            </a:r>
            <a:endParaRPr lang="en-US" sz="680" dirty="0"/>
          </a:p>
        </p:txBody>
      </p:sp>
      <p:sp>
        <p:nvSpPr>
          <p:cNvPr id="37" name="Text 30"/>
          <p:cNvSpPr/>
          <p:nvPr/>
        </p:nvSpPr>
        <p:spPr>
          <a:xfrm>
            <a:off x="274320" y="261518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PMI'S EXISTING STACK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274320" y="2798064"/>
            <a:ext cx="8595360" cy="658368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02920" y="279806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EDP (Snowflake) · Data Ocean · Power BI —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with Coforge Data Cosmos: DataFlux zero-code ingestion (replaces hand-stitched Datorama connectors), KAI natural-language→Snowflake, DIVA conversational insights, and an agentic data-quality engine.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274320" y="362102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· INDICATIVE, VALIDATED IN PHASE 0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274320" y="3803904"/>
            <a:ext cx="8595360" cy="713232"/>
          </a:xfrm>
          <a:prstGeom prst="roundRect">
            <a:avLst>
              <a:gd name="adj" fmla="val 6410"/>
            </a:avLst>
          </a:prstGeom>
          <a:solidFill>
            <a:srgbClr val="141B34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365760" y="3877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~30%+ ↓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365760" y="41696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Datorama TCO (licence + data-ops)</a:t>
            </a:r>
            <a:endParaRPr lang="en-US" sz="730" dirty="0"/>
          </a:p>
        </p:txBody>
      </p:sp>
      <p:sp>
        <p:nvSpPr>
          <p:cNvPr id="44" name="Shape 37"/>
          <p:cNvSpPr/>
          <p:nvPr/>
        </p:nvSpPr>
        <p:spPr>
          <a:xfrm>
            <a:off x="2423160" y="3931920"/>
            <a:ext cx="0" cy="457200"/>
          </a:xfrm>
          <a:prstGeom prst="line">
            <a:avLst/>
          </a:prstGeom>
          <a:noFill/>
          <a:ln w="12700">
            <a:solidFill>
              <a:srgbClr val="35415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2514600" y="3877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wks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2514600" y="41696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first CMO-ready insight</a:t>
            </a:r>
            <a:endParaRPr lang="en-US" sz="730" dirty="0"/>
          </a:p>
        </p:txBody>
      </p:sp>
      <p:sp>
        <p:nvSpPr>
          <p:cNvPr id="47" name="Shape 40"/>
          <p:cNvSpPr/>
          <p:nvPr/>
        </p:nvSpPr>
        <p:spPr>
          <a:xfrm>
            <a:off x="4572000" y="3931920"/>
            <a:ext cx="0" cy="457200"/>
          </a:xfrm>
          <a:prstGeom prst="line">
            <a:avLst/>
          </a:prstGeom>
          <a:noFill/>
          <a:ln w="12700">
            <a:solidFill>
              <a:srgbClr val="35415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663440" y="3877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95+ markets</a:t>
            </a:r>
            <a:endParaRPr lang="en-US" sz="1400" dirty="0"/>
          </a:p>
        </p:txBody>
      </p:sp>
      <p:sp>
        <p:nvSpPr>
          <p:cNvPr id="49" name="Text 42"/>
          <p:cNvSpPr/>
          <p:nvPr/>
        </p:nvSpPr>
        <p:spPr>
          <a:xfrm>
            <a:off x="4663440" y="41696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governed global taxonomy</a:t>
            </a:r>
            <a:endParaRPr lang="en-US" sz="730" dirty="0"/>
          </a:p>
        </p:txBody>
      </p:sp>
      <p:sp>
        <p:nvSpPr>
          <p:cNvPr id="50" name="Shape 43"/>
          <p:cNvSpPr/>
          <p:nvPr/>
        </p:nvSpPr>
        <p:spPr>
          <a:xfrm>
            <a:off x="6720840" y="3931920"/>
            <a:ext cx="0" cy="457200"/>
          </a:xfrm>
          <a:prstGeom prst="line">
            <a:avLst/>
          </a:prstGeom>
          <a:noFill/>
          <a:ln w="12700">
            <a:solidFill>
              <a:srgbClr val="35415F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6812280" y="3877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400" dirty="0"/>
          </a:p>
        </p:txBody>
      </p:sp>
      <p:sp>
        <p:nvSpPr>
          <p:cNvPr id="52" name="Text 45"/>
          <p:cNvSpPr/>
          <p:nvPr/>
        </p:nvSpPr>
        <p:spPr>
          <a:xfrm>
            <a:off x="6812280" y="41696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weekly manual pulls to ask-your-data</a:t>
            </a:r>
            <a:endParaRPr lang="en-US" sz="730" dirty="0"/>
          </a:p>
        </p:txBody>
      </p:sp>
      <p:sp>
        <p:nvSpPr>
          <p:cNvPr id="53" name="Text 46"/>
          <p:cNvSpPr/>
          <p:nvPr/>
        </p:nvSpPr>
        <p:spPr>
          <a:xfrm>
            <a:off x="274320" y="49286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</a:t>
            </a:r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Confidential — for PMI discussion</a:t>
            </a:r>
            <a:endParaRPr lang="en-US" sz="850" dirty="0"/>
          </a:p>
        </p:txBody>
      </p:sp>
      <p:sp>
        <p:nvSpPr>
          <p:cNvPr id="54" name="Text 47"/>
          <p:cNvSpPr/>
          <p:nvPr/>
        </p:nvSpPr>
        <p:spPr>
          <a:xfrm>
            <a:off x="8321040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" y="100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DEEP-DIVE · CHALLENGE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292608"/>
            <a:ext cx="8549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marketing intelligence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49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approach, opened up — the governed data products, the agents that keep them trustworthy, and the design decisions that make it work.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52144"/>
            <a:ext cx="420624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52144"/>
            <a:ext cx="4206240" cy="45720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DATA PRODUCTS  </a:t>
            </a:r>
            <a:pPr indent="0" marL="0">
              <a:buNone/>
            </a:pPr>
            <a:r>
              <a:rPr lang="en-US" sz="800" i="1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PMI EDP (Snowflake)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554480"/>
            <a:ext cx="3822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360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campaign, channel &amp; spend signal in one comparable view</a:t>
            </a:r>
            <a:endParaRPr lang="en-US" sz="780" dirty="0"/>
          </a:p>
          <a:p>
            <a:pPr marL="127000" indent="-1270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 Adoption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HQ toolkit usage &amp; performance, scored per market</a:t>
            </a:r>
            <a:endParaRPr lang="en-US" sz="780" dirty="0"/>
          </a:p>
          <a:p>
            <a:pPr marL="127000" indent="-1270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Performance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live and comparable — not month-end</a:t>
            </a:r>
            <a:endParaRPr lang="en-US" sz="780" dirty="0"/>
          </a:p>
          <a:p>
            <a:pPr marL="127000" indent="-1270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Journey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owned-channel behaviour, consent-filtered</a:t>
            </a:r>
            <a:endParaRPr lang="en-US" sz="780" dirty="0"/>
          </a:p>
          <a:p>
            <a:pPr marL="127000" indent="-1270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SFP Commercialisation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devices activated · consumables reorder · C→SFP switch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663440" y="1152144"/>
            <a:ext cx="420624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52144"/>
            <a:ext cx="4206240" cy="45720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ROSTER  </a:t>
            </a:r>
            <a:pPr indent="0" marL="0">
              <a:buNone/>
            </a:pPr>
            <a:r>
              <a:rPr lang="en-US" sz="800" i="1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 agentic framework + Snowflake Cortex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64608" y="1554480"/>
            <a:ext cx="3822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DataFlux ingestion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zero-code connectors for 16+ channels &amp; ~900 APIs</a:t>
            </a:r>
            <a:endParaRPr lang="en-US" sz="780" dirty="0"/>
          </a:p>
          <a:p>
            <a:pPr marL="127000" indent="-1270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agent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enforces the global dictionary at point of capture</a:t>
            </a:r>
            <a:endParaRPr lang="en-US" sz="780" dirty="0"/>
          </a:p>
          <a:p>
            <a:pPr marL="127000" indent="-1270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&amp; anomaly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validates, flags and heals feeds automatically</a:t>
            </a:r>
            <a:endParaRPr lang="en-US" sz="780" dirty="0"/>
          </a:p>
          <a:p>
            <a:pPr marL="127000" indent="-1270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 · NL2SQL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plain-English questions → governed Snowflake answers</a:t>
            </a:r>
            <a:endParaRPr lang="en-US" sz="780" dirty="0"/>
          </a:p>
          <a:p>
            <a:pPr marL="127000" indent="-1270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agent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ties spend to commercialisation outcomes</a:t>
            </a:r>
            <a:endParaRPr lang="en-US" sz="780" dirty="0"/>
          </a:p>
          <a:p>
            <a:pPr marL="127000" indent="-1270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78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DIVA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conversational insights for the CMO cockpit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74320" y="314553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328416"/>
            <a:ext cx="2743200" cy="841248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" y="3438144"/>
            <a:ext cx="256032" cy="256032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41985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at capture, not after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402336" y="374904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right from the start — no retro-tagging projects, ever.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0" y="3328416"/>
            <a:ext cx="2743200" cy="841248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28416" y="3438144"/>
            <a:ext cx="256032" cy="256032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23" name="Text 21"/>
          <p:cNvSpPr/>
          <p:nvPr/>
        </p:nvSpPr>
        <p:spPr>
          <a:xfrm>
            <a:off x="3328416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341985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Datorama demoted, not big-bang migrated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3328416" y="374904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Visualisation-only first; connectors retired in waves, continuity preserved.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26480" y="3328416"/>
            <a:ext cx="2743200" cy="841248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4496" y="3438144"/>
            <a:ext cx="256032" cy="256032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28" name="Text 26"/>
          <p:cNvSpPr/>
          <p:nvPr/>
        </p:nvSpPr>
        <p:spPr>
          <a:xfrm>
            <a:off x="6254496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341985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Ask-your-data replaces extraction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6254496" y="374904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requests stop being tickets to data ops — minutes, not weeks.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4297680"/>
            <a:ext cx="8595360" cy="493776"/>
          </a:xfrm>
          <a:prstGeom prst="roundRect">
            <a:avLst>
              <a:gd name="adj" fmla="val 9259"/>
            </a:avLst>
          </a:prstGeom>
          <a:solidFill>
            <a:srgbClr val="141B34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4297680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SURFACES   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Cockpit · Toolkit Adoption Scorecard · Campaign→Commercialisation ROI · real-time HQ↔market feedback loop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274320" y="49286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</a:t>
            </a:r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Confidential — for PMI discussion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321040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" y="100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· CONTENT CREATION &amp; SCALE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292608"/>
            <a:ext cx="8549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content system that operates at the speed of markets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2608" y="841248"/>
            <a:ext cx="8549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legal review is the #1 bottleneck to market speed — for brand and SFP commercialisation alike.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10158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6" y="1623060"/>
            <a:ext cx="192024" cy="1920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8328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requirements-intake agent, taxonomy-tagged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1784909" y="1371600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040941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76779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67" y="1623060"/>
            <a:ext cx="192024" cy="1920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86661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104949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copy · image · video variants</a:t>
            </a:r>
            <a:endParaRPr lang="en-US" sz="680" dirty="0"/>
          </a:p>
        </p:txBody>
      </p:sp>
      <p:sp>
        <p:nvSpPr>
          <p:cNvPr id="19" name="Text 15"/>
          <p:cNvSpPr/>
          <p:nvPr/>
        </p:nvSpPr>
        <p:spPr>
          <a:xfrm>
            <a:off x="3551530" y="1371600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3807562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343400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988" y="1623060"/>
            <a:ext cx="192024" cy="1920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53282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3871570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RAG vs PMTA / TPD rulebooks</a:t>
            </a:r>
            <a:endParaRPr lang="en-US" sz="680" dirty="0"/>
          </a:p>
        </p:txBody>
      </p:sp>
      <p:sp>
        <p:nvSpPr>
          <p:cNvPr id="25" name="Text 20"/>
          <p:cNvSpPr/>
          <p:nvPr/>
        </p:nvSpPr>
        <p:spPr>
          <a:xfrm>
            <a:off x="5318150" y="1371600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574182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10021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609" y="1623060"/>
            <a:ext cx="192024" cy="1920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19902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638190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HQ · region · market, HITL</a:t>
            </a:r>
            <a:endParaRPr lang="en-US" sz="680" dirty="0"/>
          </a:p>
        </p:txBody>
      </p:sp>
      <p:sp>
        <p:nvSpPr>
          <p:cNvPr id="31" name="Text 25"/>
          <p:cNvSpPr/>
          <p:nvPr/>
        </p:nvSpPr>
        <p:spPr>
          <a:xfrm>
            <a:off x="7084771" y="1371600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7340803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876642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9230" y="1623060"/>
            <a:ext cx="192024" cy="1920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86523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7404811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age-gated dynamic content via SFMC</a:t>
            </a:r>
            <a:endParaRPr lang="en-US" sz="680" dirty="0"/>
          </a:p>
        </p:txBody>
      </p:sp>
      <p:sp>
        <p:nvSpPr>
          <p:cNvPr id="37" name="Text 30"/>
          <p:cNvSpPr/>
          <p:nvPr/>
        </p:nvSpPr>
        <p:spPr>
          <a:xfrm>
            <a:off x="274320" y="261518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PMI'S EXISTING STACK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274320" y="2798064"/>
            <a:ext cx="8595360" cy="658368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02920" y="279806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GenStudio · Firefly · AEM · Workfront · SFMC —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with Coforge's Compliance RAG agent (citation-grounded pre-check inside Workfront routing), a Requirements-Intake agent, and transcreation memory — approved market adaptations become a governed prompt &amp; component library.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274320" y="362102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· INDICATIVE, VALIDATED IN PHASE 0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274320" y="3803904"/>
            <a:ext cx="8595360" cy="713232"/>
          </a:xfrm>
          <a:prstGeom prst="roundRect">
            <a:avLst>
              <a:gd name="adj" fmla="val 6410"/>
            </a:avLst>
          </a:prstGeom>
          <a:solidFill>
            <a:srgbClr val="141B34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365760" y="3877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365760" y="41696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content speed-to-market</a:t>
            </a:r>
            <a:endParaRPr lang="en-US" sz="730" dirty="0"/>
          </a:p>
        </p:txBody>
      </p:sp>
      <p:sp>
        <p:nvSpPr>
          <p:cNvPr id="44" name="Shape 37"/>
          <p:cNvSpPr/>
          <p:nvPr/>
        </p:nvSpPr>
        <p:spPr>
          <a:xfrm>
            <a:off x="2423160" y="3931920"/>
            <a:ext cx="0" cy="457200"/>
          </a:xfrm>
          <a:prstGeom prst="line">
            <a:avLst/>
          </a:prstGeom>
          <a:noFill/>
          <a:ln w="12700">
            <a:solidFill>
              <a:srgbClr val="35415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2514600" y="3877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↓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2514600" y="41696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cycle time</a:t>
            </a:r>
            <a:endParaRPr lang="en-US" sz="730" dirty="0"/>
          </a:p>
        </p:txBody>
      </p:sp>
      <p:sp>
        <p:nvSpPr>
          <p:cNvPr id="47" name="Shape 40"/>
          <p:cNvSpPr/>
          <p:nvPr/>
        </p:nvSpPr>
        <p:spPr>
          <a:xfrm>
            <a:off x="4572000" y="3931920"/>
            <a:ext cx="0" cy="457200"/>
          </a:xfrm>
          <a:prstGeom prst="line">
            <a:avLst/>
          </a:prstGeom>
          <a:noFill/>
          <a:ln w="12700">
            <a:solidFill>
              <a:srgbClr val="35415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663440" y="3877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</a:t>
            </a:r>
            <a:endParaRPr lang="en-US" sz="1400" dirty="0"/>
          </a:p>
        </p:txBody>
      </p:sp>
      <p:sp>
        <p:nvSpPr>
          <p:cNvPr id="49" name="Text 42"/>
          <p:cNvSpPr/>
          <p:nvPr/>
        </p:nvSpPr>
        <p:spPr>
          <a:xfrm>
            <a:off x="4663440" y="41696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variants per campaign</a:t>
            </a:r>
            <a:endParaRPr lang="en-US" sz="730" dirty="0"/>
          </a:p>
        </p:txBody>
      </p:sp>
      <p:sp>
        <p:nvSpPr>
          <p:cNvPr id="50" name="Shape 43"/>
          <p:cNvSpPr/>
          <p:nvPr/>
        </p:nvSpPr>
        <p:spPr>
          <a:xfrm>
            <a:off x="6720840" y="3931920"/>
            <a:ext cx="0" cy="457200"/>
          </a:xfrm>
          <a:prstGeom prst="line">
            <a:avLst/>
          </a:prstGeom>
          <a:noFill/>
          <a:ln w="12700">
            <a:solidFill>
              <a:srgbClr val="35415F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6812280" y="3877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52" name="Text 45"/>
          <p:cNvSpPr/>
          <p:nvPr/>
        </p:nvSpPr>
        <p:spPr>
          <a:xfrm>
            <a:off x="6812280" y="41696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— PMTA / TPD-ready</a:t>
            </a:r>
            <a:endParaRPr lang="en-US" sz="730" dirty="0"/>
          </a:p>
        </p:txBody>
      </p:sp>
      <p:sp>
        <p:nvSpPr>
          <p:cNvPr id="53" name="Text 46"/>
          <p:cNvSpPr/>
          <p:nvPr/>
        </p:nvSpPr>
        <p:spPr>
          <a:xfrm>
            <a:off x="274320" y="49286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</a:t>
            </a:r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Confidential — for PMI discussion</a:t>
            </a:r>
            <a:endParaRPr lang="en-US" sz="850" dirty="0"/>
          </a:p>
        </p:txBody>
      </p:sp>
      <p:sp>
        <p:nvSpPr>
          <p:cNvPr id="54" name="Text 47"/>
          <p:cNvSpPr/>
          <p:nvPr/>
        </p:nvSpPr>
        <p:spPr>
          <a:xfrm>
            <a:off x="8321040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" y="100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DEEP-DIVE · CHALLENGE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292608"/>
            <a:ext cx="8549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compliant content supply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49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opened up — and the compliance engine that takes legal review off the critical path without taking lawyers out of the loop.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50749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43584"/>
            <a:ext cx="1188720" cy="402336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" y="1307592"/>
            <a:ext cx="274320" cy="27432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" y="1376172"/>
            <a:ext cx="137160" cy="137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1170432"/>
            <a:ext cx="78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1627632" y="1170432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7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Requirements-Intake Agent captures each market's needs via guided forms — auto-tagged to the global taxonomy, so briefs arrive complete and comparable.</a:t>
            </a:r>
            <a:endParaRPr lang="en-US" sz="770" dirty="0"/>
          </a:p>
        </p:txBody>
      </p:sp>
      <p:sp>
        <p:nvSpPr>
          <p:cNvPr id="13" name="Shape 10"/>
          <p:cNvSpPr/>
          <p:nvPr/>
        </p:nvSpPr>
        <p:spPr>
          <a:xfrm>
            <a:off x="274320" y="1801368"/>
            <a:ext cx="50749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" y="1874520"/>
            <a:ext cx="1188720" cy="402336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/>
        </p:spPr>
      </p:sp>
      <p:sp>
        <p:nvSpPr>
          <p:cNvPr id="15" name="Shape 12"/>
          <p:cNvSpPr/>
          <p:nvPr/>
        </p:nvSpPr>
        <p:spPr>
          <a:xfrm>
            <a:off x="420624" y="1938528"/>
            <a:ext cx="274320" cy="27432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2007108"/>
            <a:ext cx="137160" cy="1371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" y="1801368"/>
            <a:ext cx="78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820" dirty="0"/>
          </a:p>
        </p:txBody>
      </p:sp>
      <p:sp>
        <p:nvSpPr>
          <p:cNvPr id="18" name="Text 14"/>
          <p:cNvSpPr/>
          <p:nvPr/>
        </p:nvSpPr>
        <p:spPr>
          <a:xfrm>
            <a:off x="1627632" y="1801368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7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GenStudio + Firefly produce on-brand copy, image &amp; video variants; transcreation memory pre-loads approved market adaptations as prompts and components.</a:t>
            </a:r>
            <a:endParaRPr lang="en-US" sz="770" dirty="0"/>
          </a:p>
        </p:txBody>
      </p:sp>
      <p:sp>
        <p:nvSpPr>
          <p:cNvPr id="19" name="Shape 15"/>
          <p:cNvSpPr/>
          <p:nvPr/>
        </p:nvSpPr>
        <p:spPr>
          <a:xfrm>
            <a:off x="274320" y="2432304"/>
            <a:ext cx="50749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47472" y="2505456"/>
            <a:ext cx="1188720" cy="402336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/>
        </p:spPr>
      </p:sp>
      <p:sp>
        <p:nvSpPr>
          <p:cNvPr id="21" name="Shape 17"/>
          <p:cNvSpPr/>
          <p:nvPr/>
        </p:nvSpPr>
        <p:spPr>
          <a:xfrm>
            <a:off x="420624" y="2569464"/>
            <a:ext cx="274320" cy="27432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" y="2638044"/>
            <a:ext cx="137160" cy="1371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1520" y="2432304"/>
            <a:ext cx="78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20" dirty="0"/>
          </a:p>
        </p:txBody>
      </p:sp>
      <p:sp>
        <p:nvSpPr>
          <p:cNvPr id="24" name="Text 19"/>
          <p:cNvSpPr/>
          <p:nvPr/>
        </p:nvSpPr>
        <p:spPr>
          <a:xfrm>
            <a:off x="1627632" y="2432304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7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RAG runs a citation-grounded first pass against PMTA · TPD · local ad-codes — every flag linked to the exact clause it triggers.</a:t>
            </a:r>
            <a:endParaRPr lang="en-US" sz="770" dirty="0"/>
          </a:p>
        </p:txBody>
      </p:sp>
      <p:sp>
        <p:nvSpPr>
          <p:cNvPr id="25" name="Shape 20"/>
          <p:cNvSpPr/>
          <p:nvPr/>
        </p:nvSpPr>
        <p:spPr>
          <a:xfrm>
            <a:off x="274320" y="3063240"/>
            <a:ext cx="50749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47472" y="3136392"/>
            <a:ext cx="1188720" cy="402336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/>
        </p:spPr>
      </p:sp>
      <p:sp>
        <p:nvSpPr>
          <p:cNvPr id="27" name="Shape 22"/>
          <p:cNvSpPr/>
          <p:nvPr/>
        </p:nvSpPr>
        <p:spPr>
          <a:xfrm>
            <a:off x="420624" y="3200400"/>
            <a:ext cx="274320" cy="27432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" y="3268980"/>
            <a:ext cx="137160" cy="1371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1520" y="3063240"/>
            <a:ext cx="78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820" dirty="0"/>
          </a:p>
        </p:txBody>
      </p:sp>
      <p:sp>
        <p:nvSpPr>
          <p:cNvPr id="30" name="Text 24"/>
          <p:cNvSpPr/>
          <p:nvPr/>
        </p:nvSpPr>
        <p:spPr>
          <a:xfrm>
            <a:off x="1627632" y="3063240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7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sends content only to the tiers that must weigh in — HQ, region and market approve in parallel, human-in-the-loop throughout.</a:t>
            </a:r>
            <a:endParaRPr lang="en-US" sz="770" dirty="0"/>
          </a:p>
        </p:txBody>
      </p:sp>
      <p:sp>
        <p:nvSpPr>
          <p:cNvPr id="31" name="Shape 25"/>
          <p:cNvSpPr/>
          <p:nvPr/>
        </p:nvSpPr>
        <p:spPr>
          <a:xfrm>
            <a:off x="274320" y="3694176"/>
            <a:ext cx="50749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47472" y="3767328"/>
            <a:ext cx="1188720" cy="402336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/>
        </p:spPr>
      </p:sp>
      <p:sp>
        <p:nvSpPr>
          <p:cNvPr id="33" name="Shape 27"/>
          <p:cNvSpPr/>
          <p:nvPr/>
        </p:nvSpPr>
        <p:spPr>
          <a:xfrm>
            <a:off x="420624" y="3831336"/>
            <a:ext cx="274320" cy="27432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" y="3899916"/>
            <a:ext cx="137160" cy="1371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1520" y="3694176"/>
            <a:ext cx="78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820" dirty="0"/>
          </a:p>
        </p:txBody>
      </p:sp>
      <p:sp>
        <p:nvSpPr>
          <p:cNvPr id="36" name="Text 29"/>
          <p:cNvSpPr/>
          <p:nvPr/>
        </p:nvSpPr>
        <p:spPr>
          <a:xfrm>
            <a:off x="1627632" y="3694176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7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variants publish to AEM as system of record and activate via SFMC — age-gated and consent-purposed, per market.</a:t>
            </a:r>
            <a:endParaRPr lang="en-US" sz="770" dirty="0"/>
          </a:p>
        </p:txBody>
      </p:sp>
      <p:sp>
        <p:nvSpPr>
          <p:cNvPr id="37" name="Shape 30"/>
          <p:cNvSpPr/>
          <p:nvPr/>
        </p:nvSpPr>
        <p:spPr>
          <a:xfrm>
            <a:off x="5532120" y="1170432"/>
            <a:ext cx="3337560" cy="3072384"/>
          </a:xfrm>
          <a:prstGeom prst="roundRect">
            <a:avLst>
              <a:gd name="adj" fmla="val 89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5532120" y="1170432"/>
            <a:ext cx="3337560" cy="45720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39" name="Text 32"/>
          <p:cNvSpPr/>
          <p:nvPr/>
        </p:nvSpPr>
        <p:spPr>
          <a:xfrm>
            <a:off x="5715000" y="126187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COMPLIANCE ENGINE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5696712" y="1572768"/>
            <a:ext cx="237744" cy="237744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41" name="Text 34"/>
          <p:cNvSpPr/>
          <p:nvPr/>
        </p:nvSpPr>
        <p:spPr>
          <a:xfrm>
            <a:off x="5696712" y="1572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6025896" y="1545336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77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Codify the rulebooks — </a:t>
            </a:r>
            <a:pPr indent="0" marL="0">
              <a:lnSpc>
                <a:spcPct val="98000"/>
              </a:lnSpc>
              <a:buNone/>
            </a:pPr>
            <a:r>
              <a:rPr lang="en-US" sz="77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PMTA, TPD &amp; ad-codes become a versioned, legal-approved knowledge base — the foundational work.</a:t>
            </a:r>
            <a:endParaRPr lang="en-US" sz="770" dirty="0"/>
          </a:p>
        </p:txBody>
      </p:sp>
      <p:sp>
        <p:nvSpPr>
          <p:cNvPr id="43" name="Shape 36"/>
          <p:cNvSpPr/>
          <p:nvPr/>
        </p:nvSpPr>
        <p:spPr>
          <a:xfrm>
            <a:off x="5696712" y="2221992"/>
            <a:ext cx="237744" cy="237744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44" name="Text 37"/>
          <p:cNvSpPr/>
          <p:nvPr/>
        </p:nvSpPr>
        <p:spPr>
          <a:xfrm>
            <a:off x="5696712" y="2221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6025896" y="2194560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77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Cite, never opine — </a:t>
            </a:r>
            <a:pPr indent="0" marL="0">
              <a:lnSpc>
                <a:spcPct val="98000"/>
              </a:lnSpc>
              <a:buNone/>
            </a:pPr>
            <a:r>
              <a:rPr lang="en-US" sz="77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links to its clause; severity-triaged — block · review · clean.</a:t>
            </a:r>
            <a:endParaRPr lang="en-US" sz="770" dirty="0"/>
          </a:p>
        </p:txBody>
      </p:sp>
      <p:sp>
        <p:nvSpPr>
          <p:cNvPr id="46" name="Shape 39"/>
          <p:cNvSpPr/>
          <p:nvPr/>
        </p:nvSpPr>
        <p:spPr>
          <a:xfrm>
            <a:off x="5696712" y="2871216"/>
            <a:ext cx="237744" cy="237744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47" name="Text 40"/>
          <p:cNvSpPr/>
          <p:nvPr/>
        </p:nvSpPr>
        <p:spPr>
          <a:xfrm>
            <a:off x="5696712" y="2871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6025896" y="2843784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77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when uncertain — </a:t>
            </a:r>
            <a:pPr indent="0" marL="0">
              <a:lnSpc>
                <a:spcPct val="98000"/>
              </a:lnSpc>
              <a:buNone/>
            </a:pPr>
            <a:r>
              <a:rPr lang="en-US" sz="77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to hand off, not guess — counsel starts at ~80% done.</a:t>
            </a:r>
            <a:endParaRPr lang="en-US" sz="770" dirty="0"/>
          </a:p>
        </p:txBody>
      </p:sp>
      <p:sp>
        <p:nvSpPr>
          <p:cNvPr id="49" name="Shape 42"/>
          <p:cNvSpPr/>
          <p:nvPr/>
        </p:nvSpPr>
        <p:spPr>
          <a:xfrm>
            <a:off x="5696712" y="3520440"/>
            <a:ext cx="237744" cy="237744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50" name="Text 43"/>
          <p:cNvSpPr/>
          <p:nvPr/>
        </p:nvSpPr>
        <p:spPr>
          <a:xfrm>
            <a:off x="5696712" y="3520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4"/>
          <p:cNvSpPr/>
          <p:nvPr/>
        </p:nvSpPr>
        <p:spPr>
          <a:xfrm>
            <a:off x="6025896" y="349300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77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every override — </a:t>
            </a:r>
            <a:pPr indent="0" marL="0">
              <a:lnSpc>
                <a:spcPct val="98000"/>
              </a:lnSpc>
              <a:buNone/>
            </a:pPr>
            <a:r>
              <a:rPr lang="en-US" sz="77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decisions feed the rulebook; approved components enter transcreation memory.</a:t>
            </a:r>
            <a:endParaRPr lang="en-US" sz="770" dirty="0"/>
          </a:p>
        </p:txBody>
      </p:sp>
      <p:sp>
        <p:nvSpPr>
          <p:cNvPr id="52" name="Shape 45"/>
          <p:cNvSpPr/>
          <p:nvPr/>
        </p:nvSpPr>
        <p:spPr>
          <a:xfrm>
            <a:off x="274320" y="4352544"/>
            <a:ext cx="8595360" cy="475488"/>
          </a:xfrm>
          <a:prstGeom prst="roundRect">
            <a:avLst>
              <a:gd name="adj" fmla="val 9615"/>
            </a:avLst>
          </a:prstGeom>
          <a:solidFill>
            <a:srgbClr val="141B34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3" name="Text 46"/>
          <p:cNvSpPr/>
          <p:nvPr/>
        </p:nvSpPr>
        <p:spPr>
          <a:xfrm>
            <a:off x="502920" y="435254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TRIAGES AND ROUTES — IT NEVER APPROVES.   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counsel signs off every asset; every decision is logged, regulator-ready.</a:t>
            </a:r>
            <a:endParaRPr lang="en-US" sz="930" dirty="0"/>
          </a:p>
        </p:txBody>
      </p:sp>
      <p:sp>
        <p:nvSpPr>
          <p:cNvPr id="54" name="Text 47"/>
          <p:cNvSpPr/>
          <p:nvPr/>
        </p:nvSpPr>
        <p:spPr>
          <a:xfrm>
            <a:off x="274320" y="49286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</a:t>
            </a:r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Confidential — for PMI discussion</a:t>
            </a:r>
            <a:endParaRPr lang="en-US" sz="850" dirty="0"/>
          </a:p>
        </p:txBody>
      </p:sp>
      <p:sp>
        <p:nvSpPr>
          <p:cNvPr id="55" name="Text 48"/>
          <p:cNvSpPr/>
          <p:nvPr/>
        </p:nvSpPr>
        <p:spPr>
          <a:xfrm>
            <a:off x="8321040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" y="100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 · COOKIES, TRACKING &amp; MEASUREMENT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292608"/>
            <a:ext cx="8549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experience that knows every LAS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2608" y="841248"/>
            <a:ext cx="8549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coherent, consented customer view across paid · owned · earned — including the 21-day combustible→SFP conversion journey.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10158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6" y="1623060"/>
            <a:ext cx="192024" cy="1920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8328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 first-party, owned channels first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1784909" y="1371600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040941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76779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67" y="1623060"/>
            <a:ext cx="192024" cy="1920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86661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104949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probabilistic identity</a:t>
            </a:r>
            <a:endParaRPr lang="en-US" sz="680" dirty="0"/>
          </a:p>
        </p:txBody>
      </p:sp>
      <p:sp>
        <p:nvSpPr>
          <p:cNvPr id="19" name="Text 15"/>
          <p:cNvSpPr/>
          <p:nvPr/>
        </p:nvSpPr>
        <p:spPr>
          <a:xfrm>
            <a:off x="3551530" y="1371600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3807562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343400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988" y="1623060"/>
            <a:ext cx="192024" cy="1920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53282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3871570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graph: IQOS · ZYN · VEEV</a:t>
            </a:r>
            <a:endParaRPr lang="en-US" sz="680" dirty="0"/>
          </a:p>
        </p:txBody>
      </p:sp>
      <p:sp>
        <p:nvSpPr>
          <p:cNvPr id="25" name="Text 20"/>
          <p:cNvSpPr/>
          <p:nvPr/>
        </p:nvSpPr>
        <p:spPr>
          <a:xfrm>
            <a:off x="5318150" y="1371600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574182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10021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609" y="1623060"/>
            <a:ext cx="192024" cy="1920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19902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638190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· CLTV · poly-use affinity</a:t>
            </a:r>
            <a:endParaRPr lang="en-US" sz="680" dirty="0"/>
          </a:p>
        </p:txBody>
      </p:sp>
      <p:sp>
        <p:nvSpPr>
          <p:cNvPr id="31" name="Text 25"/>
          <p:cNvSpPr/>
          <p:nvPr/>
        </p:nvSpPr>
        <p:spPr>
          <a:xfrm>
            <a:off x="7084771" y="1371600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7340803" y="1371600"/>
            <a:ext cx="1528877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876642" y="1490472"/>
            <a:ext cx="457200" cy="457200"/>
          </a:xfrm>
          <a:prstGeom prst="ellipse">
            <a:avLst/>
          </a:prstGeom>
          <a:solidFill>
            <a:srgbClr val="14C0A8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9230" y="1623060"/>
            <a:ext cx="192024" cy="1920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86523" y="1965960"/>
            <a:ext cx="14374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7404811" y="2148840"/>
            <a:ext cx="1400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server-side, cookieless, privacy-safe</a:t>
            </a:r>
            <a:endParaRPr lang="en-US" sz="680" dirty="0"/>
          </a:p>
        </p:txBody>
      </p:sp>
      <p:sp>
        <p:nvSpPr>
          <p:cNvPr id="37" name="Text 30"/>
          <p:cNvSpPr/>
          <p:nvPr/>
        </p:nvSpPr>
        <p:spPr>
          <a:xfrm>
            <a:off x="274320" y="261518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PMI'S EXISTING STACK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274320" y="2798064"/>
            <a:ext cx="8595360" cy="658368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02920" y="279806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EDP · SFMC · server-side GTM — 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with Coforge's identity graph, propensity / CLTV models and consent-as-code (Customer-360 accelerator) — a 21-Day Conversion Cockpit and next-best-action served into consented, age-gated journeys.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274320" y="362102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· INDICATIVE, VALIDATED IN PHASE 0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274320" y="3803904"/>
            <a:ext cx="8595360" cy="713232"/>
          </a:xfrm>
          <a:prstGeom prst="roundRect">
            <a:avLst>
              <a:gd name="adj" fmla="val 6410"/>
            </a:avLst>
          </a:prstGeom>
          <a:solidFill>
            <a:srgbClr val="141B34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365760" y="3877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+15–25%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365760" y="41696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per legal-age user</a:t>
            </a:r>
            <a:endParaRPr lang="en-US" sz="730" dirty="0"/>
          </a:p>
        </p:txBody>
      </p:sp>
      <p:sp>
        <p:nvSpPr>
          <p:cNvPr id="44" name="Shape 37"/>
          <p:cNvSpPr/>
          <p:nvPr/>
        </p:nvSpPr>
        <p:spPr>
          <a:xfrm>
            <a:off x="2423160" y="3931920"/>
            <a:ext cx="0" cy="457200"/>
          </a:xfrm>
          <a:prstGeom prst="line">
            <a:avLst/>
          </a:prstGeom>
          <a:noFill/>
          <a:ln w="12700">
            <a:solidFill>
              <a:srgbClr val="35415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2514600" y="3877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2514600" y="41696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21-day combustible→SFP conversion</a:t>
            </a:r>
            <a:endParaRPr lang="en-US" sz="730" dirty="0"/>
          </a:p>
        </p:txBody>
      </p:sp>
      <p:sp>
        <p:nvSpPr>
          <p:cNvPr id="47" name="Shape 40"/>
          <p:cNvSpPr/>
          <p:nvPr/>
        </p:nvSpPr>
        <p:spPr>
          <a:xfrm>
            <a:off x="4572000" y="3931920"/>
            <a:ext cx="0" cy="457200"/>
          </a:xfrm>
          <a:prstGeom prst="line">
            <a:avLst/>
          </a:prstGeom>
          <a:noFill/>
          <a:ln w="12700">
            <a:solidFill>
              <a:srgbClr val="35415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663440" y="3877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49" name="Text 42"/>
          <p:cNvSpPr/>
          <p:nvPr/>
        </p:nvSpPr>
        <p:spPr>
          <a:xfrm>
            <a:off x="4663440" y="41696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consent-audit trail — GDPR / CCPA / TPD</a:t>
            </a:r>
            <a:endParaRPr lang="en-US" sz="730" dirty="0"/>
          </a:p>
        </p:txBody>
      </p:sp>
      <p:sp>
        <p:nvSpPr>
          <p:cNvPr id="50" name="Shape 43"/>
          <p:cNvSpPr/>
          <p:nvPr/>
        </p:nvSpPr>
        <p:spPr>
          <a:xfrm>
            <a:off x="6720840" y="3931920"/>
            <a:ext cx="0" cy="457200"/>
          </a:xfrm>
          <a:prstGeom prst="line">
            <a:avLst/>
          </a:prstGeom>
          <a:noFill/>
          <a:ln w="12700">
            <a:solidFill>
              <a:srgbClr val="35415F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6812280" y="3877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wks</a:t>
            </a:r>
            <a:endParaRPr lang="en-US" sz="1400" dirty="0"/>
          </a:p>
        </p:txBody>
      </p:sp>
      <p:sp>
        <p:nvSpPr>
          <p:cNvPr id="52" name="Text 45"/>
          <p:cNvSpPr/>
          <p:nvPr/>
        </p:nvSpPr>
        <p:spPr>
          <a:xfrm>
            <a:off x="6812280" y="41696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first pilot market live</a:t>
            </a:r>
            <a:endParaRPr lang="en-US" sz="730" dirty="0"/>
          </a:p>
        </p:txBody>
      </p:sp>
      <p:sp>
        <p:nvSpPr>
          <p:cNvPr id="53" name="Text 46"/>
          <p:cNvSpPr/>
          <p:nvPr/>
        </p:nvSpPr>
        <p:spPr>
          <a:xfrm>
            <a:off x="274320" y="49286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</a:t>
            </a:r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Confidential — for PMI discussion</a:t>
            </a:r>
            <a:endParaRPr lang="en-US" sz="850" dirty="0"/>
          </a:p>
        </p:txBody>
      </p:sp>
      <p:sp>
        <p:nvSpPr>
          <p:cNvPr id="54" name="Text 47"/>
          <p:cNvSpPr/>
          <p:nvPr/>
        </p:nvSpPr>
        <p:spPr>
          <a:xfrm>
            <a:off x="8321040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" y="100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DEEP-DIVE · CHALLENGE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292608"/>
            <a:ext cx="8549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privacy-first customer 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49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moves that turn dying third-party signal into one consented, defensible view of every legal-age user.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70432"/>
            <a:ext cx="4206240" cy="45720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" y="1289304"/>
            <a:ext cx="292608" cy="292608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362456"/>
            <a:ext cx="146304" cy="146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" y="128016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CONSENTED CAPTURE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164592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channels first — IQOS.com · Club · CARE · flagship stores · field app</a:t>
            </a:r>
            <a:endParaRPr lang="en-US" sz="79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GTM replaces tag sprawl — resilient to browser changes</a:t>
            </a:r>
            <a:endParaRPr lang="en-US" sz="79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&amp; earned joined via data clean rooms — never raw cross-site tracking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4663440" y="1170432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170432"/>
            <a:ext cx="4206240" cy="45720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15" name="Shape 12"/>
          <p:cNvSpPr/>
          <p:nvPr/>
        </p:nvSpPr>
        <p:spPr>
          <a:xfrm>
            <a:off x="4809744" y="1289304"/>
            <a:ext cx="292608" cy="292608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1362456"/>
            <a:ext cx="146304" cy="1463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93792" y="128016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CONSENT &amp; IDENTITY GRAPH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846320" y="164592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Consent-state captured, versioned and enforced as governed data</a:t>
            </a:r>
            <a:endParaRPr lang="en-US" sz="79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probabilistic resolution — only where consent allows</a:t>
            </a:r>
            <a:endParaRPr lang="en-US" sz="79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LAS identity across sessions, devices and product platforms</a:t>
            </a:r>
            <a:endParaRPr lang="en-US" sz="790" dirty="0"/>
          </a:p>
        </p:txBody>
      </p:sp>
      <p:sp>
        <p:nvSpPr>
          <p:cNvPr id="19" name="Shape 15"/>
          <p:cNvSpPr/>
          <p:nvPr/>
        </p:nvSpPr>
        <p:spPr>
          <a:xfrm>
            <a:off x="274320" y="2743200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74320" y="2743200"/>
            <a:ext cx="4206240" cy="45720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21" name="Shape 17"/>
          <p:cNvSpPr/>
          <p:nvPr/>
        </p:nvSpPr>
        <p:spPr>
          <a:xfrm>
            <a:off x="420624" y="2862072"/>
            <a:ext cx="292608" cy="292608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935224"/>
            <a:ext cx="146304" cy="14630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4672" y="285292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AI CUSTOMER INTELLIGENCE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57200" y="3218688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21-day conversion propensity and CLTV per legal-age user</a:t>
            </a:r>
            <a:endParaRPr lang="en-US" sz="79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Poly-use affinity across IQOS · ZYN · VEEV</a:t>
            </a:r>
            <a:endParaRPr lang="en-US" sz="79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infer from partial signal — no need to track every click</a:t>
            </a:r>
            <a:endParaRPr lang="en-US" sz="790" dirty="0"/>
          </a:p>
        </p:txBody>
      </p:sp>
      <p:sp>
        <p:nvSpPr>
          <p:cNvPr id="25" name="Shape 20"/>
          <p:cNvSpPr/>
          <p:nvPr/>
        </p:nvSpPr>
        <p:spPr>
          <a:xfrm>
            <a:off x="4663440" y="2743200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663440" y="2743200"/>
            <a:ext cx="4206240" cy="45720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27" name="Shape 22"/>
          <p:cNvSpPr/>
          <p:nvPr/>
        </p:nvSpPr>
        <p:spPr>
          <a:xfrm>
            <a:off x="4809744" y="2862072"/>
            <a:ext cx="292608" cy="292608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935224"/>
            <a:ext cx="146304" cy="14630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193792" y="285292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ACTIVATION &amp; MEASUREMENT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846320" y="3218688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21-Day Conversion Cockpit and next-best-action into SFMC journeys</a:t>
            </a:r>
            <a:endParaRPr lang="en-US" sz="79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Age-gate and consent-purpose checks at every egress — provable</a:t>
            </a:r>
            <a:endParaRPr lang="en-US" sz="79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 outbound restores paid-media attribution post-cookie</a:t>
            </a:r>
            <a:endParaRPr lang="en-US" sz="790" dirty="0"/>
          </a:p>
        </p:txBody>
      </p:sp>
      <p:sp>
        <p:nvSpPr>
          <p:cNvPr id="31" name="Shape 25"/>
          <p:cNvSpPr/>
          <p:nvPr/>
        </p:nvSpPr>
        <p:spPr>
          <a:xfrm>
            <a:off x="274320" y="4370832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141B34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502920" y="43708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CUSTOMER — DON'T TRACK EVERY CLICK.   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consented view per LAS — measurable, activatable, regulator-ready.</a:t>
            </a:r>
            <a:endParaRPr lang="en-US" sz="930" dirty="0"/>
          </a:p>
        </p:txBody>
      </p:sp>
      <p:sp>
        <p:nvSpPr>
          <p:cNvPr id="33" name="Text 27"/>
          <p:cNvSpPr/>
          <p:nvPr/>
        </p:nvSpPr>
        <p:spPr>
          <a:xfrm>
            <a:off x="274320" y="49286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</a:t>
            </a:r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Confidential — for PMI discussion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8321040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" y="100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 · ONE FOUNDATION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292608"/>
            <a:ext cx="8549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PMI's existing stack — no rip &amp; replace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49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plain layers — anchored on platforms PMI already owns, extended with Coforge Data Cosmos accelerators.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59536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52728"/>
            <a:ext cx="1737360" cy="402336"/>
          </a:xfrm>
          <a:prstGeom prst="roundRect">
            <a:avLst>
              <a:gd name="adj" fmla="val 6818"/>
            </a:avLst>
          </a:prstGeom>
          <a:solidFill>
            <a:srgbClr val="141B34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2527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 ·  </a:t>
            </a:r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&amp; ACTIVATION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2267712" y="117043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Cockpit · ask-your-data (KAI · DIVA · Power BI) · 21-Day Conversion Cockpit · consented, age-gated journeys via SFMC + Adobe AJO · feedback to HQ strategy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859536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911096"/>
            <a:ext cx="1737360" cy="402336"/>
          </a:xfrm>
          <a:prstGeom prst="roundRect">
            <a:avLst>
              <a:gd name="adj" fmla="val 6818"/>
            </a:avLst>
          </a:prstGeom>
          <a:solidFill>
            <a:srgbClr val="141B34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9110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·  </a:t>
            </a:r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LAYER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2267712" y="182880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RAG &amp; legal routing · insight, anomaly &amp; Text2SQL agents · identity resolution, propensity &amp; CLTV models — Coforge agentic framework + Snowflake Cortex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8595360" cy="566928"/>
          </a:xfrm>
          <a:prstGeom prst="roundRect">
            <a:avLst>
              <a:gd name="adj" fmla="val 4839"/>
            </a:avLst>
          </a:prstGeom>
          <a:solidFill>
            <a:srgbClr val="E9F7F4"/>
          </a:solidFill>
          <a:ln w="12700">
            <a:solidFill>
              <a:srgbClr val="CDEBE5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569464"/>
            <a:ext cx="1737360" cy="402336"/>
          </a:xfrm>
          <a:prstGeom prst="roundRect">
            <a:avLst>
              <a:gd name="adj" fmla="val 6818"/>
            </a:avLst>
          </a:prstGeom>
          <a:solidFill>
            <a:srgbClr val="14C0A8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56946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·  </a:t>
            </a:r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DATA PRODUCTS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267712" y="2487168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360 · Toolkit Adoption · LAS 360 · Content Hub + Transcreation Memory · Consent Ledger — on PMI EDP (Snowflake) · Data Ocean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859536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227832"/>
            <a:ext cx="1737360" cy="402336"/>
          </a:xfrm>
          <a:prstGeom prst="roundRect">
            <a:avLst>
              <a:gd name="adj" fmla="val 6818"/>
            </a:avLst>
          </a:prstGeom>
          <a:solidFill>
            <a:srgbClr val="141B34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2278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·  </a:t>
            </a:r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2267712" y="3145536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 DataFlux zero-code connectors (replaces custom Datorama connectors) · Matillion ELT (existing) · server-side consented events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74320" y="3803904"/>
            <a:ext cx="859536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886200"/>
            <a:ext cx="1737360" cy="402336"/>
          </a:xfrm>
          <a:prstGeom prst="roundRect">
            <a:avLst>
              <a:gd name="adj" fmla="val 6818"/>
            </a:avLst>
          </a:prstGeom>
          <a:solidFill>
            <a:srgbClr val="141B34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38862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·  </a:t>
            </a:r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CONSENT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2267712" y="3803904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channels · ~900 APIs · IQOS / VEEV device telemetry · Club · CARE · web / DAM / CRM · PMTA / TPD rulebooks · consent signals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292608" y="4480560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  </a:t>
            </a:r>
            <a:pPr indent="0" marL="0">
              <a:buNone/>
            </a:pPr>
            <a:r>
              <a:rPr lang="en-US" sz="85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consent-as-code (GDPR · CCPA · TPD)  ·  catalog &amp; lineage  ·  regulator-ready audit trail  ·  brand &amp; age-gate guardrails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49286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</a:t>
            </a:r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Confidential — for PMI discussion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321040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" y="100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· EVERY LAYER, EVERY PoV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292608"/>
            <a:ext cx="8549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Governance, security &amp; compliance by design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49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guardrails run through every layer of the architecture — one set of controls serving all three PoVs.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743200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0624" y="13167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41B3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40817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20624" y="173736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Consent-as-Code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0624" y="1975104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CCPA · TPD purposes enforced automatically at every data egress point.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3200400" y="1188720"/>
            <a:ext cx="2743200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46704" y="13167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41B3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408176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46704" y="173736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Lineage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346704" y="1975104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traceable to its source — catalogued end-to-end, no black boxes.</a:t>
            </a:r>
            <a:endParaRPr lang="en-US" sz="780" dirty="0"/>
          </a:p>
        </p:txBody>
      </p:sp>
      <p:sp>
        <p:nvSpPr>
          <p:cNvPr id="17" name="Shape 13"/>
          <p:cNvSpPr/>
          <p:nvPr/>
        </p:nvSpPr>
        <p:spPr>
          <a:xfrm>
            <a:off x="6126480" y="1188720"/>
            <a:ext cx="2743200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72784" y="13167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41B3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408176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72784" y="173736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MDM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272784" y="1975104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customer and product records, with CIAM age-verification built in.</a:t>
            </a:r>
            <a:endParaRPr lang="en-US" sz="780" dirty="0"/>
          </a:p>
        </p:txBody>
      </p:sp>
      <p:sp>
        <p:nvSpPr>
          <p:cNvPr id="22" name="Shape 17"/>
          <p:cNvSpPr/>
          <p:nvPr/>
        </p:nvSpPr>
        <p:spPr>
          <a:xfrm>
            <a:off x="274320" y="2706624"/>
            <a:ext cx="2743200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20624" y="28346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41B3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926080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20624" y="3255264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IAM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20624" y="3493008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 on PMI's own tenancy — Azure AD / Okta integrated.</a:t>
            </a:r>
            <a:endParaRPr lang="en-US" sz="780" dirty="0"/>
          </a:p>
        </p:txBody>
      </p:sp>
      <p:sp>
        <p:nvSpPr>
          <p:cNvPr id="27" name="Shape 21"/>
          <p:cNvSpPr/>
          <p:nvPr/>
        </p:nvSpPr>
        <p:spPr>
          <a:xfrm>
            <a:off x="3200400" y="2706624"/>
            <a:ext cx="2743200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346704" y="28346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41B3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2926080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346704" y="3255264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Regulator-Ready Audit Trail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3346704" y="3493008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decision and human approval logged — immutable and exportable.</a:t>
            </a:r>
            <a:endParaRPr lang="en-US" sz="780" dirty="0"/>
          </a:p>
        </p:txBody>
      </p:sp>
      <p:sp>
        <p:nvSpPr>
          <p:cNvPr id="32" name="Shape 25"/>
          <p:cNvSpPr/>
          <p:nvPr/>
        </p:nvSpPr>
        <p:spPr>
          <a:xfrm>
            <a:off x="6126480" y="2706624"/>
            <a:ext cx="2743200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272784" y="28346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41B34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2926080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272784" y="3255264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Age-Gate Guardrails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6272784" y="3493008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outputs checked against brand and age rules before anything publishes.</a:t>
            </a:r>
            <a:endParaRPr lang="en-US" sz="780" dirty="0"/>
          </a:p>
        </p:txBody>
      </p:sp>
      <p:sp>
        <p:nvSpPr>
          <p:cNvPr id="37" name="Shape 29"/>
          <p:cNvSpPr/>
          <p:nvPr/>
        </p:nvSpPr>
        <p:spPr>
          <a:xfrm>
            <a:off x="274320" y="4261104"/>
            <a:ext cx="8595360" cy="493776"/>
          </a:xfrm>
          <a:prstGeom prst="roundRect">
            <a:avLst>
              <a:gd name="adj" fmla="val 9259"/>
            </a:avLst>
          </a:prstGeom>
          <a:solidFill>
            <a:srgbClr val="141B34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8" name="Text 30"/>
          <p:cNvSpPr/>
          <p:nvPr/>
        </p:nvSpPr>
        <p:spPr>
          <a:xfrm>
            <a:off x="502920" y="4261104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DESIGNED IN, NOT REVIEWED IN — 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guardrails serve every PoV, regulator-ready from day one.</a:t>
            </a:r>
            <a:endParaRPr lang="en-US" sz="930" dirty="0"/>
          </a:p>
        </p:txBody>
      </p:sp>
      <p:sp>
        <p:nvSpPr>
          <p:cNvPr id="39" name="Text 31"/>
          <p:cNvSpPr/>
          <p:nvPr/>
        </p:nvSpPr>
        <p:spPr>
          <a:xfrm>
            <a:off x="274320" y="49286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</a:t>
            </a:r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Confidential — for PMI discussion</a:t>
            </a:r>
            <a:endParaRPr lang="en-US" sz="850" dirty="0"/>
          </a:p>
        </p:txBody>
      </p:sp>
      <p:sp>
        <p:nvSpPr>
          <p:cNvPr id="40" name="Text 32"/>
          <p:cNvSpPr/>
          <p:nvPr/>
        </p:nvSpPr>
        <p:spPr>
          <a:xfrm>
            <a:off x="8321040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" y="100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292608"/>
            <a:ext cx="8549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insight to in-market execution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data made consumable by Marketing Cloud, content produced on PMI's Adobe platform, campaigns executed — consent-filtered by design.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2743200" cy="27432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07008"/>
            <a:ext cx="2743200" cy="45720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" y="135331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4C0A8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1325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data → Salesforce Marketing Cloud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865376"/>
            <a:ext cx="23774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Snowflake shares → SF Data Cloud → SFMC — audiences consumed in place, governance travels with the data</a:t>
            </a:r>
            <a:endParaRPr lang="en-US" sz="790" dirty="0"/>
          </a:p>
          <a:p>
            <a:pPr marL="127000" indent="-1270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Data-product APIs serve audiences, offers &amp; next-best-action scores on demand</a:t>
            </a:r>
            <a:endParaRPr lang="en-US" sz="790" dirty="0"/>
          </a:p>
          <a:p>
            <a:pPr marL="127000" indent="-1270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CDC / Kafka triggers (purchase, device activation, consent change) reach journeys in seconds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3200400" y="1207008"/>
            <a:ext cx="2743200" cy="27432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207008"/>
            <a:ext cx="2743200" cy="45720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46704" y="135331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4C0A8"/>
          </a:solidFill>
          <a:ln/>
        </p:spPr>
      </p:sp>
      <p:sp>
        <p:nvSpPr>
          <p:cNvPr id="16" name="Text 14"/>
          <p:cNvSpPr/>
          <p:nvPr/>
        </p:nvSpPr>
        <p:spPr>
          <a:xfrm>
            <a:off x="3346704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94176" y="1325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→ Adobe platform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1865376"/>
            <a:ext cx="23774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GenStudio + Firefly generate on-brand copy, image &amp; video variants at scale</a:t>
            </a:r>
            <a:endParaRPr lang="en-US" sz="790" dirty="0"/>
          </a:p>
          <a:p>
            <a:pPr marL="127000" indent="-1270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 is the system of record — every variant auto-tagged to the global taxonomy</a:t>
            </a:r>
            <a:endParaRPr lang="en-US" sz="790" dirty="0"/>
          </a:p>
          <a:p>
            <a:pPr marL="127000" indent="-1270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RAG pre-check embedded in Workfront routing — legal review starts at 80% done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6126480" y="1207008"/>
            <a:ext cx="2743200" cy="27432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207008"/>
            <a:ext cx="2743200" cy="45720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21" name="Shape 19"/>
          <p:cNvSpPr/>
          <p:nvPr/>
        </p:nvSpPr>
        <p:spPr>
          <a:xfrm>
            <a:off x="6272784" y="135331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4C0A8"/>
          </a:solidFill>
          <a:ln/>
        </p:spPr>
      </p:sp>
      <p:sp>
        <p:nvSpPr>
          <p:cNvPr id="22" name="Text 20"/>
          <p:cNvSpPr/>
          <p:nvPr/>
        </p:nvSpPr>
        <p:spPr>
          <a:xfrm>
            <a:off x="6272784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0256" y="1325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→ consented, age-gated journeys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9360" y="1865376"/>
            <a:ext cx="23774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 composed on LAS 360 consented attributes &amp; AI scores, synced to Journey Builder</a:t>
            </a:r>
            <a:endParaRPr lang="en-US" sz="790" dirty="0"/>
          </a:p>
          <a:p>
            <a:pPr marL="127000" indent="-1270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Next-best-offer served inside journeys and owned channels — IQOS.com · Club · CARE</a:t>
            </a:r>
            <a:endParaRPr lang="en-US" sz="790" dirty="0"/>
          </a:p>
          <a:p>
            <a:pPr marL="127000" indent="-1270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79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&amp; conversions flow back — campaign → commercialisation ROI without Datorama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274320" y="4133088"/>
            <a:ext cx="8595360" cy="621792"/>
          </a:xfrm>
          <a:prstGeom prst="roundRect">
            <a:avLst>
              <a:gd name="adj" fmla="val 7353"/>
            </a:avLst>
          </a:prstGeom>
          <a:solidFill>
            <a:srgbClr val="141B34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41970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not weeks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462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→ in-market activation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2423160" y="4242816"/>
            <a:ext cx="0" cy="402336"/>
          </a:xfrm>
          <a:prstGeom prst="line">
            <a:avLst/>
          </a:prstGeom>
          <a:noFill/>
          <a:ln w="12700">
            <a:solidFill>
              <a:srgbClr val="35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41970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copies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514600" y="4462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shares keep governance intact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4572000" y="4242816"/>
            <a:ext cx="0" cy="402336"/>
          </a:xfrm>
          <a:prstGeom prst="line">
            <a:avLst/>
          </a:prstGeom>
          <a:noFill/>
          <a:ln w="12700">
            <a:solidFill>
              <a:srgbClr val="35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1970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63440" y="4462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consent-filtered, age-gated egress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6720840" y="4242816"/>
            <a:ext cx="0" cy="402336"/>
          </a:xfrm>
          <a:prstGeom prst="line">
            <a:avLst/>
          </a:prstGeom>
          <a:noFill/>
          <a:ln w="12700">
            <a:solidFill>
              <a:srgbClr val="35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41970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licences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812280" y="4462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SFMC + Adobe reused — no new platforms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274320" y="49286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</a:t>
            </a:r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Confidential — for PMI discussion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321040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4C0A8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" y="100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292608"/>
            <a:ext cx="8549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value in a pilot market by week 12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468880" y="932688"/>
            <a:ext cx="106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535680" y="932688"/>
            <a:ext cx="106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02480" y="932688"/>
            <a:ext cx="106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0" y="932688"/>
            <a:ext cx="106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36080" y="932688"/>
            <a:ext cx="106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02880" y="932688"/>
            <a:ext cx="106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1152144"/>
            <a:ext cx="0" cy="2505456"/>
          </a:xfrm>
          <a:prstGeom prst="line">
            <a:avLst/>
          </a:prstGeom>
          <a:noFill/>
          <a:ln w="9525">
            <a:solidFill>
              <a:srgbClr val="E4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5680" y="1152144"/>
            <a:ext cx="0" cy="2505456"/>
          </a:xfrm>
          <a:prstGeom prst="line">
            <a:avLst/>
          </a:prstGeom>
          <a:noFill/>
          <a:ln w="9525">
            <a:solidFill>
              <a:srgbClr val="E4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2480" y="1152144"/>
            <a:ext cx="0" cy="2505456"/>
          </a:xfrm>
          <a:prstGeom prst="line">
            <a:avLst/>
          </a:prstGeom>
          <a:noFill/>
          <a:ln w="9525">
            <a:solidFill>
              <a:srgbClr val="E4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152144"/>
            <a:ext cx="0" cy="2505456"/>
          </a:xfrm>
          <a:prstGeom prst="line">
            <a:avLst/>
          </a:prstGeom>
          <a:noFill/>
          <a:ln w="9525">
            <a:solidFill>
              <a:srgbClr val="E4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36080" y="1152144"/>
            <a:ext cx="0" cy="2505456"/>
          </a:xfrm>
          <a:prstGeom prst="line">
            <a:avLst/>
          </a:prstGeom>
          <a:noFill/>
          <a:ln w="9525">
            <a:solidFill>
              <a:srgbClr val="E4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02880" y="1152144"/>
            <a:ext cx="0" cy="2505456"/>
          </a:xfrm>
          <a:prstGeom prst="line">
            <a:avLst/>
          </a:prstGeom>
          <a:noFill/>
          <a:ln w="9525">
            <a:solidFill>
              <a:srgbClr val="E4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0" y="1152144"/>
            <a:ext cx="0" cy="2505456"/>
          </a:xfrm>
          <a:prstGeom prst="line">
            <a:avLst/>
          </a:prstGeom>
          <a:noFill/>
          <a:ln w="9525">
            <a:solidFill>
              <a:srgbClr val="E4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188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Mobilise &amp; architecture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68880" y="1252728"/>
            <a:ext cx="1011936" cy="201168"/>
          </a:xfrm>
          <a:prstGeom prst="roundRect">
            <a:avLst>
              <a:gd name="adj" fmla="val 27273"/>
            </a:avLst>
          </a:prstGeom>
          <a:solidFill>
            <a:srgbClr val="141B34"/>
          </a:solidFill>
          <a:ln/>
        </p:spPr>
      </p:sp>
      <p:sp>
        <p:nvSpPr>
          <p:cNvPr id="21" name="Text 19"/>
          <p:cNvSpPr/>
          <p:nvPr/>
        </p:nvSpPr>
        <p:spPr>
          <a:xfrm>
            <a:off x="3553968" y="1188720"/>
            <a:ext cx="5315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sign-off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" y="16093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1 · AI for BI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68880" y="1673352"/>
            <a:ext cx="3145536" cy="201168"/>
          </a:xfrm>
          <a:prstGeom prst="roundRect">
            <a:avLst>
              <a:gd name="adj" fmla="val 27273"/>
            </a:avLst>
          </a:prstGeom>
          <a:solidFill>
            <a:srgbClr val="14C0A8"/>
          </a:solidFill>
          <a:ln/>
        </p:spPr>
      </p:sp>
      <p:sp>
        <p:nvSpPr>
          <p:cNvPr id="24" name="Text 22"/>
          <p:cNvSpPr/>
          <p:nvPr/>
        </p:nvSpPr>
        <p:spPr>
          <a:xfrm>
            <a:off x="5687568" y="1609344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CMO insight · wk 12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74320" y="20299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2 · Content supply chain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35680" y="2093976"/>
            <a:ext cx="3145536" cy="201168"/>
          </a:xfrm>
          <a:prstGeom prst="roundRect">
            <a:avLst>
              <a:gd name="adj" fmla="val 27273"/>
            </a:avLst>
          </a:prstGeom>
          <a:solidFill>
            <a:srgbClr val="14C0A8"/>
          </a:solidFill>
          <a:ln/>
        </p:spPr>
      </p:sp>
      <p:sp>
        <p:nvSpPr>
          <p:cNvPr id="27" name="Text 25"/>
          <p:cNvSpPr/>
          <p:nvPr/>
        </p:nvSpPr>
        <p:spPr>
          <a:xfrm>
            <a:off x="6754368" y="2029968"/>
            <a:ext cx="2115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workflow live · wk 16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74320" y="24505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3 · Privacy-first SCV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535680" y="2514600"/>
            <a:ext cx="3678936" cy="201168"/>
          </a:xfrm>
          <a:prstGeom prst="roundRect">
            <a:avLst>
              <a:gd name="adj" fmla="val 27273"/>
            </a:avLst>
          </a:prstGeom>
          <a:solidFill>
            <a:srgbClr val="14C0A8"/>
          </a:solidFill>
          <a:ln/>
        </p:spPr>
      </p:sp>
      <p:sp>
        <p:nvSpPr>
          <p:cNvPr id="30" name="Text 28"/>
          <p:cNvSpPr/>
          <p:nvPr/>
        </p:nvSpPr>
        <p:spPr>
          <a:xfrm>
            <a:off x="7287768" y="2450592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360 pilot · wk 18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74320" y="287121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&amp; content execution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669280" y="2935224"/>
            <a:ext cx="1545336" cy="201168"/>
          </a:xfrm>
          <a:prstGeom prst="roundRect">
            <a:avLst>
              <a:gd name="adj" fmla="val 27273"/>
            </a:avLst>
          </a:prstGeom>
          <a:solidFill>
            <a:srgbClr val="0E8C7C"/>
          </a:solidFill>
          <a:ln/>
        </p:spPr>
      </p:sp>
      <p:sp>
        <p:nvSpPr>
          <p:cNvPr id="33" name="Text 31"/>
          <p:cNvSpPr/>
          <p:nvPr/>
        </p:nvSpPr>
        <p:spPr>
          <a:xfrm>
            <a:off x="7287768" y="287121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· APIs · GenStudio · wk 20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74320" y="3291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 &amp; scale decision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802880" y="3355848"/>
            <a:ext cx="1011936" cy="201168"/>
          </a:xfrm>
          <a:prstGeom prst="roundRect">
            <a:avLst>
              <a:gd name="adj" fmla="val 27273"/>
            </a:avLst>
          </a:prstGeom>
          <a:solidFill>
            <a:srgbClr val="141B34"/>
          </a:solidFill>
          <a:ln/>
        </p:spPr>
      </p:sp>
      <p:sp>
        <p:nvSpPr>
          <p:cNvPr id="36" name="Text 34"/>
          <p:cNvSpPr/>
          <p:nvPr/>
        </p:nvSpPr>
        <p:spPr>
          <a:xfrm>
            <a:off x="7802880" y="3355848"/>
            <a:ext cx="101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92608" y="3730752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3A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MILESTONES   </a:t>
            </a:r>
            <a:pPr indent="0" marL="0">
              <a:buNone/>
            </a:pPr>
            <a:r>
              <a:rPr lang="en-US" sz="82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architecture sign-off  ·  M3 first CMO insight live in pilot market  ·  M5 activation layer live (SFMC · Adobe)  ·  M6 readout &amp; scale decision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274320" y="4023360"/>
            <a:ext cx="4206240" cy="841248"/>
          </a:xfrm>
          <a:prstGeom prst="roundRect">
            <a:avLst>
              <a:gd name="adj" fmla="val 4348"/>
            </a:avLst>
          </a:prstGeom>
          <a:solidFill>
            <a:srgbClr val="E9F7F4"/>
          </a:solidFill>
          <a:ln w="12700">
            <a:solidFill>
              <a:srgbClr val="CDEB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4096512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0624" y="4270248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one pilot market and a joint working team — Coforge mobilises Phase 0 within two weeks of go-ahead. All three PoVs proven on PMI's existing stack within ~6 months.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4663440" y="4023360"/>
            <a:ext cx="420624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4096512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2F5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THIS PoV · SIZED AFTER PILOT READOUT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09744" y="4270248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3C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Datorama decommissioning &amp; historical migration · org change &amp; market enablement · MMM / attribution scale-out · run &amp; support model · commerce / POS integration for units-sold.</a:t>
            </a:r>
            <a:endParaRPr lang="en-US" sz="830" dirty="0"/>
          </a:p>
        </p:txBody>
      </p:sp>
      <p:sp>
        <p:nvSpPr>
          <p:cNvPr id="44" name="Text 42"/>
          <p:cNvSpPr/>
          <p:nvPr/>
        </p:nvSpPr>
        <p:spPr>
          <a:xfrm>
            <a:off x="274320" y="49286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</a:t>
            </a:r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Confidential — for PMI discussion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321040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PMI — Combined Point of View</dc:title>
  <dc:subject>PptxGenJS Presentation</dc:subject>
  <dc:creator>Coforge</dc:creator>
  <cp:lastModifiedBy>Coforge</cp:lastModifiedBy>
  <cp:revision>1</cp:revision>
  <dcterms:created xsi:type="dcterms:W3CDTF">2026-07-22T03:25:46Z</dcterms:created>
  <dcterms:modified xsi:type="dcterms:W3CDTF">2026-07-22T03:25:46Z</dcterms:modified>
</cp:coreProperties>
</file>