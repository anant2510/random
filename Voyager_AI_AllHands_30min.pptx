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joint session. Introduce all three speakers and the colour code up front: coral = Sandeep, blue = Adobe, teal = Anant. Every slide shows whose it is, top-right, so handoffs are clean.
Set the frame in one line: 'Thirty minutes, seven chapters, three voices — you'll leave knowing what this is, why Adobe put their name on it, and exactly how you plug in.'
Thirty minutes is fully programmed with no separate Q&amp;A window, so keep to the clock on the top-right of every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so lead with the story, not the slide. Open on Gate 42 — the Platinum passenger whose cancellation alert is identical to the cheapest seat on the aircraft.
Left column is the market pain; right column is why it is ours to win. Land the right-hand 'strategic relevance' card: this is where Adobe's platform and Coforge's airline domain meet.
Hand to yourself for the next slide — you keep the mic through chapter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and four things to land: the proposition (top banner), then industries, use cases and outcomes across the three columns.
Spend most of the time in the middle column — the two named journeys are the concrete proof and they set up Anant's architecture walkthrough later. Say you'll show the disruption journey in more detail during the walkthrough.
Outcome numbers come from the Voyager solution deck — confirm them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belongs to the Adobe Architect — the slide is built to support their voice, not replace it.
Left panel is Adobe's own definition of a Rapid Deployment Solution, quoted accurately. Right panel walks ecosystem fit, the validation process, and why the badge is worth having. Adobe should feel free to reframe any of it.
The honest, powerful point for this room: Adobe looked under the hood and is willing to stand next to the solution in front of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 the longest chapter, shared by Anant and the Adobe Architect. Anant drives the flow left to right; Adobe confirms the platform components underneath.
Read it as one sentence: data comes in on the left, becomes a single real-time profile in AEP, AI decides who-what-when in the middle, and it activates everywhere on the right — measured and closed-loop.
Leave ~2 minutes for the live use-case demo (VIP Disruption Care is the strongest). If the demo environment is shaky, keep it to the disruption journey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pure enablement — this is what the Experience team most needs to walk away with.
The four quadrants are who buys, when they buy, what to ask, and how to frame it. The bottom strip is the opportunity-identification cue: an Adobe airline account plus a CX pain equals a lead.
Sales specifics — personas and triggers — should be validated with the Voyager go-to-market owner before this is presented widely; treat what's on the slide as a strong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shared by Anant and Sandeep — the energy peak of the session. This is the ask to a very large room, so keep it concrete: five specific ways to plug in, all open from tomorrow.
Stress 'bring your industry' and 'nominate a customer' — those two turn 1,800 listeners into a pipeline. Have the enablement link and the nomination route ready to show on the next slide.
Name the owner or channel for nominations out loud before you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all three speakers. Keep it tight and shared — a sentence each works well.
Three asks, deliberately small: get enabled, grab the material, nominate one customer. Point to exactly where the enablement hub lives and who receives nominations.
Close by handing to the Adobe Architect for a final line — their presence on the podium is the endorsement. Then end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1.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727"/>
        </a:solidFill>
      </p:bgPr>
    </p:bg>
    <p:spTree>
      <p:nvGrpSpPr>
        <p:cNvPr id="1" name=""/>
        <p:cNvGrpSpPr/>
        <p:nvPr/>
      </p:nvGrpSpPr>
      <p:grpSpPr>
        <a:xfrm>
          <a:off x="0" y="0"/>
          <a:ext cx="0" cy="0"/>
          <a:chOff x="0" y="0"/>
          <a:chExt cx="0" cy="0"/>
        </a:xfrm>
      </p:grpSpPr>
      <p:pic>
        <p:nvPicPr>
          <p:cNvPr id="2" name="Image 0" descr="/home/claude/work/assets/hero_titl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77240" y="822960"/>
            <a:ext cx="8229600" cy="237744"/>
          </a:xfrm>
          <a:prstGeom prst="rect">
            <a:avLst/>
          </a:prstGeom>
          <a:noFill/>
          <a:ln/>
        </p:spPr>
        <p:txBody>
          <a:bodyPr wrap="square" lIns="0" tIns="0" rIns="0" bIns="0" rtlCol="0" anchor="ctr"/>
          <a:lstStyle/>
          <a:p>
            <a:pPr indent="0" marL="0">
              <a:buNone/>
            </a:pPr>
            <a:r>
              <a:rPr lang="en-US" sz="1050" b="1" spc="220" kern="0" dirty="0">
                <a:solidFill>
                  <a:srgbClr val="F15B40"/>
                </a:solidFill>
                <a:latin typeface="Arial" pitchFamily="34" charset="0"/>
                <a:ea typeface="Arial" pitchFamily="34" charset="-122"/>
                <a:cs typeface="Arial" pitchFamily="34" charset="-120"/>
              </a:rPr>
              <a:t>ALL-HANDS SESSION   ·   EXPERIENCE TEAM</a:t>
            </a:r>
            <a:endParaRPr lang="en-US" sz="1050" dirty="0"/>
          </a:p>
        </p:txBody>
      </p:sp>
      <p:sp>
        <p:nvSpPr>
          <p:cNvPr id="4" name="Text 1"/>
          <p:cNvSpPr/>
          <p:nvPr/>
        </p:nvSpPr>
        <p:spPr>
          <a:xfrm>
            <a:off x="777240" y="1188720"/>
            <a:ext cx="7772400" cy="1188720"/>
          </a:xfrm>
          <a:prstGeom prst="rect">
            <a:avLst/>
          </a:prstGeom>
          <a:noFill/>
          <a:ln/>
        </p:spPr>
        <p:txBody>
          <a:bodyPr wrap="square" lIns="0" tIns="0" rIns="0" bIns="0" rtlCol="0" anchor="ctr"/>
          <a:lstStyle/>
          <a:p>
            <a:pPr indent="0" marL="0">
              <a:buNone/>
            </a:pPr>
            <a:r>
              <a:rPr lang="en-US" sz="6200" b="1" spc="150" kern="0" dirty="0">
                <a:solidFill>
                  <a:srgbClr val="FFFFFF"/>
                </a:solidFill>
                <a:latin typeface="Arial" pitchFamily="34" charset="0"/>
                <a:ea typeface="Arial" pitchFamily="34" charset="-122"/>
                <a:cs typeface="Arial" pitchFamily="34" charset="-120"/>
              </a:rPr>
              <a:t>VOYAGER.AI</a:t>
            </a:r>
            <a:endParaRPr lang="en-US" sz="6200" dirty="0"/>
          </a:p>
        </p:txBody>
      </p:sp>
      <p:sp>
        <p:nvSpPr>
          <p:cNvPr id="5" name="Text 2"/>
          <p:cNvSpPr/>
          <p:nvPr/>
        </p:nvSpPr>
        <p:spPr>
          <a:xfrm>
            <a:off x="777240" y="2578608"/>
            <a:ext cx="6400800" cy="1280160"/>
          </a:xfrm>
          <a:prstGeom prst="rect">
            <a:avLst/>
          </a:prstGeom>
          <a:noFill/>
          <a:ln/>
        </p:spPr>
        <p:txBody>
          <a:bodyPr wrap="square" lIns="0" tIns="0" rIns="0" bIns="0" rtlCol="0" anchor="t"/>
          <a:lstStyle/>
          <a:p>
            <a:pPr indent="0" marL="0">
              <a:lnSpc>
                <a:spcPct val="122000"/>
              </a:lnSpc>
              <a:buNone/>
            </a:pPr>
            <a:r>
              <a:rPr lang="en-US" sz="1900" dirty="0">
                <a:solidFill>
                  <a:srgbClr val="C7D5EA"/>
                </a:solidFill>
                <a:latin typeface="Cambria" pitchFamily="34" charset="0"/>
                <a:ea typeface="Cambria" pitchFamily="34" charset="-122"/>
                <a:cs typeface="Cambria" pitchFamily="34" charset="-120"/>
              </a:rPr>
              <a:t>Coforge's first Adobe-badged solution — the story, the architecture, and how 1,800 of us take it to market.</a:t>
            </a:r>
            <a:endParaRPr lang="en-US" sz="1900" dirty="0"/>
          </a:p>
        </p:txBody>
      </p:sp>
      <p:sp>
        <p:nvSpPr>
          <p:cNvPr id="6" name="Shape 3"/>
          <p:cNvSpPr/>
          <p:nvPr/>
        </p:nvSpPr>
        <p:spPr>
          <a:xfrm>
            <a:off x="777240" y="3977640"/>
            <a:ext cx="1358798" cy="420624"/>
          </a:xfrm>
          <a:prstGeom prst="roundRect">
            <a:avLst>
              <a:gd name="adj" fmla="val 21739"/>
            </a:avLst>
          </a:prstGeom>
          <a:solidFill>
            <a:srgbClr val="0E3457"/>
          </a:solidFill>
          <a:ln w="12700">
            <a:solidFill>
              <a:srgbClr val="1D4B76"/>
            </a:solidFill>
            <a:prstDash val="solid"/>
          </a:ln>
        </p:spPr>
      </p:sp>
      <p:sp>
        <p:nvSpPr>
          <p:cNvPr id="7" name="Shape 4"/>
          <p:cNvSpPr/>
          <p:nvPr/>
        </p:nvSpPr>
        <p:spPr>
          <a:xfrm>
            <a:off x="960120" y="4133088"/>
            <a:ext cx="118872" cy="118872"/>
          </a:xfrm>
          <a:prstGeom prst="ellipse">
            <a:avLst/>
          </a:prstGeom>
          <a:solidFill>
            <a:srgbClr val="F15B40"/>
          </a:solidFill>
          <a:ln w="12700">
            <a:solidFill>
              <a:srgbClr val="F15B40"/>
            </a:solidFill>
            <a:prstDash val="solid"/>
          </a:ln>
        </p:spPr>
      </p:sp>
      <p:sp>
        <p:nvSpPr>
          <p:cNvPr id="8" name="Text 5"/>
          <p:cNvSpPr/>
          <p:nvPr/>
        </p:nvSpPr>
        <p:spPr>
          <a:xfrm>
            <a:off x="1143000" y="3977640"/>
            <a:ext cx="901598" cy="420624"/>
          </a:xfrm>
          <a:prstGeom prst="rect">
            <a:avLst/>
          </a:prstGeom>
          <a:noFill/>
          <a:ln/>
        </p:spPr>
        <p:txBody>
          <a:bodyPr wrap="square" lIns="0" tIns="0" rIns="0" bIns="0" rtlCol="0" anchor="ctr"/>
          <a:lstStyle/>
          <a:p>
            <a:pPr indent="0" marL="0">
              <a:buNone/>
            </a:pPr>
            <a:r>
              <a:rPr lang="en-US" sz="950" b="1" spc="80" kern="0" dirty="0">
                <a:solidFill>
                  <a:srgbClr val="FFFFFF"/>
                </a:solidFill>
                <a:latin typeface="Arial" pitchFamily="34" charset="0"/>
                <a:ea typeface="Arial" pitchFamily="34" charset="-122"/>
                <a:cs typeface="Arial" pitchFamily="34" charset="-120"/>
              </a:rPr>
              <a:t>SANDEEP UPPAL</a:t>
            </a:r>
            <a:endParaRPr lang="en-US" sz="950" dirty="0"/>
          </a:p>
        </p:txBody>
      </p:sp>
      <p:sp>
        <p:nvSpPr>
          <p:cNvPr id="9" name="Shape 6"/>
          <p:cNvSpPr/>
          <p:nvPr/>
        </p:nvSpPr>
        <p:spPr>
          <a:xfrm>
            <a:off x="2300630" y="3977640"/>
            <a:ext cx="1508760" cy="420624"/>
          </a:xfrm>
          <a:prstGeom prst="roundRect">
            <a:avLst>
              <a:gd name="adj" fmla="val 21739"/>
            </a:avLst>
          </a:prstGeom>
          <a:solidFill>
            <a:srgbClr val="0E3457"/>
          </a:solidFill>
          <a:ln w="12700">
            <a:solidFill>
              <a:srgbClr val="1D4B76"/>
            </a:solidFill>
            <a:prstDash val="solid"/>
          </a:ln>
        </p:spPr>
      </p:sp>
      <p:sp>
        <p:nvSpPr>
          <p:cNvPr id="10" name="Shape 7"/>
          <p:cNvSpPr/>
          <p:nvPr/>
        </p:nvSpPr>
        <p:spPr>
          <a:xfrm>
            <a:off x="2483510" y="4133088"/>
            <a:ext cx="118872" cy="118872"/>
          </a:xfrm>
          <a:prstGeom prst="ellipse">
            <a:avLst/>
          </a:prstGeom>
          <a:solidFill>
            <a:srgbClr val="2E6FD6"/>
          </a:solidFill>
          <a:ln w="12700">
            <a:solidFill>
              <a:srgbClr val="2E6FD6"/>
            </a:solidFill>
            <a:prstDash val="solid"/>
          </a:ln>
        </p:spPr>
      </p:sp>
      <p:sp>
        <p:nvSpPr>
          <p:cNvPr id="11" name="Text 8"/>
          <p:cNvSpPr/>
          <p:nvPr/>
        </p:nvSpPr>
        <p:spPr>
          <a:xfrm>
            <a:off x="2666390" y="3977640"/>
            <a:ext cx="1051560" cy="420624"/>
          </a:xfrm>
          <a:prstGeom prst="rect">
            <a:avLst/>
          </a:prstGeom>
          <a:noFill/>
          <a:ln/>
        </p:spPr>
        <p:txBody>
          <a:bodyPr wrap="square" lIns="0" tIns="0" rIns="0" bIns="0" rtlCol="0" anchor="ctr"/>
          <a:lstStyle/>
          <a:p>
            <a:pPr indent="0" marL="0">
              <a:buNone/>
            </a:pPr>
            <a:r>
              <a:rPr lang="en-US" sz="950" b="1" spc="80" kern="0" dirty="0">
                <a:solidFill>
                  <a:srgbClr val="FFFFFF"/>
                </a:solidFill>
                <a:latin typeface="Arial" pitchFamily="34" charset="0"/>
                <a:ea typeface="Arial" pitchFamily="34" charset="-122"/>
                <a:cs typeface="Arial" pitchFamily="34" charset="-120"/>
              </a:rPr>
              <a:t>ADOBE ARCHITECT</a:t>
            </a:r>
            <a:endParaRPr lang="en-US" sz="950" dirty="0"/>
          </a:p>
        </p:txBody>
      </p:sp>
      <p:sp>
        <p:nvSpPr>
          <p:cNvPr id="12" name="Shape 9"/>
          <p:cNvSpPr/>
          <p:nvPr/>
        </p:nvSpPr>
        <p:spPr>
          <a:xfrm>
            <a:off x="3973982" y="3977640"/>
            <a:ext cx="758952" cy="420624"/>
          </a:xfrm>
          <a:prstGeom prst="roundRect">
            <a:avLst>
              <a:gd name="adj" fmla="val 21739"/>
            </a:avLst>
          </a:prstGeom>
          <a:solidFill>
            <a:srgbClr val="0E3457"/>
          </a:solidFill>
          <a:ln w="12700">
            <a:solidFill>
              <a:srgbClr val="1D4B76"/>
            </a:solidFill>
            <a:prstDash val="solid"/>
          </a:ln>
        </p:spPr>
      </p:sp>
      <p:sp>
        <p:nvSpPr>
          <p:cNvPr id="13" name="Shape 10"/>
          <p:cNvSpPr/>
          <p:nvPr/>
        </p:nvSpPr>
        <p:spPr>
          <a:xfrm>
            <a:off x="4156862" y="4133088"/>
            <a:ext cx="118872" cy="118872"/>
          </a:xfrm>
          <a:prstGeom prst="ellipse">
            <a:avLst/>
          </a:prstGeom>
          <a:solidFill>
            <a:srgbClr val="00A792"/>
          </a:solidFill>
          <a:ln w="12700">
            <a:solidFill>
              <a:srgbClr val="00A792"/>
            </a:solidFill>
            <a:prstDash val="solid"/>
          </a:ln>
        </p:spPr>
      </p:sp>
      <p:sp>
        <p:nvSpPr>
          <p:cNvPr id="14" name="Text 11"/>
          <p:cNvSpPr/>
          <p:nvPr/>
        </p:nvSpPr>
        <p:spPr>
          <a:xfrm>
            <a:off x="4339742" y="3977640"/>
            <a:ext cx="301752" cy="420624"/>
          </a:xfrm>
          <a:prstGeom prst="rect">
            <a:avLst/>
          </a:prstGeom>
          <a:noFill/>
          <a:ln/>
        </p:spPr>
        <p:txBody>
          <a:bodyPr wrap="square" lIns="0" tIns="0" rIns="0" bIns="0" rtlCol="0" anchor="ctr"/>
          <a:lstStyle/>
          <a:p>
            <a:pPr indent="0" marL="0">
              <a:buNone/>
            </a:pPr>
            <a:r>
              <a:rPr lang="en-US" sz="950" b="1" spc="80" kern="0" dirty="0">
                <a:solidFill>
                  <a:srgbClr val="FFFFFF"/>
                </a:solidFill>
                <a:latin typeface="Arial" pitchFamily="34" charset="0"/>
                <a:ea typeface="Arial" pitchFamily="34" charset="-122"/>
                <a:cs typeface="Arial" pitchFamily="34" charset="-120"/>
              </a:rPr>
              <a:t>ANANT</a:t>
            </a:r>
            <a:endParaRPr lang="en-US" sz="950" dirty="0"/>
          </a:p>
        </p:txBody>
      </p:sp>
      <p:sp>
        <p:nvSpPr>
          <p:cNvPr id="15" name="Shape 12"/>
          <p:cNvSpPr/>
          <p:nvPr/>
        </p:nvSpPr>
        <p:spPr>
          <a:xfrm>
            <a:off x="777240" y="4617720"/>
            <a:ext cx="2743200" cy="457200"/>
          </a:xfrm>
          <a:prstGeom prst="roundRect">
            <a:avLst>
              <a:gd name="adj" fmla="val 20000"/>
            </a:avLst>
          </a:prstGeom>
          <a:solidFill>
            <a:srgbClr val="0E3457"/>
          </a:solidFill>
          <a:ln w="12700">
            <a:solidFill>
              <a:srgbClr val="1D4B76"/>
            </a:solidFill>
            <a:prstDash val="solid"/>
          </a:ln>
        </p:spPr>
      </p:sp>
      <p:sp>
        <p:nvSpPr>
          <p:cNvPr id="16" name="Text 13"/>
          <p:cNvSpPr/>
          <p:nvPr/>
        </p:nvSpPr>
        <p:spPr>
          <a:xfrm>
            <a:off x="777240" y="4617720"/>
            <a:ext cx="2743200" cy="457200"/>
          </a:xfrm>
          <a:prstGeom prst="rect">
            <a:avLst/>
          </a:prstGeom>
          <a:noFill/>
          <a:ln/>
        </p:spPr>
        <p:txBody>
          <a:bodyPr wrap="square" lIns="0" tIns="0" rIns="0" bIns="0" rtlCol="0" anchor="ctr"/>
          <a:lstStyle/>
          <a:p>
            <a:pPr algn="ctr" indent="0" marL="0">
              <a:buNone/>
            </a:pPr>
            <a:r>
              <a:rPr lang="en-US" sz="900" b="1" spc="120" kern="0" dirty="0">
                <a:solidFill>
                  <a:srgbClr val="F15B40"/>
                </a:solidFill>
                <a:latin typeface="Arial" pitchFamily="34" charset="0"/>
                <a:ea typeface="Arial" pitchFamily="34" charset="-122"/>
                <a:cs typeface="Arial" pitchFamily="34" charset="-120"/>
              </a:rPr>
              <a:t>30 MINUTES · 7 CHAPTERS</a:t>
            </a:r>
            <a:endParaRPr lang="en-US" sz="900" dirty="0"/>
          </a:p>
        </p:txBody>
      </p:sp>
      <p:sp>
        <p:nvSpPr>
          <p:cNvPr id="17" name="Shape 14"/>
          <p:cNvSpPr/>
          <p:nvPr/>
        </p:nvSpPr>
        <p:spPr>
          <a:xfrm>
            <a:off x="3703320" y="4617720"/>
            <a:ext cx="2606040" cy="457200"/>
          </a:xfrm>
          <a:prstGeom prst="roundRect">
            <a:avLst>
              <a:gd name="adj" fmla="val 20000"/>
            </a:avLst>
          </a:prstGeom>
          <a:solidFill>
            <a:srgbClr val="0E3457"/>
          </a:solidFill>
          <a:ln w="12700">
            <a:solidFill>
              <a:srgbClr val="1D4B76"/>
            </a:solidFill>
            <a:prstDash val="solid"/>
          </a:ln>
        </p:spPr>
      </p:sp>
      <p:sp>
        <p:nvSpPr>
          <p:cNvPr id="18" name="Text 15"/>
          <p:cNvSpPr/>
          <p:nvPr/>
        </p:nvSpPr>
        <p:spPr>
          <a:xfrm>
            <a:off x="3703320" y="4617720"/>
            <a:ext cx="2606040" cy="457200"/>
          </a:xfrm>
          <a:prstGeom prst="rect">
            <a:avLst/>
          </a:prstGeom>
          <a:noFill/>
          <a:ln/>
        </p:spPr>
        <p:txBody>
          <a:bodyPr wrap="square" lIns="0" tIns="0" rIns="0" bIns="0" rtlCol="0" anchor="ctr"/>
          <a:lstStyle/>
          <a:p>
            <a:pPr algn="ctr" indent="0" marL="0">
              <a:buNone/>
            </a:pPr>
            <a:r>
              <a:rPr lang="en-US" sz="900" b="1" spc="120" kern="0" dirty="0">
                <a:solidFill>
                  <a:srgbClr val="2E6FD6"/>
                </a:solidFill>
                <a:latin typeface="Arial" pitchFamily="34" charset="0"/>
                <a:ea typeface="Arial" pitchFamily="34" charset="-122"/>
                <a:cs typeface="Arial" pitchFamily="34" charset="-120"/>
              </a:rPr>
              <a:t>1,800 EXPERIENCE TEAM</a:t>
            </a:r>
            <a:endParaRPr lang="en-US" sz="900" dirty="0"/>
          </a:p>
        </p:txBody>
      </p:sp>
      <p:sp>
        <p:nvSpPr>
          <p:cNvPr id="19" name="Shape 16"/>
          <p:cNvSpPr/>
          <p:nvPr/>
        </p:nvSpPr>
        <p:spPr>
          <a:xfrm>
            <a:off x="6492240" y="4617720"/>
            <a:ext cx="3566160" cy="457200"/>
          </a:xfrm>
          <a:prstGeom prst="roundRect">
            <a:avLst>
              <a:gd name="adj" fmla="val 20000"/>
            </a:avLst>
          </a:prstGeom>
          <a:solidFill>
            <a:srgbClr val="0E3457"/>
          </a:solidFill>
          <a:ln w="12700">
            <a:solidFill>
              <a:srgbClr val="1D4B76"/>
            </a:solidFill>
            <a:prstDash val="solid"/>
          </a:ln>
        </p:spPr>
      </p:sp>
      <p:sp>
        <p:nvSpPr>
          <p:cNvPr id="20" name="Text 17"/>
          <p:cNvSpPr/>
          <p:nvPr/>
        </p:nvSpPr>
        <p:spPr>
          <a:xfrm>
            <a:off x="6492240" y="4617720"/>
            <a:ext cx="3566160" cy="457200"/>
          </a:xfrm>
          <a:prstGeom prst="rect">
            <a:avLst/>
          </a:prstGeom>
          <a:noFill/>
          <a:ln/>
        </p:spPr>
        <p:txBody>
          <a:bodyPr wrap="square" lIns="0" tIns="0" rIns="0" bIns="0" rtlCol="0" anchor="ctr"/>
          <a:lstStyle/>
          <a:p>
            <a:pPr algn="ctr" indent="0" marL="0">
              <a:buNone/>
            </a:pPr>
            <a:r>
              <a:rPr lang="en-US" sz="900" b="1" spc="120" kern="0" dirty="0">
                <a:solidFill>
                  <a:srgbClr val="00A792"/>
                </a:solidFill>
                <a:latin typeface="Arial" pitchFamily="34" charset="0"/>
                <a:ea typeface="Arial" pitchFamily="34" charset="-122"/>
                <a:cs typeface="Arial" pitchFamily="34" charset="-120"/>
              </a:rPr>
              <a:t>ADOBE RAPID DEPLOYMENT SOLUTION</a:t>
            </a:r>
            <a:endParaRPr lang="en-US" sz="900" dirty="0"/>
          </a:p>
        </p:txBody>
      </p:sp>
      <p:sp>
        <p:nvSpPr>
          <p:cNvPr id="21" name="Text 18"/>
          <p:cNvSpPr/>
          <p:nvPr/>
        </p:nvSpPr>
        <p:spPr>
          <a:xfrm>
            <a:off x="777240" y="5852160"/>
            <a:ext cx="731520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Joint session  ·  Sandeep Uppal  ×  Adobe Architect  ×  Anant</a:t>
            </a:r>
            <a:endParaRPr lang="en-US" sz="1100" dirty="0"/>
          </a:p>
        </p:txBody>
      </p:sp>
      <p:sp>
        <p:nvSpPr>
          <p:cNvPr id="22" name="Text 19"/>
          <p:cNvSpPr/>
          <p:nvPr/>
        </p:nvSpPr>
        <p:spPr>
          <a:xfrm>
            <a:off x="777240" y="6153912"/>
            <a:ext cx="5486400" cy="274320"/>
          </a:xfrm>
          <a:prstGeom prst="rect">
            <a:avLst/>
          </a:prstGeom>
          <a:noFill/>
          <a:ln/>
        </p:spPr>
        <p:txBody>
          <a:bodyPr wrap="square" lIns="0" tIns="0" rIns="0" bIns="0" rtlCol="0" anchor="ctr"/>
          <a:lstStyle/>
          <a:p>
            <a:pPr indent="0" marL="0">
              <a:buNone/>
            </a:pPr>
            <a:r>
              <a:rPr lang="en-US" sz="1000" dirty="0">
                <a:solidFill>
                  <a:srgbClr val="8FA6C4"/>
                </a:solidFill>
                <a:latin typeface="Arial" pitchFamily="34" charset="0"/>
                <a:ea typeface="Arial" pitchFamily="34" charset="-122"/>
                <a:cs typeface="Arial" pitchFamily="34" charset="-120"/>
              </a:rPr>
              <a:t>contact@coforge.com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8229600" cy="237744"/>
          </a:xfrm>
          <a:prstGeom prst="rect">
            <a:avLst/>
          </a:prstGeom>
          <a:noFill/>
          <a:ln/>
        </p:spPr>
        <p:txBody>
          <a:bodyPr wrap="square" lIns="0" tIns="0" rIns="0" bIns="0" rtlCol="0" anchor="ctr"/>
          <a:lstStyle/>
          <a:p>
            <a:pPr indent="0" marL="0">
              <a:buNone/>
            </a:pPr>
            <a:r>
              <a:rPr lang="en-US" sz="1050" b="1" spc="220" kern="0" dirty="0">
                <a:solidFill>
                  <a:srgbClr val="F15B40"/>
                </a:solidFill>
                <a:latin typeface="Arial" pitchFamily="34" charset="0"/>
                <a:ea typeface="Arial" pitchFamily="34" charset="-122"/>
                <a:cs typeface="Arial" pitchFamily="34" charset="-120"/>
              </a:rPr>
              <a:t>AGENDA 01   ·   WHY IT MATTERS</a:t>
            </a:r>
            <a:endParaRPr lang="en-US" sz="1050" dirty="0"/>
          </a:p>
        </p:txBody>
      </p:sp>
      <p:sp>
        <p:nvSpPr>
          <p:cNvPr id="3" name="Text 1"/>
          <p:cNvSpPr/>
          <p:nvPr/>
        </p:nvSpPr>
        <p:spPr>
          <a:xfrm>
            <a:off x="640080" y="914400"/>
            <a:ext cx="8412480" cy="713232"/>
          </a:xfrm>
          <a:prstGeom prst="rect">
            <a:avLst/>
          </a:prstGeom>
          <a:noFill/>
          <a:ln/>
        </p:spPr>
        <p:txBody>
          <a:bodyPr wrap="square" lIns="0" tIns="0" rIns="0" bIns="0" rtlCol="0" anchor="ctr"/>
          <a:lstStyle/>
          <a:p>
            <a:pPr indent="0" marL="0">
              <a:buNone/>
            </a:pPr>
            <a:r>
              <a:rPr lang="en-US" sz="3000" b="1" dirty="0">
                <a:solidFill>
                  <a:srgbClr val="0B1D31"/>
                </a:solidFill>
                <a:latin typeface="Arial" pitchFamily="34" charset="0"/>
                <a:ea typeface="Arial" pitchFamily="34" charset="-122"/>
                <a:cs typeface="Arial" pitchFamily="34" charset="-120"/>
              </a:rPr>
              <a:t>Why Voyager.AI matters</a:t>
            </a:r>
            <a:endParaRPr lang="en-US" sz="3000" dirty="0"/>
          </a:p>
        </p:txBody>
      </p:sp>
      <p:sp>
        <p:nvSpPr>
          <p:cNvPr id="4" name="Shape 2"/>
          <p:cNvSpPr/>
          <p:nvPr/>
        </p:nvSpPr>
        <p:spPr>
          <a:xfrm>
            <a:off x="9247327" y="548640"/>
            <a:ext cx="2304288" cy="365760"/>
          </a:xfrm>
          <a:prstGeom prst="roundRect">
            <a:avLst>
              <a:gd name="adj" fmla="val 47500"/>
            </a:avLst>
          </a:prstGeom>
          <a:solidFill>
            <a:srgbClr val="F3F6FB"/>
          </a:solidFill>
          <a:ln w="12700">
            <a:solidFill>
              <a:srgbClr val="DBE3EF"/>
            </a:solidFill>
            <a:prstDash val="solid"/>
          </a:ln>
        </p:spPr>
      </p:sp>
      <p:sp>
        <p:nvSpPr>
          <p:cNvPr id="5" name="Shape 3"/>
          <p:cNvSpPr/>
          <p:nvPr/>
        </p:nvSpPr>
        <p:spPr>
          <a:xfrm>
            <a:off x="9448495" y="676656"/>
            <a:ext cx="109728" cy="109728"/>
          </a:xfrm>
          <a:prstGeom prst="ellipse">
            <a:avLst/>
          </a:prstGeom>
          <a:solidFill>
            <a:srgbClr val="F15B40"/>
          </a:solidFill>
          <a:ln w="12700">
            <a:solidFill>
              <a:srgbClr val="F15B40"/>
            </a:solidFill>
            <a:prstDash val="solid"/>
          </a:ln>
        </p:spPr>
      </p:sp>
      <p:sp>
        <p:nvSpPr>
          <p:cNvPr id="6" name="Text 4"/>
          <p:cNvSpPr/>
          <p:nvPr/>
        </p:nvSpPr>
        <p:spPr>
          <a:xfrm>
            <a:off x="9603943" y="548640"/>
            <a:ext cx="1801368" cy="365760"/>
          </a:xfrm>
          <a:prstGeom prst="rect">
            <a:avLst/>
          </a:prstGeom>
          <a:noFill/>
          <a:ln/>
        </p:spPr>
        <p:txBody>
          <a:bodyPr wrap="square" lIns="0" tIns="0" rIns="0" bIns="0" rtlCol="0" anchor="ctr"/>
          <a:lstStyle/>
          <a:p>
            <a:pPr indent="0" marL="0">
              <a:buNone/>
            </a:pPr>
            <a:r>
              <a:rPr lang="en-US" sz="900" b="1" spc="80" kern="0" dirty="0">
                <a:solidFill>
                  <a:srgbClr val="0B1D31"/>
                </a:solidFill>
                <a:latin typeface="Arial" pitchFamily="34" charset="0"/>
                <a:ea typeface="Arial" pitchFamily="34" charset="-122"/>
                <a:cs typeface="Arial" pitchFamily="34" charset="-120"/>
              </a:rPr>
              <a:t>SANDEEP UPPAL   ·   3 MIN</a:t>
            </a:r>
            <a:endParaRPr lang="en-US" sz="900" dirty="0"/>
          </a:p>
        </p:txBody>
      </p:sp>
      <p:sp>
        <p:nvSpPr>
          <p:cNvPr id="7" name="Shape 5"/>
          <p:cNvSpPr/>
          <p:nvPr/>
        </p:nvSpPr>
        <p:spPr>
          <a:xfrm>
            <a:off x="640080" y="1828800"/>
            <a:ext cx="5257800" cy="3840480"/>
          </a:xfrm>
          <a:prstGeom prst="roundRect">
            <a:avLst>
              <a:gd name="adj" fmla="val 1905"/>
            </a:avLst>
          </a:prstGeom>
          <a:solidFill>
            <a:srgbClr val="082340"/>
          </a:solidFill>
          <a:ln w="12700">
            <a:solidFill>
              <a:srgbClr val="082340"/>
            </a:solidFill>
            <a:prstDash val="solid"/>
          </a:ln>
        </p:spPr>
      </p:sp>
      <p:sp>
        <p:nvSpPr>
          <p:cNvPr id="8" name="Text 6"/>
          <p:cNvSpPr/>
          <p:nvPr/>
        </p:nvSpPr>
        <p:spPr>
          <a:xfrm>
            <a:off x="1005840" y="2121408"/>
            <a:ext cx="4572000" cy="237744"/>
          </a:xfrm>
          <a:prstGeom prst="rect">
            <a:avLst/>
          </a:prstGeom>
          <a:noFill/>
          <a:ln/>
        </p:spPr>
        <p:txBody>
          <a:bodyPr wrap="square" lIns="0" tIns="0" rIns="0" bIns="0" rtlCol="0" anchor="ctr"/>
          <a:lstStyle/>
          <a:p>
            <a:pPr indent="0" marL="0">
              <a:buNone/>
            </a:pPr>
            <a:r>
              <a:rPr lang="en-US" sz="1050" b="1" spc="220" kern="0" dirty="0">
                <a:solidFill>
                  <a:srgbClr val="F15B40"/>
                </a:solidFill>
                <a:latin typeface="Arial" pitchFamily="34" charset="0"/>
                <a:ea typeface="Arial" pitchFamily="34" charset="-122"/>
                <a:cs typeface="Arial" pitchFamily="34" charset="-120"/>
              </a:rPr>
              <a:t>THE MARKET NEED</a:t>
            </a:r>
            <a:endParaRPr lang="en-US" sz="1050" dirty="0"/>
          </a:p>
        </p:txBody>
      </p:sp>
      <p:sp>
        <p:nvSpPr>
          <p:cNvPr id="9" name="Text 7"/>
          <p:cNvSpPr/>
          <p:nvPr/>
        </p:nvSpPr>
        <p:spPr>
          <a:xfrm>
            <a:off x="1005840" y="2395728"/>
            <a:ext cx="4572000" cy="914400"/>
          </a:xfrm>
          <a:prstGeom prst="rect">
            <a:avLst/>
          </a:prstGeom>
          <a:noFill/>
          <a:ln/>
        </p:spPr>
        <p:txBody>
          <a:bodyPr wrap="square" lIns="0" tIns="0" rIns="0" bIns="0" rtlCol="0" anchor="t"/>
          <a:lstStyle/>
          <a:p>
            <a:pPr indent="0" marL="0">
              <a:lnSpc>
                <a:spcPct val="112000"/>
              </a:lnSpc>
              <a:buNone/>
            </a:pPr>
            <a:r>
              <a:rPr lang="en-US" sz="1900" dirty="0">
                <a:solidFill>
                  <a:srgbClr val="FFFFFF"/>
                </a:solidFill>
                <a:latin typeface="Cambria" pitchFamily="34" charset="0"/>
                <a:ea typeface="Cambria" pitchFamily="34" charset="-122"/>
                <a:cs typeface="Cambria" pitchFamily="34" charset="-120"/>
              </a:rPr>
              <a:t>Airlines know everything about you — and can act on almost none of it.</a:t>
            </a:r>
            <a:endParaRPr lang="en-US" sz="1900" dirty="0"/>
          </a:p>
        </p:txBody>
      </p:sp>
      <p:pic>
        <p:nvPicPr>
          <p:cNvPr id="10" name="Image 0" descr="/home/claude/work/icons/ban_coral.png">    </p:cNvPr>
          <p:cNvPicPr>
            <a:picLocks noChangeAspect="1"/>
          </p:cNvPicPr>
          <p:nvPr/>
        </p:nvPicPr>
        <p:blipFill>
          <a:blip r:embed="rId1"/>
          <a:stretch>
            <a:fillRect/>
          </a:stretch>
        </p:blipFill>
        <p:spPr>
          <a:xfrm>
            <a:off x="1024128" y="3429000"/>
            <a:ext cx="274320" cy="274320"/>
          </a:xfrm>
          <a:prstGeom prst="rect">
            <a:avLst/>
          </a:prstGeom>
        </p:spPr>
      </p:pic>
      <p:sp>
        <p:nvSpPr>
          <p:cNvPr id="11" name="Text 8"/>
          <p:cNvSpPr/>
          <p:nvPr/>
        </p:nvSpPr>
        <p:spPr>
          <a:xfrm>
            <a:off x="1481328" y="3401568"/>
            <a:ext cx="4114800" cy="658368"/>
          </a:xfrm>
          <a:prstGeom prst="rect">
            <a:avLst/>
          </a:prstGeom>
          <a:noFill/>
          <a:ln/>
        </p:spPr>
        <p:txBody>
          <a:bodyPr wrap="square" lIns="0" tIns="0" rIns="0" bIns="0" rtlCol="0" anchor="ctr"/>
          <a:lstStyle/>
          <a:p>
            <a:pPr indent="0" marL="0">
              <a:lnSpc>
                <a:spcPct val="115000"/>
              </a:lnSpc>
              <a:buNone/>
            </a:pPr>
            <a:r>
              <a:rPr lang="en-US" sz="1150" dirty="0">
                <a:solidFill>
                  <a:srgbClr val="C7D5EA"/>
                </a:solidFill>
                <a:latin typeface="Arial" pitchFamily="34" charset="0"/>
                <a:ea typeface="Arial" pitchFamily="34" charset="-122"/>
                <a:cs typeface="Arial" pitchFamily="34" charset="-120"/>
              </a:rPr>
              <a:t>A Platinum flyer's cancellation alert is identical to the promo-fare seat behind her</a:t>
            </a:r>
            <a:endParaRPr lang="en-US" sz="1150" dirty="0"/>
          </a:p>
        </p:txBody>
      </p:sp>
      <p:pic>
        <p:nvPicPr>
          <p:cNvPr id="12" name="Image 1" descr="/home/claude/work/icons/clock_coral.png">    </p:cNvPr>
          <p:cNvPicPr>
            <a:picLocks noChangeAspect="1"/>
          </p:cNvPicPr>
          <p:nvPr/>
        </p:nvPicPr>
        <p:blipFill>
          <a:blip r:embed="rId2"/>
          <a:stretch>
            <a:fillRect/>
          </a:stretch>
        </p:blipFill>
        <p:spPr>
          <a:xfrm>
            <a:off x="1024128" y="4160520"/>
            <a:ext cx="274320" cy="274320"/>
          </a:xfrm>
          <a:prstGeom prst="rect">
            <a:avLst/>
          </a:prstGeom>
        </p:spPr>
      </p:pic>
      <p:sp>
        <p:nvSpPr>
          <p:cNvPr id="13" name="Text 9"/>
          <p:cNvSpPr/>
          <p:nvPr/>
        </p:nvSpPr>
        <p:spPr>
          <a:xfrm>
            <a:off x="1481328" y="4133088"/>
            <a:ext cx="4114800" cy="658368"/>
          </a:xfrm>
          <a:prstGeom prst="rect">
            <a:avLst/>
          </a:prstGeom>
          <a:noFill/>
          <a:ln/>
        </p:spPr>
        <p:txBody>
          <a:bodyPr wrap="square" lIns="0" tIns="0" rIns="0" bIns="0" rtlCol="0" anchor="ctr"/>
          <a:lstStyle/>
          <a:p>
            <a:pPr indent="0" marL="0">
              <a:lnSpc>
                <a:spcPct val="115000"/>
              </a:lnSpc>
              <a:buNone/>
            </a:pPr>
            <a:r>
              <a:rPr lang="en-US" sz="1150" dirty="0">
                <a:solidFill>
                  <a:srgbClr val="C7D5EA"/>
                </a:solidFill>
                <a:latin typeface="Arial" pitchFamily="34" charset="0"/>
                <a:ea typeface="Arial" pitchFamily="34" charset="-122"/>
                <a:cs typeface="Arial" pitchFamily="34" charset="-120"/>
              </a:rPr>
              <a:t>Rich data sits in four systems that were never built to talk in real time</a:t>
            </a:r>
            <a:endParaRPr lang="en-US" sz="1150" dirty="0"/>
          </a:p>
        </p:txBody>
      </p:sp>
      <p:pic>
        <p:nvPicPr>
          <p:cNvPr id="14" name="Image 2" descr="/home/claude/work/icons/users_coral.png">    </p:cNvPr>
          <p:cNvPicPr>
            <a:picLocks noChangeAspect="1"/>
          </p:cNvPicPr>
          <p:nvPr/>
        </p:nvPicPr>
        <p:blipFill>
          <a:blip r:embed="rId3"/>
          <a:stretch>
            <a:fillRect/>
          </a:stretch>
        </p:blipFill>
        <p:spPr>
          <a:xfrm>
            <a:off x="1024128" y="4892040"/>
            <a:ext cx="274320" cy="274320"/>
          </a:xfrm>
          <a:prstGeom prst="rect">
            <a:avLst/>
          </a:prstGeom>
        </p:spPr>
      </p:pic>
      <p:sp>
        <p:nvSpPr>
          <p:cNvPr id="15" name="Text 10"/>
          <p:cNvSpPr/>
          <p:nvPr/>
        </p:nvSpPr>
        <p:spPr>
          <a:xfrm>
            <a:off x="1481328" y="4864608"/>
            <a:ext cx="4114800" cy="658368"/>
          </a:xfrm>
          <a:prstGeom prst="rect">
            <a:avLst/>
          </a:prstGeom>
          <a:noFill/>
          <a:ln/>
        </p:spPr>
        <p:txBody>
          <a:bodyPr wrap="square" lIns="0" tIns="0" rIns="0" bIns="0" rtlCol="0" anchor="ctr"/>
          <a:lstStyle/>
          <a:p>
            <a:pPr indent="0" marL="0">
              <a:lnSpc>
                <a:spcPct val="115000"/>
              </a:lnSpc>
              <a:buNone/>
            </a:pPr>
            <a:r>
              <a:rPr lang="en-US" sz="1150" dirty="0">
                <a:solidFill>
                  <a:srgbClr val="C7D5EA"/>
                </a:solidFill>
                <a:latin typeface="Arial" pitchFamily="34" charset="0"/>
                <a:ea typeface="Arial" pitchFamily="34" charset="-122"/>
                <a:cs typeface="Arial" pitchFamily="34" charset="-120"/>
              </a:rPr>
              <a:t>Segments of millions, sent hours late — personalisation in name only</a:t>
            </a:r>
            <a:endParaRPr lang="en-US" sz="1150" dirty="0"/>
          </a:p>
        </p:txBody>
      </p:sp>
      <p:sp>
        <p:nvSpPr>
          <p:cNvPr id="16" name="Text 11"/>
          <p:cNvSpPr/>
          <p:nvPr/>
        </p:nvSpPr>
        <p:spPr>
          <a:xfrm>
            <a:off x="6263640" y="2121408"/>
            <a:ext cx="5486400" cy="237744"/>
          </a:xfrm>
          <a:prstGeom prst="rect">
            <a:avLst/>
          </a:prstGeom>
          <a:noFill/>
          <a:ln/>
        </p:spPr>
        <p:txBody>
          <a:bodyPr wrap="square" lIns="0" tIns="0" rIns="0" bIns="0" rtlCol="0" anchor="ctr"/>
          <a:lstStyle/>
          <a:p>
            <a:pPr indent="0" marL="0">
              <a:buNone/>
            </a:pPr>
            <a:r>
              <a:rPr lang="en-US" sz="1050" b="1" spc="220" kern="0" dirty="0">
                <a:solidFill>
                  <a:srgbClr val="F15B40"/>
                </a:solidFill>
                <a:latin typeface="Arial" pitchFamily="34" charset="0"/>
                <a:ea typeface="Arial" pitchFamily="34" charset="-122"/>
                <a:cs typeface="Arial" pitchFamily="34" charset="-120"/>
              </a:rPr>
              <a:t>WHY IT MATTERS FOR COFORGE</a:t>
            </a:r>
            <a:endParaRPr lang="en-US" sz="1050" dirty="0"/>
          </a:p>
        </p:txBody>
      </p:sp>
      <p:sp>
        <p:nvSpPr>
          <p:cNvPr id="17" name="Shape 12"/>
          <p:cNvSpPr/>
          <p:nvPr/>
        </p:nvSpPr>
        <p:spPr>
          <a:xfrm>
            <a:off x="6263640" y="2450592"/>
            <a:ext cx="5287975" cy="950976"/>
          </a:xfrm>
          <a:prstGeom prst="roundRect">
            <a:avLst>
              <a:gd name="adj" fmla="val 7692"/>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18" name="Shape 13"/>
          <p:cNvSpPr/>
          <p:nvPr/>
        </p:nvSpPr>
        <p:spPr>
          <a:xfrm>
            <a:off x="6519672" y="2670048"/>
            <a:ext cx="512064" cy="512064"/>
          </a:xfrm>
          <a:prstGeom prst="ellipse">
            <a:avLst/>
          </a:prstGeom>
          <a:solidFill>
            <a:srgbClr val="FDEAE5"/>
          </a:solidFill>
          <a:ln w="12700">
            <a:solidFill>
              <a:srgbClr val="FDEAE5"/>
            </a:solidFill>
            <a:prstDash val="solid"/>
          </a:ln>
        </p:spPr>
      </p:sp>
      <p:pic>
        <p:nvPicPr>
          <p:cNvPr id="19" name="Image 3" descr="/home/claude/work/icons/compass_coral.png">    </p:cNvPr>
          <p:cNvPicPr>
            <a:picLocks noChangeAspect="1"/>
          </p:cNvPicPr>
          <p:nvPr/>
        </p:nvPicPr>
        <p:blipFill>
          <a:blip r:embed="rId4"/>
          <a:stretch>
            <a:fillRect/>
          </a:stretch>
        </p:blipFill>
        <p:spPr>
          <a:xfrm>
            <a:off x="6647688" y="2798064"/>
            <a:ext cx="256032" cy="256032"/>
          </a:xfrm>
          <a:prstGeom prst="rect">
            <a:avLst/>
          </a:prstGeom>
        </p:spPr>
      </p:pic>
      <p:sp>
        <p:nvSpPr>
          <p:cNvPr id="20" name="Text 14"/>
          <p:cNvSpPr/>
          <p:nvPr/>
        </p:nvSpPr>
        <p:spPr>
          <a:xfrm>
            <a:off x="7159752" y="2596896"/>
            <a:ext cx="4144975" cy="310896"/>
          </a:xfrm>
          <a:prstGeom prst="rect">
            <a:avLst/>
          </a:prstGeom>
          <a:noFill/>
          <a:ln/>
        </p:spPr>
        <p:txBody>
          <a:bodyPr wrap="square" lIns="0" tIns="0" rIns="0" bIns="0" rtlCol="0" anchor="ctr"/>
          <a:lstStyle/>
          <a:p>
            <a:pPr indent="0" marL="0">
              <a:buNone/>
            </a:pPr>
            <a:r>
              <a:rPr lang="en-US" sz="1400" b="1" dirty="0">
                <a:solidFill>
                  <a:srgbClr val="0B1D31"/>
                </a:solidFill>
                <a:latin typeface="Arial" pitchFamily="34" charset="0"/>
                <a:ea typeface="Arial" pitchFamily="34" charset="-122"/>
                <a:cs typeface="Arial" pitchFamily="34" charset="-120"/>
              </a:rPr>
              <a:t>Strategic relevance</a:t>
            </a:r>
            <a:endParaRPr lang="en-US" sz="1400" dirty="0"/>
          </a:p>
        </p:txBody>
      </p:sp>
      <p:sp>
        <p:nvSpPr>
          <p:cNvPr id="21" name="Text 15"/>
          <p:cNvSpPr/>
          <p:nvPr/>
        </p:nvSpPr>
        <p:spPr>
          <a:xfrm>
            <a:off x="7159752" y="2907792"/>
            <a:ext cx="4144975" cy="438912"/>
          </a:xfrm>
          <a:prstGeom prst="rect">
            <a:avLst/>
          </a:prstGeom>
          <a:noFill/>
          <a:ln/>
        </p:spPr>
        <p:txBody>
          <a:bodyPr wrap="square" lIns="0" tIns="0" rIns="0" bIns="0" rtlCol="0" anchor="t"/>
          <a:lstStyle/>
          <a:p>
            <a:pPr indent="0" marL="0">
              <a:lnSpc>
                <a:spcPct val="116000"/>
              </a:lnSpc>
              <a:buNone/>
            </a:pPr>
            <a:r>
              <a:rPr lang="en-US" sz="1050" dirty="0">
                <a:solidFill>
                  <a:srgbClr val="5F7085"/>
                </a:solidFill>
                <a:latin typeface="Arial" pitchFamily="34" charset="0"/>
                <a:ea typeface="Arial" pitchFamily="34" charset="-122"/>
                <a:cs typeface="Arial" pitchFamily="34" charset="-120"/>
              </a:rPr>
              <a:t>Customer intelligence and real-time personalisation is exactly where Adobe's platform and our domain depth overlap.</a:t>
            </a:r>
            <a:endParaRPr lang="en-US" sz="1050" dirty="0"/>
          </a:p>
        </p:txBody>
      </p:sp>
      <p:sp>
        <p:nvSpPr>
          <p:cNvPr id="22" name="Shape 16"/>
          <p:cNvSpPr/>
          <p:nvPr/>
        </p:nvSpPr>
        <p:spPr>
          <a:xfrm>
            <a:off x="6263640" y="3511296"/>
            <a:ext cx="5287975" cy="950976"/>
          </a:xfrm>
          <a:prstGeom prst="roundRect">
            <a:avLst>
              <a:gd name="adj" fmla="val 7692"/>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23" name="Shape 17"/>
          <p:cNvSpPr/>
          <p:nvPr/>
        </p:nvSpPr>
        <p:spPr>
          <a:xfrm>
            <a:off x="6519672" y="3730752"/>
            <a:ext cx="512064" cy="512064"/>
          </a:xfrm>
          <a:prstGeom prst="ellipse">
            <a:avLst/>
          </a:prstGeom>
          <a:solidFill>
            <a:srgbClr val="FDEAE5"/>
          </a:solidFill>
          <a:ln w="12700">
            <a:solidFill>
              <a:srgbClr val="FDEAE5"/>
            </a:solidFill>
            <a:prstDash val="solid"/>
          </a:ln>
        </p:spPr>
      </p:sp>
      <p:pic>
        <p:nvPicPr>
          <p:cNvPr id="24" name="Image 4" descr="/home/claude/work/icons/gem_coral.png">    </p:cNvPr>
          <p:cNvPicPr>
            <a:picLocks noChangeAspect="1"/>
          </p:cNvPicPr>
          <p:nvPr/>
        </p:nvPicPr>
        <p:blipFill>
          <a:blip r:embed="rId5"/>
          <a:stretch>
            <a:fillRect/>
          </a:stretch>
        </p:blipFill>
        <p:spPr>
          <a:xfrm>
            <a:off x="6647688" y="3858768"/>
            <a:ext cx="256032" cy="256032"/>
          </a:xfrm>
          <a:prstGeom prst="rect">
            <a:avLst/>
          </a:prstGeom>
        </p:spPr>
      </p:pic>
      <p:sp>
        <p:nvSpPr>
          <p:cNvPr id="25" name="Text 18"/>
          <p:cNvSpPr/>
          <p:nvPr/>
        </p:nvSpPr>
        <p:spPr>
          <a:xfrm>
            <a:off x="7159752" y="3657600"/>
            <a:ext cx="4144975" cy="310896"/>
          </a:xfrm>
          <a:prstGeom prst="rect">
            <a:avLst/>
          </a:prstGeom>
          <a:noFill/>
          <a:ln/>
        </p:spPr>
        <p:txBody>
          <a:bodyPr wrap="square" lIns="0" tIns="0" rIns="0" bIns="0" rtlCol="0" anchor="ctr"/>
          <a:lstStyle/>
          <a:p>
            <a:pPr indent="0" marL="0">
              <a:buNone/>
            </a:pPr>
            <a:r>
              <a:rPr lang="en-US" sz="1400" b="1" dirty="0">
                <a:solidFill>
                  <a:srgbClr val="0B1D31"/>
                </a:solidFill>
                <a:latin typeface="Arial" pitchFamily="34" charset="0"/>
                <a:ea typeface="Arial" pitchFamily="34" charset="-122"/>
                <a:cs typeface="Arial" pitchFamily="34" charset="-120"/>
              </a:rPr>
              <a:t>A repeatable asset</a:t>
            </a:r>
            <a:endParaRPr lang="en-US" sz="1400" dirty="0"/>
          </a:p>
        </p:txBody>
      </p:sp>
      <p:sp>
        <p:nvSpPr>
          <p:cNvPr id="26" name="Text 19"/>
          <p:cNvSpPr/>
          <p:nvPr/>
        </p:nvSpPr>
        <p:spPr>
          <a:xfrm>
            <a:off x="7159752" y="3968496"/>
            <a:ext cx="4144975" cy="438912"/>
          </a:xfrm>
          <a:prstGeom prst="rect">
            <a:avLst/>
          </a:prstGeom>
          <a:noFill/>
          <a:ln/>
        </p:spPr>
        <p:txBody>
          <a:bodyPr wrap="square" lIns="0" tIns="0" rIns="0" bIns="0" rtlCol="0" anchor="t"/>
          <a:lstStyle/>
          <a:p>
            <a:pPr indent="0" marL="0">
              <a:lnSpc>
                <a:spcPct val="116000"/>
              </a:lnSpc>
              <a:buNone/>
            </a:pPr>
            <a:r>
              <a:rPr lang="en-US" sz="1050" dirty="0">
                <a:solidFill>
                  <a:srgbClr val="5F7085"/>
                </a:solidFill>
                <a:latin typeface="Arial" pitchFamily="34" charset="0"/>
                <a:ea typeface="Arial" pitchFamily="34" charset="-122"/>
                <a:cs typeface="Arial" pitchFamily="34" charset="-120"/>
              </a:rPr>
              <a:t>This is not one more project. It is an accelerator we can sell again and again across the airline sector.</a:t>
            </a:r>
            <a:endParaRPr lang="en-US" sz="1050" dirty="0"/>
          </a:p>
        </p:txBody>
      </p:sp>
      <p:sp>
        <p:nvSpPr>
          <p:cNvPr id="27" name="Shape 20"/>
          <p:cNvSpPr/>
          <p:nvPr/>
        </p:nvSpPr>
        <p:spPr>
          <a:xfrm>
            <a:off x="6263640" y="4572000"/>
            <a:ext cx="5287975" cy="950976"/>
          </a:xfrm>
          <a:prstGeom prst="roundRect">
            <a:avLst>
              <a:gd name="adj" fmla="val 7692"/>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28" name="Shape 21"/>
          <p:cNvSpPr/>
          <p:nvPr/>
        </p:nvSpPr>
        <p:spPr>
          <a:xfrm>
            <a:off x="6519672" y="4791456"/>
            <a:ext cx="512064" cy="512064"/>
          </a:xfrm>
          <a:prstGeom prst="ellipse">
            <a:avLst/>
          </a:prstGeom>
          <a:solidFill>
            <a:srgbClr val="FDEAE5"/>
          </a:solidFill>
          <a:ln w="12700">
            <a:solidFill>
              <a:srgbClr val="FDEAE5"/>
            </a:solidFill>
            <a:prstDash val="solid"/>
          </a:ln>
        </p:spPr>
      </p:sp>
      <p:pic>
        <p:nvPicPr>
          <p:cNvPr id="29" name="Image 5" descr="/home/claude/work/icons/route_coral.png">    </p:cNvPr>
          <p:cNvPicPr>
            <a:picLocks noChangeAspect="1"/>
          </p:cNvPicPr>
          <p:nvPr/>
        </p:nvPicPr>
        <p:blipFill>
          <a:blip r:embed="rId6"/>
          <a:stretch>
            <a:fillRect/>
          </a:stretch>
        </p:blipFill>
        <p:spPr>
          <a:xfrm>
            <a:off x="6647688" y="4919472"/>
            <a:ext cx="256032" cy="256032"/>
          </a:xfrm>
          <a:prstGeom prst="rect">
            <a:avLst/>
          </a:prstGeom>
        </p:spPr>
      </p:pic>
      <p:sp>
        <p:nvSpPr>
          <p:cNvPr id="30" name="Text 22"/>
          <p:cNvSpPr/>
          <p:nvPr/>
        </p:nvSpPr>
        <p:spPr>
          <a:xfrm>
            <a:off x="7159752" y="4718304"/>
            <a:ext cx="4144975" cy="310896"/>
          </a:xfrm>
          <a:prstGeom prst="rect">
            <a:avLst/>
          </a:prstGeom>
          <a:noFill/>
          <a:ln/>
        </p:spPr>
        <p:txBody>
          <a:bodyPr wrap="square" lIns="0" tIns="0" rIns="0" bIns="0" rtlCol="0" anchor="ctr"/>
          <a:lstStyle/>
          <a:p>
            <a:pPr indent="0" marL="0">
              <a:buNone/>
            </a:pPr>
            <a:r>
              <a:rPr lang="en-US" sz="1400" b="1" dirty="0">
                <a:solidFill>
                  <a:srgbClr val="0B1D31"/>
                </a:solidFill>
                <a:latin typeface="Arial" pitchFamily="34" charset="0"/>
                <a:ea typeface="Arial" pitchFamily="34" charset="-122"/>
                <a:cs typeface="Arial" pitchFamily="34" charset="-120"/>
              </a:rPr>
              <a:t>The opportunity</a:t>
            </a:r>
            <a:endParaRPr lang="en-US" sz="1400" dirty="0"/>
          </a:p>
        </p:txBody>
      </p:sp>
      <p:sp>
        <p:nvSpPr>
          <p:cNvPr id="31" name="Text 23"/>
          <p:cNvSpPr/>
          <p:nvPr/>
        </p:nvSpPr>
        <p:spPr>
          <a:xfrm>
            <a:off x="7159752" y="5029200"/>
            <a:ext cx="4144975" cy="438912"/>
          </a:xfrm>
          <a:prstGeom prst="rect">
            <a:avLst/>
          </a:prstGeom>
          <a:noFill/>
          <a:ln/>
        </p:spPr>
        <p:txBody>
          <a:bodyPr wrap="square" lIns="0" tIns="0" rIns="0" bIns="0" rtlCol="0" anchor="t"/>
          <a:lstStyle/>
          <a:p>
            <a:pPr indent="0" marL="0">
              <a:lnSpc>
                <a:spcPct val="116000"/>
              </a:lnSpc>
              <a:buNone/>
            </a:pPr>
            <a:r>
              <a:rPr lang="en-US" sz="1050" dirty="0">
                <a:solidFill>
                  <a:srgbClr val="5F7085"/>
                </a:solidFill>
                <a:latin typeface="Arial" pitchFamily="34" charset="0"/>
                <a:ea typeface="Arial" pitchFamily="34" charset="-122"/>
                <a:cs typeface="Arial" pitchFamily="34" charset="-120"/>
              </a:rPr>
              <a:t>A credible entry into a high-value CX conversation with every airline already running Adobe.</a:t>
            </a:r>
            <a:endParaRPr lang="en-US" sz="1050" dirty="0"/>
          </a:p>
        </p:txBody>
      </p:sp>
      <p:sp>
        <p:nvSpPr>
          <p:cNvPr id="32" name="Text 24"/>
          <p:cNvSpPr/>
          <p:nvPr/>
        </p:nvSpPr>
        <p:spPr>
          <a:xfrm>
            <a:off x="640080" y="6428232"/>
            <a:ext cx="5486400" cy="228600"/>
          </a:xfrm>
          <a:prstGeom prst="rect">
            <a:avLst/>
          </a:prstGeom>
          <a:noFill/>
          <a:ln/>
        </p:spPr>
        <p:txBody>
          <a:bodyPr wrap="square" lIns="0" tIns="0" rIns="0" bIns="0" rtlCol="0" anchor="ctr"/>
          <a:lstStyle/>
          <a:p>
            <a:pPr indent="0" marL="0">
              <a:buNone/>
            </a:pPr>
            <a:r>
              <a:rPr lang="en-US" sz="800" spc="140" kern="0" dirty="0">
                <a:solidFill>
                  <a:srgbClr val="5F7085"/>
                </a:solidFill>
                <a:latin typeface="Arial" pitchFamily="34" charset="0"/>
                <a:ea typeface="Arial" pitchFamily="34" charset="-122"/>
                <a:cs typeface="Arial" pitchFamily="34" charset="-120"/>
              </a:rPr>
              <a:t>VOYAGER.AI ALL-HANDS   ·   COFORGE  ×  ADOBE</a:t>
            </a:r>
            <a:endParaRPr lang="en-US" sz="800" dirty="0"/>
          </a:p>
        </p:txBody>
      </p:sp>
      <p:sp>
        <p:nvSpPr>
          <p:cNvPr id="33" name="Text 25"/>
          <p:cNvSpPr/>
          <p:nvPr/>
        </p:nvSpPr>
        <p:spPr>
          <a:xfrm>
            <a:off x="10637215" y="6428232"/>
            <a:ext cx="914400" cy="228600"/>
          </a:xfrm>
          <a:prstGeom prst="rect">
            <a:avLst/>
          </a:prstGeom>
          <a:noFill/>
          <a:ln/>
        </p:spPr>
        <p:txBody>
          <a:bodyPr wrap="square" lIns="0" tIns="0" rIns="0" bIns="0" rtlCol="0" anchor="ctr"/>
          <a:lstStyle/>
          <a:p>
            <a:pPr algn="r" indent="0" marL="0">
              <a:buNone/>
            </a:pPr>
            <a:r>
              <a:rPr lang="en-US" sz="800" b="1" dirty="0">
                <a:solidFill>
                  <a:srgbClr val="5F7085"/>
                </a:solidFill>
                <a:latin typeface="Arial" pitchFamily="34" charset="0"/>
                <a:ea typeface="Arial" pitchFamily="34" charset="-122"/>
                <a:cs typeface="Arial" pitchFamily="34" charset="-120"/>
              </a:rPr>
              <a:t>01 / 07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8229600" cy="237744"/>
          </a:xfrm>
          <a:prstGeom prst="rect">
            <a:avLst/>
          </a:prstGeom>
          <a:noFill/>
          <a:ln/>
        </p:spPr>
        <p:txBody>
          <a:bodyPr wrap="square" lIns="0" tIns="0" rIns="0" bIns="0" rtlCol="0" anchor="ctr"/>
          <a:lstStyle/>
          <a:p>
            <a:pPr indent="0" marL="0">
              <a:buNone/>
            </a:pPr>
            <a:r>
              <a:rPr lang="en-US" sz="1050" b="1" spc="220" kern="0" dirty="0">
                <a:solidFill>
                  <a:srgbClr val="F15B40"/>
                </a:solidFill>
                <a:latin typeface="Arial" pitchFamily="34" charset="0"/>
                <a:ea typeface="Arial" pitchFamily="34" charset="-122"/>
                <a:cs typeface="Arial" pitchFamily="34" charset="-120"/>
              </a:rPr>
              <a:t>AGENDA 02   ·   THE SOLUTION</a:t>
            </a:r>
            <a:endParaRPr lang="en-US" sz="1050" dirty="0"/>
          </a:p>
        </p:txBody>
      </p:sp>
      <p:sp>
        <p:nvSpPr>
          <p:cNvPr id="3" name="Text 1"/>
          <p:cNvSpPr/>
          <p:nvPr/>
        </p:nvSpPr>
        <p:spPr>
          <a:xfrm>
            <a:off x="640080" y="914400"/>
            <a:ext cx="8412480" cy="713232"/>
          </a:xfrm>
          <a:prstGeom prst="rect">
            <a:avLst/>
          </a:prstGeom>
          <a:noFill/>
          <a:ln/>
        </p:spPr>
        <p:txBody>
          <a:bodyPr wrap="square" lIns="0" tIns="0" rIns="0" bIns="0" rtlCol="0" anchor="ctr"/>
          <a:lstStyle/>
          <a:p>
            <a:pPr indent="0" marL="0">
              <a:buNone/>
            </a:pPr>
            <a:r>
              <a:rPr lang="en-US" sz="3000" b="1" dirty="0">
                <a:solidFill>
                  <a:srgbClr val="0B1D31"/>
                </a:solidFill>
                <a:latin typeface="Arial" pitchFamily="34" charset="0"/>
                <a:ea typeface="Arial" pitchFamily="34" charset="-122"/>
                <a:cs typeface="Arial" pitchFamily="34" charset="-120"/>
              </a:rPr>
              <a:t>What Voyager.AI is</a:t>
            </a:r>
            <a:endParaRPr lang="en-US" sz="3000" dirty="0"/>
          </a:p>
        </p:txBody>
      </p:sp>
      <p:sp>
        <p:nvSpPr>
          <p:cNvPr id="4" name="Shape 2"/>
          <p:cNvSpPr/>
          <p:nvPr/>
        </p:nvSpPr>
        <p:spPr>
          <a:xfrm>
            <a:off x="9247327" y="548640"/>
            <a:ext cx="2304288" cy="365760"/>
          </a:xfrm>
          <a:prstGeom prst="roundRect">
            <a:avLst>
              <a:gd name="adj" fmla="val 47500"/>
            </a:avLst>
          </a:prstGeom>
          <a:solidFill>
            <a:srgbClr val="F3F6FB"/>
          </a:solidFill>
          <a:ln w="12700">
            <a:solidFill>
              <a:srgbClr val="DBE3EF"/>
            </a:solidFill>
            <a:prstDash val="solid"/>
          </a:ln>
        </p:spPr>
      </p:sp>
      <p:sp>
        <p:nvSpPr>
          <p:cNvPr id="5" name="Shape 3"/>
          <p:cNvSpPr/>
          <p:nvPr/>
        </p:nvSpPr>
        <p:spPr>
          <a:xfrm>
            <a:off x="9448495" y="676656"/>
            <a:ext cx="109728" cy="109728"/>
          </a:xfrm>
          <a:prstGeom prst="ellipse">
            <a:avLst/>
          </a:prstGeom>
          <a:solidFill>
            <a:srgbClr val="F15B40"/>
          </a:solidFill>
          <a:ln w="12700">
            <a:solidFill>
              <a:srgbClr val="F15B40"/>
            </a:solidFill>
            <a:prstDash val="solid"/>
          </a:ln>
        </p:spPr>
      </p:sp>
      <p:sp>
        <p:nvSpPr>
          <p:cNvPr id="6" name="Text 4"/>
          <p:cNvSpPr/>
          <p:nvPr/>
        </p:nvSpPr>
        <p:spPr>
          <a:xfrm>
            <a:off x="9603943" y="548640"/>
            <a:ext cx="1801368" cy="365760"/>
          </a:xfrm>
          <a:prstGeom prst="rect">
            <a:avLst/>
          </a:prstGeom>
          <a:noFill/>
          <a:ln/>
        </p:spPr>
        <p:txBody>
          <a:bodyPr wrap="square" lIns="0" tIns="0" rIns="0" bIns="0" rtlCol="0" anchor="ctr"/>
          <a:lstStyle/>
          <a:p>
            <a:pPr indent="0" marL="0">
              <a:buNone/>
            </a:pPr>
            <a:r>
              <a:rPr lang="en-US" sz="900" b="1" spc="80" kern="0" dirty="0">
                <a:solidFill>
                  <a:srgbClr val="0B1D31"/>
                </a:solidFill>
                <a:latin typeface="Arial" pitchFamily="34" charset="0"/>
                <a:ea typeface="Arial" pitchFamily="34" charset="-122"/>
                <a:cs typeface="Arial" pitchFamily="34" charset="-120"/>
              </a:rPr>
              <a:t>SANDEEP UPPAL   ·   5 MIN</a:t>
            </a:r>
            <a:endParaRPr lang="en-US" sz="900" dirty="0"/>
          </a:p>
        </p:txBody>
      </p:sp>
      <p:sp>
        <p:nvSpPr>
          <p:cNvPr id="7" name="Shape 5"/>
          <p:cNvSpPr/>
          <p:nvPr/>
        </p:nvSpPr>
        <p:spPr>
          <a:xfrm>
            <a:off x="640080" y="1783080"/>
            <a:ext cx="10911535" cy="841248"/>
          </a:xfrm>
          <a:prstGeom prst="roundRect">
            <a:avLst>
              <a:gd name="adj" fmla="val 8696"/>
            </a:avLst>
          </a:prstGeom>
          <a:solidFill>
            <a:srgbClr val="F3F6FB"/>
          </a:solidFill>
          <a:ln w="12700">
            <a:solidFill>
              <a:srgbClr val="F3F6FB"/>
            </a:solidFill>
            <a:prstDash val="solid"/>
          </a:ln>
        </p:spPr>
      </p:sp>
      <p:sp>
        <p:nvSpPr>
          <p:cNvPr id="8" name="Shape 6"/>
          <p:cNvSpPr/>
          <p:nvPr/>
        </p:nvSpPr>
        <p:spPr>
          <a:xfrm>
            <a:off x="932688" y="1965960"/>
            <a:ext cx="475488" cy="475488"/>
          </a:xfrm>
          <a:prstGeom prst="ellipse">
            <a:avLst/>
          </a:prstGeom>
          <a:solidFill>
            <a:srgbClr val="FDEAE5"/>
          </a:solidFill>
          <a:ln w="12700">
            <a:solidFill>
              <a:srgbClr val="FDEAE5"/>
            </a:solidFill>
            <a:prstDash val="solid"/>
          </a:ln>
        </p:spPr>
      </p:sp>
      <p:pic>
        <p:nvPicPr>
          <p:cNvPr id="9" name="Image 0" descr="/home/claude/work/icons/rocket_coral.png">    </p:cNvPr>
          <p:cNvPicPr>
            <a:picLocks noChangeAspect="1"/>
          </p:cNvPicPr>
          <p:nvPr/>
        </p:nvPicPr>
        <p:blipFill>
          <a:blip r:embed="rId1"/>
          <a:stretch>
            <a:fillRect/>
          </a:stretch>
        </p:blipFill>
        <p:spPr>
          <a:xfrm>
            <a:off x="1051560" y="2084832"/>
            <a:ext cx="237744" cy="237744"/>
          </a:xfrm>
          <a:prstGeom prst="rect">
            <a:avLst/>
          </a:prstGeom>
        </p:spPr>
      </p:pic>
      <p:sp>
        <p:nvSpPr>
          <p:cNvPr id="10" name="Text 7"/>
          <p:cNvSpPr/>
          <p:nvPr/>
        </p:nvSpPr>
        <p:spPr>
          <a:xfrm>
            <a:off x="1554480" y="1783080"/>
            <a:ext cx="9722815" cy="841248"/>
          </a:xfrm>
          <a:prstGeom prst="rect">
            <a:avLst/>
          </a:prstGeom>
          <a:noFill/>
          <a:ln/>
        </p:spPr>
        <p:txBody>
          <a:bodyPr wrap="square" lIns="0" tIns="0" rIns="0" bIns="0" rtlCol="0" anchor="ctr"/>
          <a:lstStyle/>
          <a:p>
            <a:pPr indent="0" marL="0">
              <a:lnSpc>
                <a:spcPct val="112000"/>
              </a:lnSpc>
              <a:buNone/>
            </a:pPr>
            <a:r>
              <a:rPr lang="en-US" sz="1300" b="1" dirty="0">
                <a:solidFill>
                  <a:srgbClr val="F15B40"/>
                </a:solidFill>
                <a:latin typeface="Arial" pitchFamily="34" charset="0"/>
                <a:ea typeface="Arial" pitchFamily="34" charset="-122"/>
                <a:cs typeface="Arial" pitchFamily="34" charset="-120"/>
              </a:rPr>
              <a:t>The proposition:  </a:t>
            </a:r>
            <a:pPr indent="0" marL="0">
              <a:lnSpc>
                <a:spcPct val="112000"/>
              </a:lnSpc>
              <a:buNone/>
            </a:pPr>
            <a:r>
              <a:rPr lang="en-US" sz="1300" dirty="0">
                <a:solidFill>
                  <a:srgbClr val="0B1D31"/>
                </a:solidFill>
                <a:latin typeface="Arial" pitchFamily="34" charset="0"/>
                <a:ea typeface="Arial" pitchFamily="34" charset="-122"/>
                <a:cs typeface="Arial" pitchFamily="34" charset="-120"/>
              </a:rPr>
              <a:t>an AI-powered accelerator that lets an airline run real-time, one-to-one personalisation at scale — prebuilt on Adobe Experience Platform.</a:t>
            </a:r>
            <a:endParaRPr lang="en-US" sz="1300" dirty="0"/>
          </a:p>
        </p:txBody>
      </p:sp>
      <p:sp>
        <p:nvSpPr>
          <p:cNvPr id="11" name="Shape 8"/>
          <p:cNvSpPr/>
          <p:nvPr/>
        </p:nvSpPr>
        <p:spPr>
          <a:xfrm>
            <a:off x="640080" y="2834640"/>
            <a:ext cx="3502152" cy="2834640"/>
          </a:xfrm>
          <a:prstGeom prst="roundRect">
            <a:avLst>
              <a:gd name="adj" fmla="val 2581"/>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12" name="Shape 9"/>
          <p:cNvSpPr/>
          <p:nvPr/>
        </p:nvSpPr>
        <p:spPr>
          <a:xfrm>
            <a:off x="950976" y="3127248"/>
            <a:ext cx="548640" cy="548640"/>
          </a:xfrm>
          <a:prstGeom prst="ellipse">
            <a:avLst/>
          </a:prstGeom>
          <a:solidFill>
            <a:srgbClr val="FDEAE5"/>
          </a:solidFill>
          <a:ln w="12700">
            <a:solidFill>
              <a:srgbClr val="FDEAE5"/>
            </a:solidFill>
            <a:prstDash val="solid"/>
          </a:ln>
        </p:spPr>
      </p:sp>
      <p:pic>
        <p:nvPicPr>
          <p:cNvPr id="13" name="Image 1" descr="/home/claude/work/icons/globe_coral.png">    </p:cNvPr>
          <p:cNvPicPr>
            <a:picLocks noChangeAspect="1"/>
          </p:cNvPicPr>
          <p:nvPr/>
        </p:nvPicPr>
        <p:blipFill>
          <a:blip r:embed="rId2"/>
          <a:stretch>
            <a:fillRect/>
          </a:stretch>
        </p:blipFill>
        <p:spPr>
          <a:xfrm>
            <a:off x="1088136" y="3264408"/>
            <a:ext cx="274320" cy="274320"/>
          </a:xfrm>
          <a:prstGeom prst="rect">
            <a:avLst/>
          </a:prstGeom>
        </p:spPr>
      </p:pic>
      <p:sp>
        <p:nvSpPr>
          <p:cNvPr id="14" name="Text 10"/>
          <p:cNvSpPr/>
          <p:nvPr/>
        </p:nvSpPr>
        <p:spPr>
          <a:xfrm>
            <a:off x="1591056" y="3127248"/>
            <a:ext cx="2313432" cy="548640"/>
          </a:xfrm>
          <a:prstGeom prst="rect">
            <a:avLst/>
          </a:prstGeom>
          <a:noFill/>
          <a:ln/>
        </p:spPr>
        <p:txBody>
          <a:bodyPr wrap="square" lIns="0" tIns="0" rIns="0" bIns="0" rtlCol="0" anchor="ctr"/>
          <a:lstStyle/>
          <a:p>
            <a:pPr indent="0" marL="0">
              <a:buNone/>
            </a:pPr>
            <a:r>
              <a:rPr lang="en-US" sz="1550" b="1" dirty="0">
                <a:solidFill>
                  <a:srgbClr val="0B1D31"/>
                </a:solidFill>
                <a:latin typeface="Arial" pitchFamily="34" charset="0"/>
                <a:ea typeface="Arial" pitchFamily="34" charset="-122"/>
                <a:cs typeface="Arial" pitchFamily="34" charset="-120"/>
              </a:rPr>
              <a:t>Target industries</a:t>
            </a:r>
            <a:endParaRPr lang="en-US" sz="1550" dirty="0"/>
          </a:p>
        </p:txBody>
      </p:sp>
      <p:sp>
        <p:nvSpPr>
          <p:cNvPr id="15" name="Shape 11"/>
          <p:cNvSpPr/>
          <p:nvPr/>
        </p:nvSpPr>
        <p:spPr>
          <a:xfrm>
            <a:off x="1005840" y="4023360"/>
            <a:ext cx="91440" cy="91440"/>
          </a:xfrm>
          <a:prstGeom prst="ellipse">
            <a:avLst/>
          </a:prstGeom>
          <a:solidFill>
            <a:srgbClr val="F15B40"/>
          </a:solidFill>
          <a:ln w="12700">
            <a:solidFill>
              <a:srgbClr val="F15B40"/>
            </a:solidFill>
            <a:prstDash val="solid"/>
          </a:ln>
        </p:spPr>
      </p:sp>
      <p:sp>
        <p:nvSpPr>
          <p:cNvPr id="16" name="Text 12"/>
          <p:cNvSpPr/>
          <p:nvPr/>
        </p:nvSpPr>
        <p:spPr>
          <a:xfrm>
            <a:off x="1207008" y="3913632"/>
            <a:ext cx="2660904" cy="512064"/>
          </a:xfrm>
          <a:prstGeom prst="rect">
            <a:avLst/>
          </a:prstGeom>
          <a:noFill/>
          <a:ln/>
        </p:spPr>
        <p:txBody>
          <a:bodyPr wrap="square" lIns="0" tIns="0" rIns="0" bIns="0" rtlCol="0" anchor="ctr"/>
          <a:lstStyle/>
          <a:p>
            <a:pPr indent="0" marL="0">
              <a:lnSpc>
                <a:spcPct val="112000"/>
              </a:lnSpc>
              <a:buNone/>
            </a:pPr>
            <a:r>
              <a:rPr lang="en-US" sz="1100" dirty="0">
                <a:solidFill>
                  <a:srgbClr val="5F7085"/>
                </a:solidFill>
                <a:latin typeface="Arial" pitchFamily="34" charset="0"/>
                <a:ea typeface="Arial" pitchFamily="34" charset="-122"/>
                <a:cs typeface="Arial" pitchFamily="34" charset="-120"/>
              </a:rPr>
              <a:t>Airlines — the primary, proven market</a:t>
            </a:r>
            <a:endParaRPr lang="en-US" sz="1100" dirty="0"/>
          </a:p>
        </p:txBody>
      </p:sp>
      <p:sp>
        <p:nvSpPr>
          <p:cNvPr id="17" name="Shape 13"/>
          <p:cNvSpPr/>
          <p:nvPr/>
        </p:nvSpPr>
        <p:spPr>
          <a:xfrm>
            <a:off x="1005840" y="4590288"/>
            <a:ext cx="91440" cy="91440"/>
          </a:xfrm>
          <a:prstGeom prst="ellipse">
            <a:avLst/>
          </a:prstGeom>
          <a:solidFill>
            <a:srgbClr val="F15B40"/>
          </a:solidFill>
          <a:ln w="12700">
            <a:solidFill>
              <a:srgbClr val="F15B40"/>
            </a:solidFill>
            <a:prstDash val="solid"/>
          </a:ln>
        </p:spPr>
      </p:sp>
      <p:sp>
        <p:nvSpPr>
          <p:cNvPr id="18" name="Text 14"/>
          <p:cNvSpPr/>
          <p:nvPr/>
        </p:nvSpPr>
        <p:spPr>
          <a:xfrm>
            <a:off x="1207008" y="4480560"/>
            <a:ext cx="2660904" cy="512064"/>
          </a:xfrm>
          <a:prstGeom prst="rect">
            <a:avLst/>
          </a:prstGeom>
          <a:noFill/>
          <a:ln/>
        </p:spPr>
        <p:txBody>
          <a:bodyPr wrap="square" lIns="0" tIns="0" rIns="0" bIns="0" rtlCol="0" anchor="ctr"/>
          <a:lstStyle/>
          <a:p>
            <a:pPr indent="0" marL="0">
              <a:lnSpc>
                <a:spcPct val="112000"/>
              </a:lnSpc>
              <a:buNone/>
            </a:pPr>
            <a:r>
              <a:rPr lang="en-US" sz="1100" dirty="0">
                <a:solidFill>
                  <a:srgbClr val="5F7085"/>
                </a:solidFill>
                <a:latin typeface="Arial" pitchFamily="34" charset="0"/>
                <a:ea typeface="Arial" pitchFamily="34" charset="-122"/>
                <a:cs typeface="Arial" pitchFamily="34" charset="-120"/>
              </a:rPr>
              <a:t>Adjacent travel: hotels, cruise, rail, OTAs</a:t>
            </a:r>
            <a:endParaRPr lang="en-US" sz="1100" dirty="0"/>
          </a:p>
        </p:txBody>
      </p:sp>
      <p:sp>
        <p:nvSpPr>
          <p:cNvPr id="19" name="Shape 15"/>
          <p:cNvSpPr/>
          <p:nvPr/>
        </p:nvSpPr>
        <p:spPr>
          <a:xfrm>
            <a:off x="1005840" y="5157216"/>
            <a:ext cx="91440" cy="91440"/>
          </a:xfrm>
          <a:prstGeom prst="ellipse">
            <a:avLst/>
          </a:prstGeom>
          <a:solidFill>
            <a:srgbClr val="F15B40"/>
          </a:solidFill>
          <a:ln w="12700">
            <a:solidFill>
              <a:srgbClr val="F15B40"/>
            </a:solidFill>
            <a:prstDash val="solid"/>
          </a:ln>
        </p:spPr>
      </p:sp>
      <p:sp>
        <p:nvSpPr>
          <p:cNvPr id="20" name="Text 16"/>
          <p:cNvSpPr/>
          <p:nvPr/>
        </p:nvSpPr>
        <p:spPr>
          <a:xfrm>
            <a:off x="1207008" y="5047488"/>
            <a:ext cx="2660904" cy="512064"/>
          </a:xfrm>
          <a:prstGeom prst="rect">
            <a:avLst/>
          </a:prstGeom>
          <a:noFill/>
          <a:ln/>
        </p:spPr>
        <p:txBody>
          <a:bodyPr wrap="square" lIns="0" tIns="0" rIns="0" bIns="0" rtlCol="0" anchor="ctr"/>
          <a:lstStyle/>
          <a:p>
            <a:pPr indent="0" marL="0">
              <a:lnSpc>
                <a:spcPct val="112000"/>
              </a:lnSpc>
              <a:buNone/>
            </a:pPr>
            <a:r>
              <a:rPr lang="en-US" sz="1100" dirty="0">
                <a:solidFill>
                  <a:srgbClr val="5F7085"/>
                </a:solidFill>
                <a:latin typeface="Arial" pitchFamily="34" charset="0"/>
                <a:ea typeface="Arial" pitchFamily="34" charset="-122"/>
                <a:cs typeface="Arial" pitchFamily="34" charset="-120"/>
              </a:rPr>
              <a:t>The pattern extends to any data-rich CX sector</a:t>
            </a:r>
            <a:endParaRPr lang="en-US" sz="1100" dirty="0"/>
          </a:p>
        </p:txBody>
      </p:sp>
      <p:sp>
        <p:nvSpPr>
          <p:cNvPr id="21" name="Shape 17"/>
          <p:cNvSpPr/>
          <p:nvPr/>
        </p:nvSpPr>
        <p:spPr>
          <a:xfrm>
            <a:off x="4343400" y="2834640"/>
            <a:ext cx="3502152" cy="2834640"/>
          </a:xfrm>
          <a:prstGeom prst="roundRect">
            <a:avLst>
              <a:gd name="adj" fmla="val 2581"/>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22" name="Shape 18"/>
          <p:cNvSpPr/>
          <p:nvPr/>
        </p:nvSpPr>
        <p:spPr>
          <a:xfrm>
            <a:off x="4654296" y="3127248"/>
            <a:ext cx="548640" cy="548640"/>
          </a:xfrm>
          <a:prstGeom prst="ellipse">
            <a:avLst/>
          </a:prstGeom>
          <a:solidFill>
            <a:srgbClr val="E0F4F1"/>
          </a:solidFill>
          <a:ln w="12700">
            <a:solidFill>
              <a:srgbClr val="E0F4F1"/>
            </a:solidFill>
            <a:prstDash val="solid"/>
          </a:ln>
        </p:spPr>
      </p:sp>
      <p:pic>
        <p:nvPicPr>
          <p:cNvPr id="23" name="Image 2" descr="/home/claude/work/icons/compass_teal.png">    </p:cNvPr>
          <p:cNvPicPr>
            <a:picLocks noChangeAspect="1"/>
          </p:cNvPicPr>
          <p:nvPr/>
        </p:nvPicPr>
        <p:blipFill>
          <a:blip r:embed="rId3"/>
          <a:stretch>
            <a:fillRect/>
          </a:stretch>
        </p:blipFill>
        <p:spPr>
          <a:xfrm>
            <a:off x="4791456" y="3264408"/>
            <a:ext cx="274320" cy="274320"/>
          </a:xfrm>
          <a:prstGeom prst="rect">
            <a:avLst/>
          </a:prstGeom>
        </p:spPr>
      </p:pic>
      <p:sp>
        <p:nvSpPr>
          <p:cNvPr id="24" name="Text 19"/>
          <p:cNvSpPr/>
          <p:nvPr/>
        </p:nvSpPr>
        <p:spPr>
          <a:xfrm>
            <a:off x="5294376" y="3127248"/>
            <a:ext cx="2313432" cy="548640"/>
          </a:xfrm>
          <a:prstGeom prst="rect">
            <a:avLst/>
          </a:prstGeom>
          <a:noFill/>
          <a:ln/>
        </p:spPr>
        <p:txBody>
          <a:bodyPr wrap="square" lIns="0" tIns="0" rIns="0" bIns="0" rtlCol="0" anchor="ctr"/>
          <a:lstStyle/>
          <a:p>
            <a:pPr indent="0" marL="0">
              <a:buNone/>
            </a:pPr>
            <a:r>
              <a:rPr lang="en-US" sz="1550" b="1" dirty="0">
                <a:solidFill>
                  <a:srgbClr val="0B1D31"/>
                </a:solidFill>
                <a:latin typeface="Arial" pitchFamily="34" charset="0"/>
                <a:ea typeface="Arial" pitchFamily="34" charset="-122"/>
                <a:cs typeface="Arial" pitchFamily="34" charset="-120"/>
              </a:rPr>
              <a:t>Key use cases</a:t>
            </a:r>
            <a:endParaRPr lang="en-US" sz="1550" dirty="0"/>
          </a:p>
        </p:txBody>
      </p:sp>
      <p:sp>
        <p:nvSpPr>
          <p:cNvPr id="25" name="Shape 20"/>
          <p:cNvSpPr/>
          <p:nvPr/>
        </p:nvSpPr>
        <p:spPr>
          <a:xfrm>
            <a:off x="4709160" y="4023360"/>
            <a:ext cx="91440" cy="91440"/>
          </a:xfrm>
          <a:prstGeom prst="ellipse">
            <a:avLst/>
          </a:prstGeom>
          <a:solidFill>
            <a:srgbClr val="00A792"/>
          </a:solidFill>
          <a:ln w="12700">
            <a:solidFill>
              <a:srgbClr val="00A792"/>
            </a:solidFill>
            <a:prstDash val="solid"/>
          </a:ln>
        </p:spPr>
      </p:sp>
      <p:sp>
        <p:nvSpPr>
          <p:cNvPr id="26" name="Text 21"/>
          <p:cNvSpPr/>
          <p:nvPr/>
        </p:nvSpPr>
        <p:spPr>
          <a:xfrm>
            <a:off x="4910328" y="3913632"/>
            <a:ext cx="2660904" cy="512064"/>
          </a:xfrm>
          <a:prstGeom prst="rect">
            <a:avLst/>
          </a:prstGeom>
          <a:noFill/>
          <a:ln/>
        </p:spPr>
        <p:txBody>
          <a:bodyPr wrap="square" lIns="0" tIns="0" rIns="0" bIns="0" rtlCol="0" anchor="ctr"/>
          <a:lstStyle/>
          <a:p>
            <a:pPr indent="0" marL="0">
              <a:lnSpc>
                <a:spcPct val="112000"/>
              </a:lnSpc>
              <a:buNone/>
            </a:pPr>
            <a:r>
              <a:rPr lang="en-US" sz="1100" dirty="0">
                <a:solidFill>
                  <a:srgbClr val="5F7085"/>
                </a:solidFill>
                <a:latin typeface="Arial" pitchFamily="34" charset="0"/>
                <a:ea typeface="Arial" pitchFamily="34" charset="-122"/>
                <a:cs typeface="Arial" pitchFamily="34" charset="-120"/>
              </a:rPr>
              <a:t>VIP Disruption Care — real-time recovery</a:t>
            </a:r>
            <a:endParaRPr lang="en-US" sz="1100" dirty="0"/>
          </a:p>
        </p:txBody>
      </p:sp>
      <p:sp>
        <p:nvSpPr>
          <p:cNvPr id="27" name="Shape 22"/>
          <p:cNvSpPr/>
          <p:nvPr/>
        </p:nvSpPr>
        <p:spPr>
          <a:xfrm>
            <a:off x="4709160" y="4590288"/>
            <a:ext cx="91440" cy="91440"/>
          </a:xfrm>
          <a:prstGeom prst="ellipse">
            <a:avLst/>
          </a:prstGeom>
          <a:solidFill>
            <a:srgbClr val="00A792"/>
          </a:solidFill>
          <a:ln w="12700">
            <a:solidFill>
              <a:srgbClr val="00A792"/>
            </a:solidFill>
            <a:prstDash val="solid"/>
          </a:ln>
        </p:spPr>
      </p:sp>
      <p:sp>
        <p:nvSpPr>
          <p:cNvPr id="28" name="Text 23"/>
          <p:cNvSpPr/>
          <p:nvPr/>
        </p:nvSpPr>
        <p:spPr>
          <a:xfrm>
            <a:off x="4910328" y="4480560"/>
            <a:ext cx="2660904" cy="512064"/>
          </a:xfrm>
          <a:prstGeom prst="rect">
            <a:avLst/>
          </a:prstGeom>
          <a:noFill/>
          <a:ln/>
        </p:spPr>
        <p:txBody>
          <a:bodyPr wrap="square" lIns="0" tIns="0" rIns="0" bIns="0" rtlCol="0" anchor="ctr"/>
          <a:lstStyle/>
          <a:p>
            <a:pPr indent="0" marL="0">
              <a:lnSpc>
                <a:spcPct val="112000"/>
              </a:lnSpc>
              <a:buNone/>
            </a:pPr>
            <a:r>
              <a:rPr lang="en-US" sz="1100" dirty="0">
                <a:solidFill>
                  <a:srgbClr val="5F7085"/>
                </a:solidFill>
                <a:latin typeface="Arial" pitchFamily="34" charset="0"/>
                <a:ea typeface="Arial" pitchFamily="34" charset="-122"/>
                <a:cs typeface="Arial" pitchFamily="34" charset="-120"/>
              </a:rPr>
              <a:t>Smart Seat Upgrade — known + unknown stitched</a:t>
            </a:r>
            <a:endParaRPr lang="en-US" sz="1100" dirty="0"/>
          </a:p>
        </p:txBody>
      </p:sp>
      <p:sp>
        <p:nvSpPr>
          <p:cNvPr id="29" name="Shape 24"/>
          <p:cNvSpPr/>
          <p:nvPr/>
        </p:nvSpPr>
        <p:spPr>
          <a:xfrm>
            <a:off x="4709160" y="5157216"/>
            <a:ext cx="91440" cy="91440"/>
          </a:xfrm>
          <a:prstGeom prst="ellipse">
            <a:avLst/>
          </a:prstGeom>
          <a:solidFill>
            <a:srgbClr val="00A792"/>
          </a:solidFill>
          <a:ln w="12700">
            <a:solidFill>
              <a:srgbClr val="00A792"/>
            </a:solidFill>
            <a:prstDash val="solid"/>
          </a:ln>
        </p:spPr>
      </p:sp>
      <p:sp>
        <p:nvSpPr>
          <p:cNvPr id="30" name="Text 25"/>
          <p:cNvSpPr/>
          <p:nvPr/>
        </p:nvSpPr>
        <p:spPr>
          <a:xfrm>
            <a:off x="4910328" y="5047488"/>
            <a:ext cx="2660904" cy="512064"/>
          </a:xfrm>
          <a:prstGeom prst="rect">
            <a:avLst/>
          </a:prstGeom>
          <a:noFill/>
          <a:ln/>
        </p:spPr>
        <p:txBody>
          <a:bodyPr wrap="square" lIns="0" tIns="0" rIns="0" bIns="0" rtlCol="0" anchor="ctr"/>
          <a:lstStyle/>
          <a:p>
            <a:pPr indent="0" marL="0">
              <a:lnSpc>
                <a:spcPct val="112000"/>
              </a:lnSpc>
              <a:buNone/>
            </a:pPr>
            <a:r>
              <a:rPr lang="en-US" sz="1100" dirty="0">
                <a:solidFill>
                  <a:srgbClr val="5F7085"/>
                </a:solidFill>
                <a:latin typeface="Arial" pitchFamily="34" charset="0"/>
                <a:ea typeface="Arial" pitchFamily="34" charset="-122"/>
                <a:cs typeface="Arial" pitchFamily="34" charset="-120"/>
              </a:rPr>
              <a:t>Loyalty, churn and next-best-offer journeys</a:t>
            </a:r>
            <a:endParaRPr lang="en-US" sz="1100" dirty="0"/>
          </a:p>
        </p:txBody>
      </p:sp>
      <p:sp>
        <p:nvSpPr>
          <p:cNvPr id="31" name="Shape 26"/>
          <p:cNvSpPr/>
          <p:nvPr/>
        </p:nvSpPr>
        <p:spPr>
          <a:xfrm>
            <a:off x="8046720" y="2834640"/>
            <a:ext cx="3502152" cy="2834640"/>
          </a:xfrm>
          <a:prstGeom prst="roundRect">
            <a:avLst>
              <a:gd name="adj" fmla="val 2581"/>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32" name="Shape 27"/>
          <p:cNvSpPr/>
          <p:nvPr/>
        </p:nvSpPr>
        <p:spPr>
          <a:xfrm>
            <a:off x="8357616" y="3127248"/>
            <a:ext cx="548640" cy="548640"/>
          </a:xfrm>
          <a:prstGeom prst="ellipse">
            <a:avLst/>
          </a:prstGeom>
          <a:solidFill>
            <a:srgbClr val="E4ECFB"/>
          </a:solidFill>
          <a:ln w="12700">
            <a:solidFill>
              <a:srgbClr val="E4ECFB"/>
            </a:solidFill>
            <a:prstDash val="solid"/>
          </a:ln>
        </p:spPr>
      </p:sp>
      <p:pic>
        <p:nvPicPr>
          <p:cNvPr id="33" name="Image 3" descr="/home/claude/work/icons/chartline_adobe.png">    </p:cNvPr>
          <p:cNvPicPr>
            <a:picLocks noChangeAspect="1"/>
          </p:cNvPicPr>
          <p:nvPr/>
        </p:nvPicPr>
        <p:blipFill>
          <a:blip r:embed="rId4"/>
          <a:stretch>
            <a:fillRect/>
          </a:stretch>
        </p:blipFill>
        <p:spPr>
          <a:xfrm>
            <a:off x="8494776" y="3264408"/>
            <a:ext cx="274320" cy="274320"/>
          </a:xfrm>
          <a:prstGeom prst="rect">
            <a:avLst/>
          </a:prstGeom>
        </p:spPr>
      </p:pic>
      <p:sp>
        <p:nvSpPr>
          <p:cNvPr id="34" name="Text 28"/>
          <p:cNvSpPr/>
          <p:nvPr/>
        </p:nvSpPr>
        <p:spPr>
          <a:xfrm>
            <a:off x="8997696" y="3127248"/>
            <a:ext cx="2313432" cy="548640"/>
          </a:xfrm>
          <a:prstGeom prst="rect">
            <a:avLst/>
          </a:prstGeom>
          <a:noFill/>
          <a:ln/>
        </p:spPr>
        <p:txBody>
          <a:bodyPr wrap="square" lIns="0" tIns="0" rIns="0" bIns="0" rtlCol="0" anchor="ctr"/>
          <a:lstStyle/>
          <a:p>
            <a:pPr indent="0" marL="0">
              <a:buNone/>
            </a:pPr>
            <a:r>
              <a:rPr lang="en-US" sz="1550" b="1" dirty="0">
                <a:solidFill>
                  <a:srgbClr val="0B1D31"/>
                </a:solidFill>
                <a:latin typeface="Arial" pitchFamily="34" charset="0"/>
                <a:ea typeface="Arial" pitchFamily="34" charset="-122"/>
                <a:cs typeface="Arial" pitchFamily="34" charset="-120"/>
              </a:rPr>
              <a:t>Business outcomes</a:t>
            </a:r>
            <a:endParaRPr lang="en-US" sz="1550" dirty="0"/>
          </a:p>
        </p:txBody>
      </p:sp>
      <p:sp>
        <p:nvSpPr>
          <p:cNvPr id="35" name="Shape 29"/>
          <p:cNvSpPr/>
          <p:nvPr/>
        </p:nvSpPr>
        <p:spPr>
          <a:xfrm>
            <a:off x="8412480" y="4023360"/>
            <a:ext cx="91440" cy="91440"/>
          </a:xfrm>
          <a:prstGeom prst="ellipse">
            <a:avLst/>
          </a:prstGeom>
          <a:solidFill>
            <a:srgbClr val="2E6FD6"/>
          </a:solidFill>
          <a:ln w="12700">
            <a:solidFill>
              <a:srgbClr val="2E6FD6"/>
            </a:solidFill>
            <a:prstDash val="solid"/>
          </a:ln>
        </p:spPr>
      </p:sp>
      <p:sp>
        <p:nvSpPr>
          <p:cNvPr id="36" name="Text 30"/>
          <p:cNvSpPr/>
          <p:nvPr/>
        </p:nvSpPr>
        <p:spPr>
          <a:xfrm>
            <a:off x="8613648" y="3913632"/>
            <a:ext cx="2660904" cy="512064"/>
          </a:xfrm>
          <a:prstGeom prst="rect">
            <a:avLst/>
          </a:prstGeom>
          <a:noFill/>
          <a:ln/>
        </p:spPr>
        <p:txBody>
          <a:bodyPr wrap="square" lIns="0" tIns="0" rIns="0" bIns="0" rtlCol="0" anchor="ctr"/>
          <a:lstStyle/>
          <a:p>
            <a:pPr indent="0" marL="0">
              <a:lnSpc>
                <a:spcPct val="112000"/>
              </a:lnSpc>
              <a:buNone/>
            </a:pPr>
            <a:r>
              <a:rPr lang="en-US" sz="1100" dirty="0">
                <a:solidFill>
                  <a:srgbClr val="5F7085"/>
                </a:solidFill>
                <a:latin typeface="Arial" pitchFamily="34" charset="0"/>
                <a:ea typeface="Arial" pitchFamily="34" charset="-122"/>
                <a:cs typeface="Arial" pitchFamily="34" charset="-120"/>
              </a:rPr>
              <a:t>50% faster personalisation rollout</a:t>
            </a:r>
            <a:endParaRPr lang="en-US" sz="1100" dirty="0"/>
          </a:p>
        </p:txBody>
      </p:sp>
      <p:sp>
        <p:nvSpPr>
          <p:cNvPr id="37" name="Shape 31"/>
          <p:cNvSpPr/>
          <p:nvPr/>
        </p:nvSpPr>
        <p:spPr>
          <a:xfrm>
            <a:off x="8412480" y="4590288"/>
            <a:ext cx="91440" cy="91440"/>
          </a:xfrm>
          <a:prstGeom prst="ellipse">
            <a:avLst/>
          </a:prstGeom>
          <a:solidFill>
            <a:srgbClr val="2E6FD6"/>
          </a:solidFill>
          <a:ln w="12700">
            <a:solidFill>
              <a:srgbClr val="2E6FD6"/>
            </a:solidFill>
            <a:prstDash val="solid"/>
          </a:ln>
        </p:spPr>
      </p:sp>
      <p:sp>
        <p:nvSpPr>
          <p:cNvPr id="38" name="Text 32"/>
          <p:cNvSpPr/>
          <p:nvPr/>
        </p:nvSpPr>
        <p:spPr>
          <a:xfrm>
            <a:off x="8613648" y="4480560"/>
            <a:ext cx="2660904" cy="512064"/>
          </a:xfrm>
          <a:prstGeom prst="rect">
            <a:avLst/>
          </a:prstGeom>
          <a:noFill/>
          <a:ln/>
        </p:spPr>
        <p:txBody>
          <a:bodyPr wrap="square" lIns="0" tIns="0" rIns="0" bIns="0" rtlCol="0" anchor="ctr"/>
          <a:lstStyle/>
          <a:p>
            <a:pPr indent="0" marL="0">
              <a:lnSpc>
                <a:spcPct val="112000"/>
              </a:lnSpc>
              <a:buNone/>
            </a:pPr>
            <a:r>
              <a:rPr lang="en-US" sz="1100" dirty="0">
                <a:solidFill>
                  <a:srgbClr val="5F7085"/>
                </a:solidFill>
                <a:latin typeface="Arial" pitchFamily="34" charset="0"/>
                <a:ea typeface="Arial" pitchFamily="34" charset="-122"/>
                <a:cs typeface="Arial" pitchFamily="34" charset="-120"/>
              </a:rPr>
              <a:t>+20% retention via predictive offers</a:t>
            </a:r>
            <a:endParaRPr lang="en-US" sz="1100" dirty="0"/>
          </a:p>
        </p:txBody>
      </p:sp>
      <p:sp>
        <p:nvSpPr>
          <p:cNvPr id="39" name="Shape 33"/>
          <p:cNvSpPr/>
          <p:nvPr/>
        </p:nvSpPr>
        <p:spPr>
          <a:xfrm>
            <a:off x="8412480" y="5157216"/>
            <a:ext cx="91440" cy="91440"/>
          </a:xfrm>
          <a:prstGeom prst="ellipse">
            <a:avLst/>
          </a:prstGeom>
          <a:solidFill>
            <a:srgbClr val="2E6FD6"/>
          </a:solidFill>
          <a:ln w="12700">
            <a:solidFill>
              <a:srgbClr val="2E6FD6"/>
            </a:solidFill>
            <a:prstDash val="solid"/>
          </a:ln>
        </p:spPr>
      </p:sp>
      <p:sp>
        <p:nvSpPr>
          <p:cNvPr id="40" name="Text 34"/>
          <p:cNvSpPr/>
          <p:nvPr/>
        </p:nvSpPr>
        <p:spPr>
          <a:xfrm>
            <a:off x="8613648" y="5047488"/>
            <a:ext cx="2660904" cy="512064"/>
          </a:xfrm>
          <a:prstGeom prst="rect">
            <a:avLst/>
          </a:prstGeom>
          <a:noFill/>
          <a:ln/>
        </p:spPr>
        <p:txBody>
          <a:bodyPr wrap="square" lIns="0" tIns="0" rIns="0" bIns="0" rtlCol="0" anchor="ctr"/>
          <a:lstStyle/>
          <a:p>
            <a:pPr indent="0" marL="0">
              <a:lnSpc>
                <a:spcPct val="112000"/>
              </a:lnSpc>
              <a:buNone/>
            </a:pPr>
            <a:r>
              <a:rPr lang="en-US" sz="1100" dirty="0">
                <a:solidFill>
                  <a:srgbClr val="5F7085"/>
                </a:solidFill>
                <a:latin typeface="Arial" pitchFamily="34" charset="0"/>
                <a:ea typeface="Arial" pitchFamily="34" charset="-122"/>
                <a:cs typeface="Arial" pitchFamily="34" charset="-120"/>
              </a:rPr>
              <a:t>40% more accurate targeting</a:t>
            </a:r>
            <a:endParaRPr lang="en-US" sz="1100" dirty="0"/>
          </a:p>
        </p:txBody>
      </p:sp>
      <p:sp>
        <p:nvSpPr>
          <p:cNvPr id="41" name="Text 35"/>
          <p:cNvSpPr/>
          <p:nvPr/>
        </p:nvSpPr>
        <p:spPr>
          <a:xfrm>
            <a:off x="640080" y="6428232"/>
            <a:ext cx="5486400" cy="228600"/>
          </a:xfrm>
          <a:prstGeom prst="rect">
            <a:avLst/>
          </a:prstGeom>
          <a:noFill/>
          <a:ln/>
        </p:spPr>
        <p:txBody>
          <a:bodyPr wrap="square" lIns="0" tIns="0" rIns="0" bIns="0" rtlCol="0" anchor="ctr"/>
          <a:lstStyle/>
          <a:p>
            <a:pPr indent="0" marL="0">
              <a:buNone/>
            </a:pPr>
            <a:r>
              <a:rPr lang="en-US" sz="800" spc="140" kern="0" dirty="0">
                <a:solidFill>
                  <a:srgbClr val="5F7085"/>
                </a:solidFill>
                <a:latin typeface="Arial" pitchFamily="34" charset="0"/>
                <a:ea typeface="Arial" pitchFamily="34" charset="-122"/>
                <a:cs typeface="Arial" pitchFamily="34" charset="-120"/>
              </a:rPr>
              <a:t>VOYAGER.AI ALL-HANDS   ·   COFORGE  ×  ADOBE</a:t>
            </a:r>
            <a:endParaRPr lang="en-US" sz="800" dirty="0"/>
          </a:p>
        </p:txBody>
      </p:sp>
      <p:sp>
        <p:nvSpPr>
          <p:cNvPr id="42" name="Text 36"/>
          <p:cNvSpPr/>
          <p:nvPr/>
        </p:nvSpPr>
        <p:spPr>
          <a:xfrm>
            <a:off x="10637215" y="6428232"/>
            <a:ext cx="914400" cy="228600"/>
          </a:xfrm>
          <a:prstGeom prst="rect">
            <a:avLst/>
          </a:prstGeom>
          <a:noFill/>
          <a:ln/>
        </p:spPr>
        <p:txBody>
          <a:bodyPr wrap="square" lIns="0" tIns="0" rIns="0" bIns="0" rtlCol="0" anchor="ctr"/>
          <a:lstStyle/>
          <a:p>
            <a:pPr algn="r" indent="0" marL="0">
              <a:buNone/>
            </a:pPr>
            <a:r>
              <a:rPr lang="en-US" sz="800" b="1" dirty="0">
                <a:solidFill>
                  <a:srgbClr val="5F7085"/>
                </a:solidFill>
                <a:latin typeface="Arial" pitchFamily="34" charset="0"/>
                <a:ea typeface="Arial" pitchFamily="34" charset="-122"/>
                <a:cs typeface="Arial" pitchFamily="34" charset="-120"/>
              </a:rPr>
              <a:t>02 / 07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8229600" cy="237744"/>
          </a:xfrm>
          <a:prstGeom prst="rect">
            <a:avLst/>
          </a:prstGeom>
          <a:noFill/>
          <a:ln/>
        </p:spPr>
        <p:txBody>
          <a:bodyPr wrap="square" lIns="0" tIns="0" rIns="0" bIns="0" rtlCol="0" anchor="ctr"/>
          <a:lstStyle/>
          <a:p>
            <a:pPr indent="0" marL="0">
              <a:buNone/>
            </a:pPr>
            <a:r>
              <a:rPr lang="en-US" sz="1050" b="1" spc="220" kern="0" dirty="0">
                <a:solidFill>
                  <a:srgbClr val="2E6FD6"/>
                </a:solidFill>
                <a:latin typeface="Arial" pitchFamily="34" charset="0"/>
                <a:ea typeface="Arial" pitchFamily="34" charset="-122"/>
                <a:cs typeface="Arial" pitchFamily="34" charset="-120"/>
              </a:rPr>
              <a:t>AGENDA 03   ·   THE ADOBE VIEW</a:t>
            </a:r>
            <a:endParaRPr lang="en-US" sz="1050" dirty="0"/>
          </a:p>
        </p:txBody>
      </p:sp>
      <p:sp>
        <p:nvSpPr>
          <p:cNvPr id="3" name="Text 1"/>
          <p:cNvSpPr/>
          <p:nvPr/>
        </p:nvSpPr>
        <p:spPr>
          <a:xfrm>
            <a:off x="640080" y="914400"/>
            <a:ext cx="8412480" cy="713232"/>
          </a:xfrm>
          <a:prstGeom prst="rect">
            <a:avLst/>
          </a:prstGeom>
          <a:noFill/>
          <a:ln/>
        </p:spPr>
        <p:txBody>
          <a:bodyPr wrap="square" lIns="0" tIns="0" rIns="0" bIns="0" rtlCol="0" anchor="ctr"/>
          <a:lstStyle/>
          <a:p>
            <a:pPr indent="0" marL="0">
              <a:buNone/>
            </a:pPr>
            <a:r>
              <a:rPr lang="en-US" sz="3000" b="1" dirty="0">
                <a:solidFill>
                  <a:srgbClr val="0B1D31"/>
                </a:solidFill>
                <a:latin typeface="Arial" pitchFamily="34" charset="0"/>
                <a:ea typeface="Arial" pitchFamily="34" charset="-122"/>
                <a:cs typeface="Arial" pitchFamily="34" charset="-120"/>
              </a:rPr>
              <a:t>Adobe perspective &amp; solution badging</a:t>
            </a:r>
            <a:endParaRPr lang="en-US" sz="3000" dirty="0"/>
          </a:p>
        </p:txBody>
      </p:sp>
      <p:sp>
        <p:nvSpPr>
          <p:cNvPr id="4" name="Shape 2"/>
          <p:cNvSpPr/>
          <p:nvPr/>
        </p:nvSpPr>
        <p:spPr>
          <a:xfrm>
            <a:off x="9108338" y="548640"/>
            <a:ext cx="2443277" cy="365760"/>
          </a:xfrm>
          <a:prstGeom prst="roundRect">
            <a:avLst>
              <a:gd name="adj" fmla="val 47500"/>
            </a:avLst>
          </a:prstGeom>
          <a:solidFill>
            <a:srgbClr val="F3F6FB"/>
          </a:solidFill>
          <a:ln w="12700">
            <a:solidFill>
              <a:srgbClr val="DBE3EF"/>
            </a:solidFill>
            <a:prstDash val="solid"/>
          </a:ln>
        </p:spPr>
      </p:sp>
      <p:sp>
        <p:nvSpPr>
          <p:cNvPr id="5" name="Shape 3"/>
          <p:cNvSpPr/>
          <p:nvPr/>
        </p:nvSpPr>
        <p:spPr>
          <a:xfrm>
            <a:off x="9309506" y="676656"/>
            <a:ext cx="109728" cy="109728"/>
          </a:xfrm>
          <a:prstGeom prst="ellipse">
            <a:avLst/>
          </a:prstGeom>
          <a:solidFill>
            <a:srgbClr val="2E6FD6"/>
          </a:solidFill>
          <a:ln w="12700">
            <a:solidFill>
              <a:srgbClr val="2E6FD6"/>
            </a:solidFill>
            <a:prstDash val="solid"/>
          </a:ln>
        </p:spPr>
      </p:sp>
      <p:sp>
        <p:nvSpPr>
          <p:cNvPr id="6" name="Text 4"/>
          <p:cNvSpPr/>
          <p:nvPr/>
        </p:nvSpPr>
        <p:spPr>
          <a:xfrm>
            <a:off x="9464954" y="548640"/>
            <a:ext cx="1940357" cy="365760"/>
          </a:xfrm>
          <a:prstGeom prst="rect">
            <a:avLst/>
          </a:prstGeom>
          <a:noFill/>
          <a:ln/>
        </p:spPr>
        <p:txBody>
          <a:bodyPr wrap="square" lIns="0" tIns="0" rIns="0" bIns="0" rtlCol="0" anchor="ctr"/>
          <a:lstStyle/>
          <a:p>
            <a:pPr indent="0" marL="0">
              <a:buNone/>
            </a:pPr>
            <a:r>
              <a:rPr lang="en-US" sz="900" b="1" spc="80" kern="0" dirty="0">
                <a:solidFill>
                  <a:srgbClr val="0B1D31"/>
                </a:solidFill>
                <a:latin typeface="Arial" pitchFamily="34" charset="0"/>
                <a:ea typeface="Arial" pitchFamily="34" charset="-122"/>
                <a:cs typeface="Arial" pitchFamily="34" charset="-120"/>
              </a:rPr>
              <a:t>ADOBE ARCHITECT   ·   5 MIN</a:t>
            </a:r>
            <a:endParaRPr lang="en-US" sz="900" dirty="0"/>
          </a:p>
        </p:txBody>
      </p:sp>
      <p:sp>
        <p:nvSpPr>
          <p:cNvPr id="7" name="Shape 5"/>
          <p:cNvSpPr/>
          <p:nvPr/>
        </p:nvSpPr>
        <p:spPr>
          <a:xfrm>
            <a:off x="640080" y="1828800"/>
            <a:ext cx="4937760" cy="3840480"/>
          </a:xfrm>
          <a:prstGeom prst="roundRect">
            <a:avLst>
              <a:gd name="adj" fmla="val 1905"/>
            </a:avLst>
          </a:prstGeom>
          <a:solidFill>
            <a:srgbClr val="E4ECFB"/>
          </a:solidFill>
          <a:ln w="12700">
            <a:solidFill>
              <a:srgbClr val="E4ECFB"/>
            </a:solidFill>
            <a:prstDash val="solid"/>
          </a:ln>
        </p:spPr>
      </p:sp>
      <p:sp>
        <p:nvSpPr>
          <p:cNvPr id="8" name="Shape 6"/>
          <p:cNvSpPr/>
          <p:nvPr/>
        </p:nvSpPr>
        <p:spPr>
          <a:xfrm>
            <a:off x="1005840" y="2148840"/>
            <a:ext cx="603504" cy="603504"/>
          </a:xfrm>
          <a:prstGeom prst="ellipse">
            <a:avLst/>
          </a:prstGeom>
          <a:solidFill>
            <a:srgbClr val="FFFFFF"/>
          </a:solidFill>
          <a:ln w="12700">
            <a:solidFill>
              <a:srgbClr val="FFFFFF"/>
            </a:solidFill>
            <a:prstDash val="solid"/>
          </a:ln>
        </p:spPr>
      </p:sp>
      <p:pic>
        <p:nvPicPr>
          <p:cNvPr id="9" name="Image 0" descr="/home/claude/work/icons/award_adobe.png">    </p:cNvPr>
          <p:cNvPicPr>
            <a:picLocks noChangeAspect="1"/>
          </p:cNvPicPr>
          <p:nvPr/>
        </p:nvPicPr>
        <p:blipFill>
          <a:blip r:embed="rId1"/>
          <a:stretch>
            <a:fillRect/>
          </a:stretch>
        </p:blipFill>
        <p:spPr>
          <a:xfrm>
            <a:off x="1152144" y="2295144"/>
            <a:ext cx="310896" cy="310896"/>
          </a:xfrm>
          <a:prstGeom prst="rect">
            <a:avLst/>
          </a:prstGeom>
        </p:spPr>
      </p:pic>
      <p:sp>
        <p:nvSpPr>
          <p:cNvPr id="10" name="Text 7"/>
          <p:cNvSpPr/>
          <p:nvPr/>
        </p:nvSpPr>
        <p:spPr>
          <a:xfrm>
            <a:off x="1737360" y="2148840"/>
            <a:ext cx="3657600" cy="603504"/>
          </a:xfrm>
          <a:prstGeom prst="rect">
            <a:avLst/>
          </a:prstGeom>
          <a:noFill/>
          <a:ln/>
        </p:spPr>
        <p:txBody>
          <a:bodyPr wrap="square" lIns="0" tIns="0" rIns="0" bIns="0" rtlCol="0" anchor="ctr"/>
          <a:lstStyle/>
          <a:p>
            <a:pPr indent="0" marL="0">
              <a:buNone/>
            </a:pPr>
            <a:r>
              <a:rPr lang="en-US" sz="1000" b="1" spc="120" kern="0" dirty="0">
                <a:solidFill>
                  <a:srgbClr val="2E6FD6"/>
                </a:solidFill>
                <a:latin typeface="Arial" pitchFamily="34" charset="0"/>
                <a:ea typeface="Arial" pitchFamily="34" charset="-122"/>
                <a:cs typeface="Arial" pitchFamily="34" charset="-120"/>
              </a:rPr>
              <a:t>WHAT AN ADOBE RAPID DEPLOYMENT SOLUTION IS</a:t>
            </a:r>
            <a:endParaRPr lang="en-US" sz="1000" dirty="0"/>
          </a:p>
        </p:txBody>
      </p:sp>
      <p:sp>
        <p:nvSpPr>
          <p:cNvPr id="11" name="Text 8"/>
          <p:cNvSpPr/>
          <p:nvPr/>
        </p:nvSpPr>
        <p:spPr>
          <a:xfrm>
            <a:off x="1005840" y="2926080"/>
            <a:ext cx="4297680" cy="1234440"/>
          </a:xfrm>
          <a:prstGeom prst="rect">
            <a:avLst/>
          </a:prstGeom>
          <a:noFill/>
          <a:ln/>
        </p:spPr>
        <p:txBody>
          <a:bodyPr wrap="square" lIns="0" tIns="0" rIns="0" bIns="0" rtlCol="0" anchor="t"/>
          <a:lstStyle/>
          <a:p>
            <a:pPr indent="0" marL="0">
              <a:lnSpc>
                <a:spcPct val="122000"/>
              </a:lnSpc>
              <a:buNone/>
            </a:pPr>
            <a:r>
              <a:rPr lang="en-US" sz="1300" dirty="0">
                <a:solidFill>
                  <a:srgbClr val="0B1D31"/>
                </a:solidFill>
                <a:latin typeface="Arial" pitchFamily="34" charset="0"/>
                <a:ea typeface="Arial" pitchFamily="34" charset="-122"/>
                <a:cs typeface="Arial" pitchFamily="34" charset="-120"/>
              </a:rPr>
              <a:t>A predefined service package that simplifies and speeds up implementing one or more Adobe products — using consistent configuration patterns and repeatable deployment steps.</a:t>
            </a:r>
            <a:endParaRPr lang="en-US" sz="1300" dirty="0"/>
          </a:p>
        </p:txBody>
      </p:sp>
      <p:sp>
        <p:nvSpPr>
          <p:cNvPr id="12" name="Text 9"/>
          <p:cNvSpPr/>
          <p:nvPr/>
        </p:nvSpPr>
        <p:spPr>
          <a:xfrm>
            <a:off x="1005840" y="4224528"/>
            <a:ext cx="4297680" cy="640080"/>
          </a:xfrm>
          <a:prstGeom prst="rect">
            <a:avLst/>
          </a:prstGeom>
          <a:noFill/>
          <a:ln/>
        </p:spPr>
        <p:txBody>
          <a:bodyPr wrap="square" lIns="0" tIns="0" rIns="0" bIns="0" rtlCol="0" anchor="t"/>
          <a:lstStyle/>
          <a:p>
            <a:pPr indent="0" marL="0">
              <a:lnSpc>
                <a:spcPct val="115000"/>
              </a:lnSpc>
              <a:buNone/>
            </a:pPr>
            <a:r>
              <a:rPr lang="en-US" sz="1450" dirty="0">
                <a:solidFill>
                  <a:srgbClr val="082340"/>
                </a:solidFill>
                <a:latin typeface="Cambria" pitchFamily="34" charset="0"/>
                <a:ea typeface="Cambria" pitchFamily="34" charset="-122"/>
                <a:cs typeface="Cambria" pitchFamily="34" charset="-120"/>
              </a:rPr>
              <a:t>Verified technically by Adobe experts. Market-tested. Published on Adobe Exchange.</a:t>
            </a:r>
            <a:endParaRPr lang="en-US" sz="1450" dirty="0"/>
          </a:p>
        </p:txBody>
      </p:sp>
      <p:sp>
        <p:nvSpPr>
          <p:cNvPr id="13" name="Text 10"/>
          <p:cNvSpPr/>
          <p:nvPr/>
        </p:nvSpPr>
        <p:spPr>
          <a:xfrm>
            <a:off x="1005840" y="5029200"/>
            <a:ext cx="4297680" cy="502920"/>
          </a:xfrm>
          <a:prstGeom prst="rect">
            <a:avLst/>
          </a:prstGeom>
          <a:noFill/>
          <a:ln/>
        </p:spPr>
        <p:txBody>
          <a:bodyPr wrap="square" lIns="0" tIns="0" rIns="0" bIns="0" rtlCol="0" anchor="t"/>
          <a:lstStyle/>
          <a:p>
            <a:pPr indent="0" marL="0">
              <a:lnSpc>
                <a:spcPct val="115000"/>
              </a:lnSpc>
              <a:buNone/>
            </a:pPr>
            <a:r>
              <a:rPr lang="en-US" sz="1100" b="1" dirty="0">
                <a:solidFill>
                  <a:srgbClr val="2E6FD6"/>
                </a:solidFill>
                <a:latin typeface="Arial" pitchFamily="34" charset="0"/>
                <a:ea typeface="Arial" pitchFamily="34" charset="-122"/>
                <a:cs typeface="Arial" pitchFamily="34" charset="-120"/>
              </a:rPr>
              <a:t>Coforge's first — for airline customer intelligence &amp; personalisation.</a:t>
            </a:r>
            <a:endParaRPr lang="en-US" sz="1100" dirty="0"/>
          </a:p>
        </p:txBody>
      </p:sp>
      <p:sp>
        <p:nvSpPr>
          <p:cNvPr id="14" name="Shape 11"/>
          <p:cNvSpPr/>
          <p:nvPr/>
        </p:nvSpPr>
        <p:spPr>
          <a:xfrm>
            <a:off x="5961888" y="1828800"/>
            <a:ext cx="5589727" cy="1188720"/>
          </a:xfrm>
          <a:prstGeom prst="roundRect">
            <a:avLst>
              <a:gd name="adj" fmla="val 6154"/>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15" name="Shape 12"/>
          <p:cNvSpPr/>
          <p:nvPr/>
        </p:nvSpPr>
        <p:spPr>
          <a:xfrm>
            <a:off x="6236208" y="2139696"/>
            <a:ext cx="566928" cy="566928"/>
          </a:xfrm>
          <a:prstGeom prst="ellipse">
            <a:avLst/>
          </a:prstGeom>
          <a:solidFill>
            <a:srgbClr val="E4ECFB"/>
          </a:solidFill>
          <a:ln w="12700">
            <a:solidFill>
              <a:srgbClr val="E4ECFB"/>
            </a:solidFill>
            <a:prstDash val="solid"/>
          </a:ln>
        </p:spPr>
      </p:sp>
      <p:pic>
        <p:nvPicPr>
          <p:cNvPr id="16" name="Image 1" descr="/home/claude/work/icons/link_adobe.png">    </p:cNvPr>
          <p:cNvPicPr>
            <a:picLocks noChangeAspect="1"/>
          </p:cNvPicPr>
          <p:nvPr/>
        </p:nvPicPr>
        <p:blipFill>
          <a:blip r:embed="rId2"/>
          <a:stretch>
            <a:fillRect/>
          </a:stretch>
        </p:blipFill>
        <p:spPr>
          <a:xfrm>
            <a:off x="6382512" y="2286000"/>
            <a:ext cx="274320" cy="274320"/>
          </a:xfrm>
          <a:prstGeom prst="rect">
            <a:avLst/>
          </a:prstGeom>
        </p:spPr>
      </p:pic>
      <p:sp>
        <p:nvSpPr>
          <p:cNvPr id="17" name="Text 13"/>
          <p:cNvSpPr/>
          <p:nvPr/>
        </p:nvSpPr>
        <p:spPr>
          <a:xfrm>
            <a:off x="6931152" y="2048256"/>
            <a:ext cx="4355287" cy="329184"/>
          </a:xfrm>
          <a:prstGeom prst="rect">
            <a:avLst/>
          </a:prstGeom>
          <a:noFill/>
          <a:ln/>
        </p:spPr>
        <p:txBody>
          <a:bodyPr wrap="square" lIns="0" tIns="0" rIns="0" bIns="0" rtlCol="0" anchor="ctr"/>
          <a:lstStyle/>
          <a:p>
            <a:pPr indent="0" marL="0">
              <a:buNone/>
            </a:pPr>
            <a:r>
              <a:rPr lang="en-US" sz="1450" b="1" dirty="0">
                <a:solidFill>
                  <a:srgbClr val="0B1D31"/>
                </a:solidFill>
                <a:latin typeface="Arial" pitchFamily="34" charset="0"/>
                <a:ea typeface="Arial" pitchFamily="34" charset="-122"/>
                <a:cs typeface="Arial" pitchFamily="34" charset="-120"/>
              </a:rPr>
              <a:t>Ecosystem alignment</a:t>
            </a:r>
            <a:endParaRPr lang="en-US" sz="1450" dirty="0"/>
          </a:p>
        </p:txBody>
      </p:sp>
      <p:sp>
        <p:nvSpPr>
          <p:cNvPr id="18" name="Text 14"/>
          <p:cNvSpPr/>
          <p:nvPr/>
        </p:nvSpPr>
        <p:spPr>
          <a:xfrm>
            <a:off x="6931152" y="2377440"/>
            <a:ext cx="4355287" cy="548640"/>
          </a:xfrm>
          <a:prstGeom prst="rect">
            <a:avLst/>
          </a:prstGeom>
          <a:noFill/>
          <a:ln/>
        </p:spPr>
        <p:txBody>
          <a:bodyPr wrap="square" lIns="0" tIns="0" rIns="0" bIns="0" rtlCol="0" anchor="t"/>
          <a:lstStyle/>
          <a:p>
            <a:pPr indent="0" marL="0">
              <a:lnSpc>
                <a:spcPct val="116000"/>
              </a:lnSpc>
              <a:buNone/>
            </a:pPr>
            <a:r>
              <a:rPr lang="en-US" sz="1050" dirty="0">
                <a:solidFill>
                  <a:srgbClr val="5F7085"/>
                </a:solidFill>
                <a:latin typeface="Arial" pitchFamily="34" charset="0"/>
                <a:ea typeface="Arial" pitchFamily="34" charset="-122"/>
                <a:cs typeface="Arial" pitchFamily="34" charset="-120"/>
              </a:rPr>
              <a:t>It runs on Adobe Experience Platform, Journey Optimizer, CJA, AEM and Target — deepening, not bypassing, the customer's Adobe investment.</a:t>
            </a:r>
            <a:endParaRPr lang="en-US" sz="1050" dirty="0"/>
          </a:p>
        </p:txBody>
      </p:sp>
      <p:sp>
        <p:nvSpPr>
          <p:cNvPr id="19" name="Shape 15"/>
          <p:cNvSpPr/>
          <p:nvPr/>
        </p:nvSpPr>
        <p:spPr>
          <a:xfrm>
            <a:off x="5961888" y="3127248"/>
            <a:ext cx="5589727" cy="1188720"/>
          </a:xfrm>
          <a:prstGeom prst="roundRect">
            <a:avLst>
              <a:gd name="adj" fmla="val 6154"/>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20" name="Shape 16"/>
          <p:cNvSpPr/>
          <p:nvPr/>
        </p:nvSpPr>
        <p:spPr>
          <a:xfrm>
            <a:off x="6236208" y="3438144"/>
            <a:ext cx="566928" cy="566928"/>
          </a:xfrm>
          <a:prstGeom prst="ellipse">
            <a:avLst/>
          </a:prstGeom>
          <a:solidFill>
            <a:srgbClr val="E4ECFB"/>
          </a:solidFill>
          <a:ln w="12700">
            <a:solidFill>
              <a:srgbClr val="E4ECFB"/>
            </a:solidFill>
            <a:prstDash val="solid"/>
          </a:ln>
        </p:spPr>
      </p:sp>
      <p:pic>
        <p:nvPicPr>
          <p:cNvPr id="21" name="Image 2" descr="/home/claude/work/icons/shield_adobe.png">    </p:cNvPr>
          <p:cNvPicPr>
            <a:picLocks noChangeAspect="1"/>
          </p:cNvPicPr>
          <p:nvPr/>
        </p:nvPicPr>
        <p:blipFill>
          <a:blip r:embed="rId3"/>
          <a:stretch>
            <a:fillRect/>
          </a:stretch>
        </p:blipFill>
        <p:spPr>
          <a:xfrm>
            <a:off x="6382512" y="3584448"/>
            <a:ext cx="274320" cy="274320"/>
          </a:xfrm>
          <a:prstGeom prst="rect">
            <a:avLst/>
          </a:prstGeom>
        </p:spPr>
      </p:pic>
      <p:sp>
        <p:nvSpPr>
          <p:cNvPr id="22" name="Text 17"/>
          <p:cNvSpPr/>
          <p:nvPr/>
        </p:nvSpPr>
        <p:spPr>
          <a:xfrm>
            <a:off x="6931152" y="3346704"/>
            <a:ext cx="4355287" cy="329184"/>
          </a:xfrm>
          <a:prstGeom prst="rect">
            <a:avLst/>
          </a:prstGeom>
          <a:noFill/>
          <a:ln/>
        </p:spPr>
        <p:txBody>
          <a:bodyPr wrap="square" lIns="0" tIns="0" rIns="0" bIns="0" rtlCol="0" anchor="ctr"/>
          <a:lstStyle/>
          <a:p>
            <a:pPr indent="0" marL="0">
              <a:buNone/>
            </a:pPr>
            <a:r>
              <a:rPr lang="en-US" sz="1450" b="1" dirty="0">
                <a:solidFill>
                  <a:srgbClr val="0B1D31"/>
                </a:solidFill>
                <a:latin typeface="Arial" pitchFamily="34" charset="0"/>
                <a:ea typeface="Arial" pitchFamily="34" charset="-122"/>
                <a:cs typeface="Arial" pitchFamily="34" charset="-120"/>
              </a:rPr>
              <a:t>The validation process</a:t>
            </a:r>
            <a:endParaRPr lang="en-US" sz="1450" dirty="0"/>
          </a:p>
        </p:txBody>
      </p:sp>
      <p:sp>
        <p:nvSpPr>
          <p:cNvPr id="23" name="Text 18"/>
          <p:cNvSpPr/>
          <p:nvPr/>
        </p:nvSpPr>
        <p:spPr>
          <a:xfrm>
            <a:off x="6931152" y="3675888"/>
            <a:ext cx="4355287" cy="548640"/>
          </a:xfrm>
          <a:prstGeom prst="rect">
            <a:avLst/>
          </a:prstGeom>
          <a:noFill/>
          <a:ln/>
        </p:spPr>
        <p:txBody>
          <a:bodyPr wrap="square" lIns="0" tIns="0" rIns="0" bIns="0" rtlCol="0" anchor="t"/>
          <a:lstStyle/>
          <a:p>
            <a:pPr indent="0" marL="0">
              <a:lnSpc>
                <a:spcPct val="116000"/>
              </a:lnSpc>
              <a:buNone/>
            </a:pPr>
            <a:r>
              <a:rPr lang="en-US" sz="1050" dirty="0">
                <a:solidFill>
                  <a:srgbClr val="5F7085"/>
                </a:solidFill>
                <a:latin typeface="Arial" pitchFamily="34" charset="0"/>
                <a:ea typeface="Arial" pitchFamily="34" charset="-122"/>
                <a:cs typeface="Arial" pitchFamily="34" charset="-120"/>
              </a:rPr>
              <a:t>Adobe experts review the architecture, the configuration patterns and the outcomes before anything earns the designation.</a:t>
            </a:r>
            <a:endParaRPr lang="en-US" sz="1050" dirty="0"/>
          </a:p>
        </p:txBody>
      </p:sp>
      <p:sp>
        <p:nvSpPr>
          <p:cNvPr id="24" name="Shape 19"/>
          <p:cNvSpPr/>
          <p:nvPr/>
        </p:nvSpPr>
        <p:spPr>
          <a:xfrm>
            <a:off x="5961888" y="4425696"/>
            <a:ext cx="5589727" cy="1188720"/>
          </a:xfrm>
          <a:prstGeom prst="roundRect">
            <a:avLst>
              <a:gd name="adj" fmla="val 6154"/>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25" name="Shape 20"/>
          <p:cNvSpPr/>
          <p:nvPr/>
        </p:nvSpPr>
        <p:spPr>
          <a:xfrm>
            <a:off x="6236208" y="4736592"/>
            <a:ext cx="566928" cy="566928"/>
          </a:xfrm>
          <a:prstGeom prst="ellipse">
            <a:avLst/>
          </a:prstGeom>
          <a:solidFill>
            <a:srgbClr val="E4ECFB"/>
          </a:solidFill>
          <a:ln w="12700">
            <a:solidFill>
              <a:srgbClr val="E4ECFB"/>
            </a:solidFill>
            <a:prstDash val="solid"/>
          </a:ln>
        </p:spPr>
      </p:sp>
      <p:pic>
        <p:nvPicPr>
          <p:cNvPr id="26" name="Image 3" descr="/home/claude/work/icons/award_adobe.png">    </p:cNvPr>
          <p:cNvPicPr>
            <a:picLocks noChangeAspect="1"/>
          </p:cNvPicPr>
          <p:nvPr/>
        </p:nvPicPr>
        <p:blipFill>
          <a:blip r:embed="rId4"/>
          <a:stretch>
            <a:fillRect/>
          </a:stretch>
        </p:blipFill>
        <p:spPr>
          <a:xfrm>
            <a:off x="6382512" y="4882896"/>
            <a:ext cx="274320" cy="274320"/>
          </a:xfrm>
          <a:prstGeom prst="rect">
            <a:avLst/>
          </a:prstGeom>
        </p:spPr>
      </p:pic>
      <p:sp>
        <p:nvSpPr>
          <p:cNvPr id="27" name="Text 21"/>
          <p:cNvSpPr/>
          <p:nvPr/>
        </p:nvSpPr>
        <p:spPr>
          <a:xfrm>
            <a:off x="6931152" y="4645152"/>
            <a:ext cx="4355287" cy="329184"/>
          </a:xfrm>
          <a:prstGeom prst="rect">
            <a:avLst/>
          </a:prstGeom>
          <a:noFill/>
          <a:ln/>
        </p:spPr>
        <p:txBody>
          <a:bodyPr wrap="square" lIns="0" tIns="0" rIns="0" bIns="0" rtlCol="0" anchor="ctr"/>
          <a:lstStyle/>
          <a:p>
            <a:pPr indent="0" marL="0">
              <a:buNone/>
            </a:pPr>
            <a:r>
              <a:rPr lang="en-US" sz="1450" b="1" dirty="0">
                <a:solidFill>
                  <a:srgbClr val="0B1D31"/>
                </a:solidFill>
                <a:latin typeface="Arial" pitchFamily="34" charset="0"/>
                <a:ea typeface="Arial" pitchFamily="34" charset="-122"/>
                <a:cs typeface="Arial" pitchFamily="34" charset="-120"/>
              </a:rPr>
              <a:t>Why the badge matters</a:t>
            </a:r>
            <a:endParaRPr lang="en-US" sz="1450" dirty="0"/>
          </a:p>
        </p:txBody>
      </p:sp>
      <p:sp>
        <p:nvSpPr>
          <p:cNvPr id="28" name="Text 22"/>
          <p:cNvSpPr/>
          <p:nvPr/>
        </p:nvSpPr>
        <p:spPr>
          <a:xfrm>
            <a:off x="6931152" y="4974336"/>
            <a:ext cx="4355287" cy="548640"/>
          </a:xfrm>
          <a:prstGeom prst="rect">
            <a:avLst/>
          </a:prstGeom>
          <a:noFill/>
          <a:ln/>
        </p:spPr>
        <p:txBody>
          <a:bodyPr wrap="square" lIns="0" tIns="0" rIns="0" bIns="0" rtlCol="0" anchor="t"/>
          <a:lstStyle/>
          <a:p>
            <a:pPr indent="0" marL="0">
              <a:lnSpc>
                <a:spcPct val="116000"/>
              </a:lnSpc>
              <a:buNone/>
            </a:pPr>
            <a:r>
              <a:rPr lang="en-US" sz="1050" dirty="0">
                <a:solidFill>
                  <a:srgbClr val="5F7085"/>
                </a:solidFill>
                <a:latin typeface="Arial" pitchFamily="34" charset="0"/>
                <a:ea typeface="Arial" pitchFamily="34" charset="-122"/>
                <a:cs typeface="Arial" pitchFamily="34" charset="-120"/>
              </a:rPr>
              <a:t>For the customer, assurance. For Coforge, a listing on Adobe Exchange and Adobe sellers who can now co-sell our solution.</a:t>
            </a:r>
            <a:endParaRPr lang="en-US" sz="1050" dirty="0"/>
          </a:p>
        </p:txBody>
      </p:sp>
      <p:sp>
        <p:nvSpPr>
          <p:cNvPr id="29" name="Text 23"/>
          <p:cNvSpPr/>
          <p:nvPr/>
        </p:nvSpPr>
        <p:spPr>
          <a:xfrm>
            <a:off x="640080" y="6428232"/>
            <a:ext cx="5486400" cy="228600"/>
          </a:xfrm>
          <a:prstGeom prst="rect">
            <a:avLst/>
          </a:prstGeom>
          <a:noFill/>
          <a:ln/>
        </p:spPr>
        <p:txBody>
          <a:bodyPr wrap="square" lIns="0" tIns="0" rIns="0" bIns="0" rtlCol="0" anchor="ctr"/>
          <a:lstStyle/>
          <a:p>
            <a:pPr indent="0" marL="0">
              <a:buNone/>
            </a:pPr>
            <a:r>
              <a:rPr lang="en-US" sz="800" spc="140" kern="0" dirty="0">
                <a:solidFill>
                  <a:srgbClr val="5F7085"/>
                </a:solidFill>
                <a:latin typeface="Arial" pitchFamily="34" charset="0"/>
                <a:ea typeface="Arial" pitchFamily="34" charset="-122"/>
                <a:cs typeface="Arial" pitchFamily="34" charset="-120"/>
              </a:rPr>
              <a:t>VOYAGER.AI ALL-HANDS   ·   COFORGE  ×  ADOBE</a:t>
            </a:r>
            <a:endParaRPr lang="en-US" sz="800" dirty="0"/>
          </a:p>
        </p:txBody>
      </p:sp>
      <p:sp>
        <p:nvSpPr>
          <p:cNvPr id="30" name="Text 24"/>
          <p:cNvSpPr/>
          <p:nvPr/>
        </p:nvSpPr>
        <p:spPr>
          <a:xfrm>
            <a:off x="10637215" y="6428232"/>
            <a:ext cx="914400" cy="228600"/>
          </a:xfrm>
          <a:prstGeom prst="rect">
            <a:avLst/>
          </a:prstGeom>
          <a:noFill/>
          <a:ln/>
        </p:spPr>
        <p:txBody>
          <a:bodyPr wrap="square" lIns="0" tIns="0" rIns="0" bIns="0" rtlCol="0" anchor="ctr"/>
          <a:lstStyle/>
          <a:p>
            <a:pPr algn="r" indent="0" marL="0">
              <a:buNone/>
            </a:pPr>
            <a:r>
              <a:rPr lang="en-US" sz="800" b="1" dirty="0">
                <a:solidFill>
                  <a:srgbClr val="5F7085"/>
                </a:solidFill>
                <a:latin typeface="Arial" pitchFamily="34" charset="0"/>
                <a:ea typeface="Arial" pitchFamily="34" charset="-122"/>
                <a:cs typeface="Arial" pitchFamily="34" charset="-120"/>
              </a:rPr>
              <a:t>03 / 07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8229600" cy="237744"/>
          </a:xfrm>
          <a:prstGeom prst="rect">
            <a:avLst/>
          </a:prstGeom>
          <a:noFill/>
          <a:ln/>
        </p:spPr>
        <p:txBody>
          <a:bodyPr wrap="square" lIns="0" tIns="0" rIns="0" bIns="0" rtlCol="0" anchor="ctr"/>
          <a:lstStyle/>
          <a:p>
            <a:pPr indent="0" marL="0">
              <a:buNone/>
            </a:pPr>
            <a:r>
              <a:rPr lang="en-US" sz="1050" b="1" spc="220" kern="0" dirty="0">
                <a:solidFill>
                  <a:srgbClr val="00A792"/>
                </a:solidFill>
                <a:latin typeface="Arial" pitchFamily="34" charset="0"/>
                <a:ea typeface="Arial" pitchFamily="34" charset="-122"/>
                <a:cs typeface="Arial" pitchFamily="34" charset="-120"/>
              </a:rPr>
              <a:t>AGENDA 04   ·   UNDER THE HOOD</a:t>
            </a:r>
            <a:endParaRPr lang="en-US" sz="1050" dirty="0"/>
          </a:p>
        </p:txBody>
      </p:sp>
      <p:sp>
        <p:nvSpPr>
          <p:cNvPr id="3" name="Text 1"/>
          <p:cNvSpPr/>
          <p:nvPr/>
        </p:nvSpPr>
        <p:spPr>
          <a:xfrm>
            <a:off x="640080" y="914400"/>
            <a:ext cx="8412480" cy="713232"/>
          </a:xfrm>
          <a:prstGeom prst="rect">
            <a:avLst/>
          </a:prstGeom>
          <a:noFill/>
          <a:ln/>
        </p:spPr>
        <p:txBody>
          <a:bodyPr wrap="square" lIns="0" tIns="0" rIns="0" bIns="0" rtlCol="0" anchor="ctr"/>
          <a:lstStyle/>
          <a:p>
            <a:pPr indent="0" marL="0">
              <a:buNone/>
            </a:pPr>
            <a:r>
              <a:rPr lang="en-US" sz="3000" b="1" dirty="0">
                <a:solidFill>
                  <a:srgbClr val="0B1D31"/>
                </a:solidFill>
                <a:latin typeface="Arial" pitchFamily="34" charset="0"/>
                <a:ea typeface="Arial" pitchFamily="34" charset="-122"/>
                <a:cs typeface="Arial" pitchFamily="34" charset="-120"/>
              </a:rPr>
              <a:t>Architecture &amp; solution walkthrough</a:t>
            </a:r>
            <a:endParaRPr lang="en-US" sz="3000" dirty="0"/>
          </a:p>
        </p:txBody>
      </p:sp>
      <p:sp>
        <p:nvSpPr>
          <p:cNvPr id="4" name="Shape 2"/>
          <p:cNvSpPr/>
          <p:nvPr/>
        </p:nvSpPr>
        <p:spPr>
          <a:xfrm>
            <a:off x="8230514" y="548640"/>
            <a:ext cx="3321101" cy="365760"/>
          </a:xfrm>
          <a:prstGeom prst="roundRect">
            <a:avLst>
              <a:gd name="adj" fmla="val 47500"/>
            </a:avLst>
          </a:prstGeom>
          <a:solidFill>
            <a:srgbClr val="F3F6FB"/>
          </a:solidFill>
          <a:ln w="12700">
            <a:solidFill>
              <a:srgbClr val="DBE3EF"/>
            </a:solidFill>
            <a:prstDash val="solid"/>
          </a:ln>
        </p:spPr>
      </p:sp>
      <p:sp>
        <p:nvSpPr>
          <p:cNvPr id="5" name="Shape 3"/>
          <p:cNvSpPr/>
          <p:nvPr/>
        </p:nvSpPr>
        <p:spPr>
          <a:xfrm>
            <a:off x="8431682" y="676656"/>
            <a:ext cx="109728" cy="109728"/>
          </a:xfrm>
          <a:prstGeom prst="ellipse">
            <a:avLst/>
          </a:prstGeom>
          <a:solidFill>
            <a:srgbClr val="00A792"/>
          </a:solidFill>
          <a:ln w="12700">
            <a:solidFill>
              <a:srgbClr val="00A792"/>
            </a:solidFill>
            <a:prstDash val="solid"/>
          </a:ln>
        </p:spPr>
      </p:sp>
      <p:sp>
        <p:nvSpPr>
          <p:cNvPr id="6" name="Shape 4"/>
          <p:cNvSpPr/>
          <p:nvPr/>
        </p:nvSpPr>
        <p:spPr>
          <a:xfrm>
            <a:off x="8605418" y="676656"/>
            <a:ext cx="109728" cy="109728"/>
          </a:xfrm>
          <a:prstGeom prst="ellipse">
            <a:avLst/>
          </a:prstGeom>
          <a:solidFill>
            <a:srgbClr val="2E6FD6"/>
          </a:solidFill>
          <a:ln w="12700">
            <a:solidFill>
              <a:srgbClr val="2E6FD6"/>
            </a:solidFill>
            <a:prstDash val="solid"/>
          </a:ln>
        </p:spPr>
      </p:sp>
      <p:sp>
        <p:nvSpPr>
          <p:cNvPr id="7" name="Text 5"/>
          <p:cNvSpPr/>
          <p:nvPr/>
        </p:nvSpPr>
        <p:spPr>
          <a:xfrm>
            <a:off x="8760866" y="548640"/>
            <a:ext cx="2644445" cy="365760"/>
          </a:xfrm>
          <a:prstGeom prst="rect">
            <a:avLst/>
          </a:prstGeom>
          <a:noFill/>
          <a:ln/>
        </p:spPr>
        <p:txBody>
          <a:bodyPr wrap="square" lIns="0" tIns="0" rIns="0" bIns="0" rtlCol="0" anchor="ctr"/>
          <a:lstStyle/>
          <a:p>
            <a:pPr indent="0" marL="0">
              <a:buNone/>
            </a:pPr>
            <a:r>
              <a:rPr lang="en-US" sz="900" b="1" spc="80" kern="0" dirty="0">
                <a:solidFill>
                  <a:srgbClr val="0B1D31"/>
                </a:solidFill>
                <a:latin typeface="Arial" pitchFamily="34" charset="0"/>
                <a:ea typeface="Arial" pitchFamily="34" charset="-122"/>
                <a:cs typeface="Arial" pitchFamily="34" charset="-120"/>
              </a:rPr>
              <a:t>ANANT  +  ADOBE ARCHITECT   ·   7 MIN</a:t>
            </a:r>
            <a:endParaRPr lang="en-US" sz="900" dirty="0"/>
          </a:p>
        </p:txBody>
      </p:sp>
      <p:sp>
        <p:nvSpPr>
          <p:cNvPr id="8" name="Shape 6"/>
          <p:cNvSpPr/>
          <p:nvPr/>
        </p:nvSpPr>
        <p:spPr>
          <a:xfrm>
            <a:off x="640080" y="1874520"/>
            <a:ext cx="2551176" cy="2788920"/>
          </a:xfrm>
          <a:prstGeom prst="roundRect">
            <a:avLst>
              <a:gd name="adj" fmla="val 2867"/>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9" name="Shape 7"/>
          <p:cNvSpPr/>
          <p:nvPr/>
        </p:nvSpPr>
        <p:spPr>
          <a:xfrm>
            <a:off x="640080" y="1874520"/>
            <a:ext cx="2551176" cy="457200"/>
          </a:xfrm>
          <a:prstGeom prst="roundRect">
            <a:avLst>
              <a:gd name="adj" fmla="val 16000"/>
            </a:avLst>
          </a:prstGeom>
          <a:solidFill>
            <a:srgbClr val="FDEAE5"/>
          </a:solidFill>
          <a:ln w="12700">
            <a:solidFill>
              <a:srgbClr val="FDEAE5"/>
            </a:solidFill>
            <a:prstDash val="solid"/>
          </a:ln>
        </p:spPr>
      </p:sp>
      <p:pic>
        <p:nvPicPr>
          <p:cNvPr id="10" name="Image 0" descr="/home/claude/work/icons/database_coral.png">    </p:cNvPr>
          <p:cNvPicPr>
            <a:picLocks noChangeAspect="1"/>
          </p:cNvPicPr>
          <p:nvPr/>
        </p:nvPicPr>
        <p:blipFill>
          <a:blip r:embed="rId1"/>
          <a:stretch>
            <a:fillRect/>
          </a:stretch>
        </p:blipFill>
        <p:spPr>
          <a:xfrm>
            <a:off x="841248" y="1984248"/>
            <a:ext cx="237744" cy="237744"/>
          </a:xfrm>
          <a:prstGeom prst="rect">
            <a:avLst/>
          </a:prstGeom>
        </p:spPr>
      </p:pic>
      <p:sp>
        <p:nvSpPr>
          <p:cNvPr id="11" name="Text 8"/>
          <p:cNvSpPr/>
          <p:nvPr/>
        </p:nvSpPr>
        <p:spPr>
          <a:xfrm>
            <a:off x="1152144" y="1874520"/>
            <a:ext cx="1947672" cy="457200"/>
          </a:xfrm>
          <a:prstGeom prst="rect">
            <a:avLst/>
          </a:prstGeom>
          <a:noFill/>
          <a:ln/>
        </p:spPr>
        <p:txBody>
          <a:bodyPr wrap="square" lIns="0" tIns="0" rIns="0" bIns="0" rtlCol="0" anchor="ctr"/>
          <a:lstStyle/>
          <a:p>
            <a:pPr indent="0" marL="0">
              <a:buNone/>
            </a:pPr>
            <a:r>
              <a:rPr lang="en-US" sz="950" b="1" spc="60" kern="0" dirty="0">
                <a:solidFill>
                  <a:srgbClr val="F15B40"/>
                </a:solidFill>
                <a:latin typeface="Arial" pitchFamily="34" charset="0"/>
                <a:ea typeface="Arial" pitchFamily="34" charset="-122"/>
                <a:cs typeface="Arial" pitchFamily="34" charset="-120"/>
              </a:rPr>
              <a:t>DATA SOURCES</a:t>
            </a:r>
            <a:endParaRPr lang="en-US" sz="950" dirty="0"/>
          </a:p>
        </p:txBody>
      </p:sp>
      <p:sp>
        <p:nvSpPr>
          <p:cNvPr id="12" name="Shape 9"/>
          <p:cNvSpPr/>
          <p:nvPr/>
        </p:nvSpPr>
        <p:spPr>
          <a:xfrm>
            <a:off x="877824" y="2633472"/>
            <a:ext cx="82296" cy="82296"/>
          </a:xfrm>
          <a:prstGeom prst="ellipse">
            <a:avLst/>
          </a:prstGeom>
          <a:solidFill>
            <a:srgbClr val="F15B40"/>
          </a:solidFill>
          <a:ln w="12700">
            <a:solidFill>
              <a:srgbClr val="F15B40"/>
            </a:solidFill>
            <a:prstDash val="solid"/>
          </a:ln>
        </p:spPr>
      </p:sp>
      <p:sp>
        <p:nvSpPr>
          <p:cNvPr id="13" name="Text 10"/>
          <p:cNvSpPr/>
          <p:nvPr/>
        </p:nvSpPr>
        <p:spPr>
          <a:xfrm>
            <a:off x="1060704" y="2532888"/>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PSS / Sabre — bookings, PNRs, fares</a:t>
            </a:r>
            <a:endParaRPr lang="en-US" sz="1000" dirty="0"/>
          </a:p>
        </p:txBody>
      </p:sp>
      <p:sp>
        <p:nvSpPr>
          <p:cNvPr id="14" name="Shape 11"/>
          <p:cNvSpPr/>
          <p:nvPr/>
        </p:nvSpPr>
        <p:spPr>
          <a:xfrm>
            <a:off x="877824" y="3145536"/>
            <a:ext cx="82296" cy="82296"/>
          </a:xfrm>
          <a:prstGeom prst="ellipse">
            <a:avLst/>
          </a:prstGeom>
          <a:solidFill>
            <a:srgbClr val="F15B40"/>
          </a:solidFill>
          <a:ln w="12700">
            <a:solidFill>
              <a:srgbClr val="F15B40"/>
            </a:solidFill>
            <a:prstDash val="solid"/>
          </a:ln>
        </p:spPr>
      </p:sp>
      <p:sp>
        <p:nvSpPr>
          <p:cNvPr id="15" name="Text 12"/>
          <p:cNvSpPr/>
          <p:nvPr/>
        </p:nvSpPr>
        <p:spPr>
          <a:xfrm>
            <a:off x="1060704" y="3044952"/>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Web &amp; app behaviour</a:t>
            </a:r>
            <a:endParaRPr lang="en-US" sz="1000" dirty="0"/>
          </a:p>
        </p:txBody>
      </p:sp>
      <p:sp>
        <p:nvSpPr>
          <p:cNvPr id="16" name="Shape 13"/>
          <p:cNvSpPr/>
          <p:nvPr/>
        </p:nvSpPr>
        <p:spPr>
          <a:xfrm>
            <a:off x="877824" y="3657600"/>
            <a:ext cx="82296" cy="82296"/>
          </a:xfrm>
          <a:prstGeom prst="ellipse">
            <a:avLst/>
          </a:prstGeom>
          <a:solidFill>
            <a:srgbClr val="F15B40"/>
          </a:solidFill>
          <a:ln w="12700">
            <a:solidFill>
              <a:srgbClr val="F15B40"/>
            </a:solidFill>
            <a:prstDash val="solid"/>
          </a:ln>
        </p:spPr>
      </p:sp>
      <p:sp>
        <p:nvSpPr>
          <p:cNvPr id="17" name="Text 14"/>
          <p:cNvSpPr/>
          <p:nvPr/>
        </p:nvSpPr>
        <p:spPr>
          <a:xfrm>
            <a:off x="1060704" y="3557016"/>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Loyalty &amp; tier data</a:t>
            </a:r>
            <a:endParaRPr lang="en-US" sz="1000" dirty="0"/>
          </a:p>
        </p:txBody>
      </p:sp>
      <p:sp>
        <p:nvSpPr>
          <p:cNvPr id="18" name="Shape 15"/>
          <p:cNvSpPr/>
          <p:nvPr/>
        </p:nvSpPr>
        <p:spPr>
          <a:xfrm>
            <a:off x="877824" y="4169664"/>
            <a:ext cx="82296" cy="82296"/>
          </a:xfrm>
          <a:prstGeom prst="ellipse">
            <a:avLst/>
          </a:prstGeom>
          <a:solidFill>
            <a:srgbClr val="F15B40"/>
          </a:solidFill>
          <a:ln w="12700">
            <a:solidFill>
              <a:srgbClr val="F15B40"/>
            </a:solidFill>
            <a:prstDash val="solid"/>
          </a:ln>
        </p:spPr>
      </p:sp>
      <p:sp>
        <p:nvSpPr>
          <p:cNvPr id="19" name="Text 16"/>
          <p:cNvSpPr/>
          <p:nvPr/>
        </p:nvSpPr>
        <p:spPr>
          <a:xfrm>
            <a:off x="1060704" y="4069080"/>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Live operations &amp; disruption</a:t>
            </a:r>
            <a:endParaRPr lang="en-US" sz="1000" dirty="0"/>
          </a:p>
        </p:txBody>
      </p:sp>
      <p:sp>
        <p:nvSpPr>
          <p:cNvPr id="20" name="Text 17"/>
          <p:cNvSpPr/>
          <p:nvPr/>
        </p:nvSpPr>
        <p:spPr>
          <a:xfrm>
            <a:off x="3172968" y="3012948"/>
            <a:ext cx="210312" cy="512064"/>
          </a:xfrm>
          <a:prstGeom prst="rect">
            <a:avLst/>
          </a:prstGeom>
          <a:noFill/>
          <a:ln/>
        </p:spPr>
        <p:txBody>
          <a:bodyPr wrap="square" lIns="0" tIns="0" rIns="0" bIns="0" rtlCol="0" anchor="ctr"/>
          <a:lstStyle/>
          <a:p>
            <a:pPr algn="ctr" indent="0" marL="0">
              <a:buNone/>
            </a:pPr>
            <a:r>
              <a:rPr lang="en-US" sz="2400" b="1" dirty="0">
                <a:solidFill>
                  <a:srgbClr val="8FA6C4"/>
                </a:solidFill>
                <a:latin typeface="Arial" pitchFamily="34" charset="0"/>
                <a:ea typeface="Arial" pitchFamily="34" charset="-122"/>
                <a:cs typeface="Arial" pitchFamily="34" charset="-120"/>
              </a:rPr>
              <a:t>›</a:t>
            </a:r>
            <a:endParaRPr lang="en-US" sz="2400" dirty="0"/>
          </a:p>
        </p:txBody>
      </p:sp>
      <p:sp>
        <p:nvSpPr>
          <p:cNvPr id="21" name="Shape 18"/>
          <p:cNvSpPr/>
          <p:nvPr/>
        </p:nvSpPr>
        <p:spPr>
          <a:xfrm>
            <a:off x="3364992" y="1874520"/>
            <a:ext cx="2551176" cy="2788920"/>
          </a:xfrm>
          <a:prstGeom prst="roundRect">
            <a:avLst>
              <a:gd name="adj" fmla="val 2867"/>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22" name="Shape 19"/>
          <p:cNvSpPr/>
          <p:nvPr/>
        </p:nvSpPr>
        <p:spPr>
          <a:xfrm>
            <a:off x="3364992" y="1874520"/>
            <a:ext cx="2551176" cy="457200"/>
          </a:xfrm>
          <a:prstGeom prst="roundRect">
            <a:avLst>
              <a:gd name="adj" fmla="val 16000"/>
            </a:avLst>
          </a:prstGeom>
          <a:solidFill>
            <a:srgbClr val="E4ECFB"/>
          </a:solidFill>
          <a:ln w="12700">
            <a:solidFill>
              <a:srgbClr val="E4ECFB"/>
            </a:solidFill>
            <a:prstDash val="solid"/>
          </a:ln>
        </p:spPr>
      </p:sp>
      <p:pic>
        <p:nvPicPr>
          <p:cNvPr id="23" name="Image 1" descr="/home/claude/work/icons/layers_adobe.png">    </p:cNvPr>
          <p:cNvPicPr>
            <a:picLocks noChangeAspect="1"/>
          </p:cNvPicPr>
          <p:nvPr/>
        </p:nvPicPr>
        <p:blipFill>
          <a:blip r:embed="rId2"/>
          <a:stretch>
            <a:fillRect/>
          </a:stretch>
        </p:blipFill>
        <p:spPr>
          <a:xfrm>
            <a:off x="3566160" y="1984248"/>
            <a:ext cx="237744" cy="237744"/>
          </a:xfrm>
          <a:prstGeom prst="rect">
            <a:avLst/>
          </a:prstGeom>
        </p:spPr>
      </p:pic>
      <p:sp>
        <p:nvSpPr>
          <p:cNvPr id="24" name="Text 20"/>
          <p:cNvSpPr/>
          <p:nvPr/>
        </p:nvSpPr>
        <p:spPr>
          <a:xfrm>
            <a:off x="3877056" y="1874520"/>
            <a:ext cx="1947672" cy="457200"/>
          </a:xfrm>
          <a:prstGeom prst="rect">
            <a:avLst/>
          </a:prstGeom>
          <a:noFill/>
          <a:ln/>
        </p:spPr>
        <p:txBody>
          <a:bodyPr wrap="square" lIns="0" tIns="0" rIns="0" bIns="0" rtlCol="0" anchor="ctr"/>
          <a:lstStyle/>
          <a:p>
            <a:pPr indent="0" marL="0">
              <a:buNone/>
            </a:pPr>
            <a:r>
              <a:rPr lang="en-US" sz="950" b="1" spc="60" kern="0" dirty="0">
                <a:solidFill>
                  <a:srgbClr val="2E6FD6"/>
                </a:solidFill>
                <a:latin typeface="Arial" pitchFamily="34" charset="0"/>
                <a:ea typeface="Arial" pitchFamily="34" charset="-122"/>
                <a:cs typeface="Arial" pitchFamily="34" charset="-120"/>
              </a:rPr>
              <a:t>ADOBE EXPERIENCE PLATFORM</a:t>
            </a:r>
            <a:endParaRPr lang="en-US" sz="950" dirty="0"/>
          </a:p>
        </p:txBody>
      </p:sp>
      <p:sp>
        <p:nvSpPr>
          <p:cNvPr id="25" name="Shape 21"/>
          <p:cNvSpPr/>
          <p:nvPr/>
        </p:nvSpPr>
        <p:spPr>
          <a:xfrm>
            <a:off x="3602736" y="2633472"/>
            <a:ext cx="82296" cy="82296"/>
          </a:xfrm>
          <a:prstGeom prst="ellipse">
            <a:avLst/>
          </a:prstGeom>
          <a:solidFill>
            <a:srgbClr val="2E6FD6"/>
          </a:solidFill>
          <a:ln w="12700">
            <a:solidFill>
              <a:srgbClr val="2E6FD6"/>
            </a:solidFill>
            <a:prstDash val="solid"/>
          </a:ln>
        </p:spPr>
      </p:sp>
      <p:sp>
        <p:nvSpPr>
          <p:cNvPr id="26" name="Text 22"/>
          <p:cNvSpPr/>
          <p:nvPr/>
        </p:nvSpPr>
        <p:spPr>
          <a:xfrm>
            <a:off x="3785616" y="2532888"/>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Real-Time CDP</a:t>
            </a:r>
            <a:endParaRPr lang="en-US" sz="1000" dirty="0"/>
          </a:p>
        </p:txBody>
      </p:sp>
      <p:sp>
        <p:nvSpPr>
          <p:cNvPr id="27" name="Shape 23"/>
          <p:cNvSpPr/>
          <p:nvPr/>
        </p:nvSpPr>
        <p:spPr>
          <a:xfrm>
            <a:off x="3602736" y="3145536"/>
            <a:ext cx="82296" cy="82296"/>
          </a:xfrm>
          <a:prstGeom prst="ellipse">
            <a:avLst/>
          </a:prstGeom>
          <a:solidFill>
            <a:srgbClr val="2E6FD6"/>
          </a:solidFill>
          <a:ln w="12700">
            <a:solidFill>
              <a:srgbClr val="2E6FD6"/>
            </a:solidFill>
            <a:prstDash val="solid"/>
          </a:ln>
        </p:spPr>
      </p:sp>
      <p:sp>
        <p:nvSpPr>
          <p:cNvPr id="28" name="Text 24"/>
          <p:cNvSpPr/>
          <p:nvPr/>
        </p:nvSpPr>
        <p:spPr>
          <a:xfrm>
            <a:off x="3785616" y="3044952"/>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Unified traveller profile</a:t>
            </a:r>
            <a:endParaRPr lang="en-US" sz="1000" dirty="0"/>
          </a:p>
        </p:txBody>
      </p:sp>
      <p:sp>
        <p:nvSpPr>
          <p:cNvPr id="29" name="Shape 25"/>
          <p:cNvSpPr/>
          <p:nvPr/>
        </p:nvSpPr>
        <p:spPr>
          <a:xfrm>
            <a:off x="3602736" y="3657600"/>
            <a:ext cx="82296" cy="82296"/>
          </a:xfrm>
          <a:prstGeom prst="ellipse">
            <a:avLst/>
          </a:prstGeom>
          <a:solidFill>
            <a:srgbClr val="2E6FD6"/>
          </a:solidFill>
          <a:ln w="12700">
            <a:solidFill>
              <a:srgbClr val="2E6FD6"/>
            </a:solidFill>
            <a:prstDash val="solid"/>
          </a:ln>
        </p:spPr>
      </p:sp>
      <p:sp>
        <p:nvSpPr>
          <p:cNvPr id="30" name="Text 26"/>
          <p:cNvSpPr/>
          <p:nvPr/>
        </p:nvSpPr>
        <p:spPr>
          <a:xfrm>
            <a:off x="3785616" y="3557016"/>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Identity — known + unknown</a:t>
            </a:r>
            <a:endParaRPr lang="en-US" sz="1000" dirty="0"/>
          </a:p>
        </p:txBody>
      </p:sp>
      <p:sp>
        <p:nvSpPr>
          <p:cNvPr id="31" name="Shape 27"/>
          <p:cNvSpPr/>
          <p:nvPr/>
        </p:nvSpPr>
        <p:spPr>
          <a:xfrm>
            <a:off x="3602736" y="4169664"/>
            <a:ext cx="82296" cy="82296"/>
          </a:xfrm>
          <a:prstGeom prst="ellipse">
            <a:avLst/>
          </a:prstGeom>
          <a:solidFill>
            <a:srgbClr val="2E6FD6"/>
          </a:solidFill>
          <a:ln w="12700">
            <a:solidFill>
              <a:srgbClr val="2E6FD6"/>
            </a:solidFill>
            <a:prstDash val="solid"/>
          </a:ln>
        </p:spPr>
      </p:sp>
      <p:sp>
        <p:nvSpPr>
          <p:cNvPr id="32" name="Text 28"/>
          <p:cNvSpPr/>
          <p:nvPr/>
        </p:nvSpPr>
        <p:spPr>
          <a:xfrm>
            <a:off x="3785616" y="4069080"/>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AI-enhanced airline schemas</a:t>
            </a:r>
            <a:endParaRPr lang="en-US" sz="1000" dirty="0"/>
          </a:p>
        </p:txBody>
      </p:sp>
      <p:sp>
        <p:nvSpPr>
          <p:cNvPr id="33" name="Text 29"/>
          <p:cNvSpPr/>
          <p:nvPr/>
        </p:nvSpPr>
        <p:spPr>
          <a:xfrm>
            <a:off x="5897880" y="3012948"/>
            <a:ext cx="210312" cy="512064"/>
          </a:xfrm>
          <a:prstGeom prst="rect">
            <a:avLst/>
          </a:prstGeom>
          <a:noFill/>
          <a:ln/>
        </p:spPr>
        <p:txBody>
          <a:bodyPr wrap="square" lIns="0" tIns="0" rIns="0" bIns="0" rtlCol="0" anchor="ctr"/>
          <a:lstStyle/>
          <a:p>
            <a:pPr algn="ctr" indent="0" marL="0">
              <a:buNone/>
            </a:pPr>
            <a:r>
              <a:rPr lang="en-US" sz="2400" b="1" dirty="0">
                <a:solidFill>
                  <a:srgbClr val="8FA6C4"/>
                </a:solidFill>
                <a:latin typeface="Arial" pitchFamily="34" charset="0"/>
                <a:ea typeface="Arial" pitchFamily="34" charset="-122"/>
                <a:cs typeface="Arial" pitchFamily="34" charset="-120"/>
              </a:rPr>
              <a:t>›</a:t>
            </a:r>
            <a:endParaRPr lang="en-US" sz="2400" dirty="0"/>
          </a:p>
        </p:txBody>
      </p:sp>
      <p:sp>
        <p:nvSpPr>
          <p:cNvPr id="34" name="Shape 30"/>
          <p:cNvSpPr/>
          <p:nvPr/>
        </p:nvSpPr>
        <p:spPr>
          <a:xfrm>
            <a:off x="6089904" y="1874520"/>
            <a:ext cx="2551176" cy="2788920"/>
          </a:xfrm>
          <a:prstGeom prst="roundRect">
            <a:avLst>
              <a:gd name="adj" fmla="val 2867"/>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35" name="Shape 31"/>
          <p:cNvSpPr/>
          <p:nvPr/>
        </p:nvSpPr>
        <p:spPr>
          <a:xfrm>
            <a:off x="6089904" y="1874520"/>
            <a:ext cx="2551176" cy="457200"/>
          </a:xfrm>
          <a:prstGeom prst="roundRect">
            <a:avLst>
              <a:gd name="adj" fmla="val 16000"/>
            </a:avLst>
          </a:prstGeom>
          <a:solidFill>
            <a:srgbClr val="E0F4F1"/>
          </a:solidFill>
          <a:ln w="12700">
            <a:solidFill>
              <a:srgbClr val="E0F4F1"/>
            </a:solidFill>
            <a:prstDash val="solid"/>
          </a:ln>
        </p:spPr>
      </p:sp>
      <p:pic>
        <p:nvPicPr>
          <p:cNvPr id="36" name="Image 2" descr="/home/claude/work/icons/microchip_teal.png">    </p:cNvPr>
          <p:cNvPicPr>
            <a:picLocks noChangeAspect="1"/>
          </p:cNvPicPr>
          <p:nvPr/>
        </p:nvPicPr>
        <p:blipFill>
          <a:blip r:embed="rId3"/>
          <a:stretch>
            <a:fillRect/>
          </a:stretch>
        </p:blipFill>
        <p:spPr>
          <a:xfrm>
            <a:off x="6291072" y="1984248"/>
            <a:ext cx="237744" cy="237744"/>
          </a:xfrm>
          <a:prstGeom prst="rect">
            <a:avLst/>
          </a:prstGeom>
        </p:spPr>
      </p:pic>
      <p:sp>
        <p:nvSpPr>
          <p:cNvPr id="37" name="Text 32"/>
          <p:cNvSpPr/>
          <p:nvPr/>
        </p:nvSpPr>
        <p:spPr>
          <a:xfrm>
            <a:off x="6601968" y="1874520"/>
            <a:ext cx="1947672" cy="457200"/>
          </a:xfrm>
          <a:prstGeom prst="rect">
            <a:avLst/>
          </a:prstGeom>
          <a:noFill/>
          <a:ln/>
        </p:spPr>
        <p:txBody>
          <a:bodyPr wrap="square" lIns="0" tIns="0" rIns="0" bIns="0" rtlCol="0" anchor="ctr"/>
          <a:lstStyle/>
          <a:p>
            <a:pPr indent="0" marL="0">
              <a:buNone/>
            </a:pPr>
            <a:r>
              <a:rPr lang="en-US" sz="950" b="1" spc="60" kern="0" dirty="0">
                <a:solidFill>
                  <a:srgbClr val="00A792"/>
                </a:solidFill>
                <a:latin typeface="Arial" pitchFamily="34" charset="0"/>
                <a:ea typeface="Arial" pitchFamily="34" charset="-122"/>
                <a:cs typeface="Arial" pitchFamily="34" charset="-120"/>
              </a:rPr>
              <a:t>AI ORCHESTRATION</a:t>
            </a:r>
            <a:endParaRPr lang="en-US" sz="950" dirty="0"/>
          </a:p>
        </p:txBody>
      </p:sp>
      <p:sp>
        <p:nvSpPr>
          <p:cNvPr id="38" name="Shape 33"/>
          <p:cNvSpPr/>
          <p:nvPr/>
        </p:nvSpPr>
        <p:spPr>
          <a:xfrm>
            <a:off x="6327648" y="2633472"/>
            <a:ext cx="82296" cy="82296"/>
          </a:xfrm>
          <a:prstGeom prst="ellipse">
            <a:avLst/>
          </a:prstGeom>
          <a:solidFill>
            <a:srgbClr val="00A792"/>
          </a:solidFill>
          <a:ln w="12700">
            <a:solidFill>
              <a:srgbClr val="00A792"/>
            </a:solidFill>
            <a:prstDash val="solid"/>
          </a:ln>
        </p:spPr>
      </p:sp>
      <p:sp>
        <p:nvSpPr>
          <p:cNvPr id="39" name="Text 34"/>
          <p:cNvSpPr/>
          <p:nvPr/>
        </p:nvSpPr>
        <p:spPr>
          <a:xfrm>
            <a:off x="6510528" y="2532888"/>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Propensity: conversion &amp; churn</a:t>
            </a:r>
            <a:endParaRPr lang="en-US" sz="1000" dirty="0"/>
          </a:p>
        </p:txBody>
      </p:sp>
      <p:sp>
        <p:nvSpPr>
          <p:cNvPr id="40" name="Shape 35"/>
          <p:cNvSpPr/>
          <p:nvPr/>
        </p:nvSpPr>
        <p:spPr>
          <a:xfrm>
            <a:off x="6327648" y="3145536"/>
            <a:ext cx="82296" cy="82296"/>
          </a:xfrm>
          <a:prstGeom prst="ellipse">
            <a:avLst/>
          </a:prstGeom>
          <a:solidFill>
            <a:srgbClr val="00A792"/>
          </a:solidFill>
          <a:ln w="12700">
            <a:solidFill>
              <a:srgbClr val="00A792"/>
            </a:solidFill>
            <a:prstDash val="solid"/>
          </a:ln>
        </p:spPr>
      </p:sp>
      <p:sp>
        <p:nvSpPr>
          <p:cNvPr id="41" name="Text 36"/>
          <p:cNvSpPr/>
          <p:nvPr/>
        </p:nvSpPr>
        <p:spPr>
          <a:xfrm>
            <a:off x="6510528" y="3044952"/>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Agentic identity stitching</a:t>
            </a:r>
            <a:endParaRPr lang="en-US" sz="1000" dirty="0"/>
          </a:p>
        </p:txBody>
      </p:sp>
      <p:sp>
        <p:nvSpPr>
          <p:cNvPr id="42" name="Shape 37"/>
          <p:cNvSpPr/>
          <p:nvPr/>
        </p:nvSpPr>
        <p:spPr>
          <a:xfrm>
            <a:off x="6327648" y="3657600"/>
            <a:ext cx="82296" cy="82296"/>
          </a:xfrm>
          <a:prstGeom prst="ellipse">
            <a:avLst/>
          </a:prstGeom>
          <a:solidFill>
            <a:srgbClr val="00A792"/>
          </a:solidFill>
          <a:ln w="12700">
            <a:solidFill>
              <a:srgbClr val="00A792"/>
            </a:solidFill>
            <a:prstDash val="solid"/>
          </a:ln>
        </p:spPr>
      </p:sp>
      <p:sp>
        <p:nvSpPr>
          <p:cNvPr id="43" name="Text 38"/>
          <p:cNvSpPr/>
          <p:nvPr/>
        </p:nvSpPr>
        <p:spPr>
          <a:xfrm>
            <a:off x="6510528" y="3557016"/>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GenAI content — xTender.AI</a:t>
            </a:r>
            <a:endParaRPr lang="en-US" sz="1000" dirty="0"/>
          </a:p>
        </p:txBody>
      </p:sp>
      <p:sp>
        <p:nvSpPr>
          <p:cNvPr id="44" name="Shape 39"/>
          <p:cNvSpPr/>
          <p:nvPr/>
        </p:nvSpPr>
        <p:spPr>
          <a:xfrm>
            <a:off x="6327648" y="4169664"/>
            <a:ext cx="82296" cy="82296"/>
          </a:xfrm>
          <a:prstGeom prst="ellipse">
            <a:avLst/>
          </a:prstGeom>
          <a:solidFill>
            <a:srgbClr val="00A792"/>
          </a:solidFill>
          <a:ln w="12700">
            <a:solidFill>
              <a:srgbClr val="00A792"/>
            </a:solidFill>
            <a:prstDash val="solid"/>
          </a:ln>
        </p:spPr>
      </p:sp>
      <p:sp>
        <p:nvSpPr>
          <p:cNvPr id="45" name="Text 40"/>
          <p:cNvSpPr/>
          <p:nvPr/>
        </p:nvSpPr>
        <p:spPr>
          <a:xfrm>
            <a:off x="6510528" y="4069080"/>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Next-best-offer decisioning</a:t>
            </a:r>
            <a:endParaRPr lang="en-US" sz="1000" dirty="0"/>
          </a:p>
        </p:txBody>
      </p:sp>
      <p:sp>
        <p:nvSpPr>
          <p:cNvPr id="46" name="Text 41"/>
          <p:cNvSpPr/>
          <p:nvPr/>
        </p:nvSpPr>
        <p:spPr>
          <a:xfrm>
            <a:off x="8622792" y="3012948"/>
            <a:ext cx="210312" cy="512064"/>
          </a:xfrm>
          <a:prstGeom prst="rect">
            <a:avLst/>
          </a:prstGeom>
          <a:noFill/>
          <a:ln/>
        </p:spPr>
        <p:txBody>
          <a:bodyPr wrap="square" lIns="0" tIns="0" rIns="0" bIns="0" rtlCol="0" anchor="ctr"/>
          <a:lstStyle/>
          <a:p>
            <a:pPr algn="ctr" indent="0" marL="0">
              <a:buNone/>
            </a:pPr>
            <a:r>
              <a:rPr lang="en-US" sz="2400" b="1" dirty="0">
                <a:solidFill>
                  <a:srgbClr val="8FA6C4"/>
                </a:solidFill>
                <a:latin typeface="Arial" pitchFamily="34" charset="0"/>
                <a:ea typeface="Arial" pitchFamily="34" charset="-122"/>
                <a:cs typeface="Arial" pitchFamily="34" charset="-120"/>
              </a:rPr>
              <a:t>›</a:t>
            </a:r>
            <a:endParaRPr lang="en-US" sz="2400" dirty="0"/>
          </a:p>
        </p:txBody>
      </p:sp>
      <p:sp>
        <p:nvSpPr>
          <p:cNvPr id="47" name="Shape 42"/>
          <p:cNvSpPr/>
          <p:nvPr/>
        </p:nvSpPr>
        <p:spPr>
          <a:xfrm>
            <a:off x="8814816" y="1874520"/>
            <a:ext cx="2551176" cy="2788920"/>
          </a:xfrm>
          <a:prstGeom prst="roundRect">
            <a:avLst>
              <a:gd name="adj" fmla="val 2867"/>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48" name="Shape 43"/>
          <p:cNvSpPr/>
          <p:nvPr/>
        </p:nvSpPr>
        <p:spPr>
          <a:xfrm>
            <a:off x="8814816" y="1874520"/>
            <a:ext cx="2551176" cy="457200"/>
          </a:xfrm>
          <a:prstGeom prst="roundRect">
            <a:avLst>
              <a:gd name="adj" fmla="val 16000"/>
            </a:avLst>
          </a:prstGeom>
          <a:solidFill>
            <a:srgbClr val="FBF3D0"/>
          </a:solidFill>
          <a:ln w="12700">
            <a:solidFill>
              <a:srgbClr val="FBF3D0"/>
            </a:solidFill>
            <a:prstDash val="solid"/>
          </a:ln>
        </p:spPr>
      </p:sp>
      <p:pic>
        <p:nvPicPr>
          <p:cNvPr id="49" name="Image 3" descr="/home/claude/work/icons/broadcast_gold.png">    </p:cNvPr>
          <p:cNvPicPr>
            <a:picLocks noChangeAspect="1"/>
          </p:cNvPicPr>
          <p:nvPr/>
        </p:nvPicPr>
        <p:blipFill>
          <a:blip r:embed="rId4"/>
          <a:stretch>
            <a:fillRect/>
          </a:stretch>
        </p:blipFill>
        <p:spPr>
          <a:xfrm>
            <a:off x="9015984" y="1984248"/>
            <a:ext cx="237744" cy="237744"/>
          </a:xfrm>
          <a:prstGeom prst="rect">
            <a:avLst/>
          </a:prstGeom>
        </p:spPr>
      </p:pic>
      <p:sp>
        <p:nvSpPr>
          <p:cNvPr id="50" name="Text 44"/>
          <p:cNvSpPr/>
          <p:nvPr/>
        </p:nvSpPr>
        <p:spPr>
          <a:xfrm>
            <a:off x="9326880" y="1874520"/>
            <a:ext cx="1947672" cy="457200"/>
          </a:xfrm>
          <a:prstGeom prst="rect">
            <a:avLst/>
          </a:prstGeom>
          <a:noFill/>
          <a:ln/>
        </p:spPr>
        <p:txBody>
          <a:bodyPr wrap="square" lIns="0" tIns="0" rIns="0" bIns="0" rtlCol="0" anchor="ctr"/>
          <a:lstStyle/>
          <a:p>
            <a:pPr indent="0" marL="0">
              <a:buNone/>
            </a:pPr>
            <a:r>
              <a:rPr lang="en-US" sz="950" b="1" spc="60" kern="0" dirty="0">
                <a:solidFill>
                  <a:srgbClr val="A98C05"/>
                </a:solidFill>
                <a:latin typeface="Arial" pitchFamily="34" charset="0"/>
                <a:ea typeface="Arial" pitchFamily="34" charset="-122"/>
                <a:cs typeface="Arial" pitchFamily="34" charset="-120"/>
              </a:rPr>
              <a:t>ACTIVATION</a:t>
            </a:r>
            <a:endParaRPr lang="en-US" sz="950" dirty="0"/>
          </a:p>
        </p:txBody>
      </p:sp>
      <p:sp>
        <p:nvSpPr>
          <p:cNvPr id="51" name="Shape 45"/>
          <p:cNvSpPr/>
          <p:nvPr/>
        </p:nvSpPr>
        <p:spPr>
          <a:xfrm>
            <a:off x="9052560" y="2633472"/>
            <a:ext cx="82296" cy="82296"/>
          </a:xfrm>
          <a:prstGeom prst="ellipse">
            <a:avLst/>
          </a:prstGeom>
          <a:solidFill>
            <a:srgbClr val="A98C05"/>
          </a:solidFill>
          <a:ln w="12700">
            <a:solidFill>
              <a:srgbClr val="A98C05"/>
            </a:solidFill>
            <a:prstDash val="solid"/>
          </a:ln>
        </p:spPr>
      </p:sp>
      <p:sp>
        <p:nvSpPr>
          <p:cNvPr id="52" name="Text 46"/>
          <p:cNvSpPr/>
          <p:nvPr/>
        </p:nvSpPr>
        <p:spPr>
          <a:xfrm>
            <a:off x="9235440" y="2532888"/>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Journey Optimizer orchestration</a:t>
            </a:r>
            <a:endParaRPr lang="en-US" sz="1000" dirty="0"/>
          </a:p>
        </p:txBody>
      </p:sp>
      <p:sp>
        <p:nvSpPr>
          <p:cNvPr id="53" name="Shape 47"/>
          <p:cNvSpPr/>
          <p:nvPr/>
        </p:nvSpPr>
        <p:spPr>
          <a:xfrm>
            <a:off x="9052560" y="3145536"/>
            <a:ext cx="82296" cy="82296"/>
          </a:xfrm>
          <a:prstGeom prst="ellipse">
            <a:avLst/>
          </a:prstGeom>
          <a:solidFill>
            <a:srgbClr val="A98C05"/>
          </a:solidFill>
          <a:ln w="12700">
            <a:solidFill>
              <a:srgbClr val="A98C05"/>
            </a:solidFill>
            <a:prstDash val="solid"/>
          </a:ln>
        </p:spPr>
      </p:sp>
      <p:sp>
        <p:nvSpPr>
          <p:cNvPr id="54" name="Text 48"/>
          <p:cNvSpPr/>
          <p:nvPr/>
        </p:nvSpPr>
        <p:spPr>
          <a:xfrm>
            <a:off x="9235440" y="3044952"/>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Web · app · email · SMS · push</a:t>
            </a:r>
            <a:endParaRPr lang="en-US" sz="1000" dirty="0"/>
          </a:p>
        </p:txBody>
      </p:sp>
      <p:sp>
        <p:nvSpPr>
          <p:cNvPr id="55" name="Shape 49"/>
          <p:cNvSpPr/>
          <p:nvPr/>
        </p:nvSpPr>
        <p:spPr>
          <a:xfrm>
            <a:off x="9052560" y="3657600"/>
            <a:ext cx="82296" cy="82296"/>
          </a:xfrm>
          <a:prstGeom prst="ellipse">
            <a:avLst/>
          </a:prstGeom>
          <a:solidFill>
            <a:srgbClr val="A98C05"/>
          </a:solidFill>
          <a:ln w="12700">
            <a:solidFill>
              <a:srgbClr val="A98C05"/>
            </a:solidFill>
            <a:prstDash val="solid"/>
          </a:ln>
        </p:spPr>
      </p:sp>
      <p:sp>
        <p:nvSpPr>
          <p:cNvPr id="56" name="Text 50"/>
          <p:cNvSpPr/>
          <p:nvPr/>
        </p:nvSpPr>
        <p:spPr>
          <a:xfrm>
            <a:off x="9235440" y="3557016"/>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Social &amp; offline</a:t>
            </a:r>
            <a:endParaRPr lang="en-US" sz="1000" dirty="0"/>
          </a:p>
        </p:txBody>
      </p:sp>
      <p:sp>
        <p:nvSpPr>
          <p:cNvPr id="57" name="Shape 51"/>
          <p:cNvSpPr/>
          <p:nvPr/>
        </p:nvSpPr>
        <p:spPr>
          <a:xfrm>
            <a:off x="9052560" y="4169664"/>
            <a:ext cx="82296" cy="82296"/>
          </a:xfrm>
          <a:prstGeom prst="ellipse">
            <a:avLst/>
          </a:prstGeom>
          <a:solidFill>
            <a:srgbClr val="A98C05"/>
          </a:solidFill>
          <a:ln w="12700">
            <a:solidFill>
              <a:srgbClr val="A98C05"/>
            </a:solidFill>
            <a:prstDash val="solid"/>
          </a:ln>
        </p:spPr>
      </p:sp>
      <p:sp>
        <p:nvSpPr>
          <p:cNvPr id="58" name="Text 52"/>
          <p:cNvSpPr/>
          <p:nvPr/>
        </p:nvSpPr>
        <p:spPr>
          <a:xfrm>
            <a:off x="9235440" y="4069080"/>
            <a:ext cx="1929384" cy="457200"/>
          </a:xfrm>
          <a:prstGeom prst="rect">
            <a:avLst/>
          </a:prstGeom>
          <a:noFill/>
          <a:ln/>
        </p:spPr>
        <p:txBody>
          <a:bodyPr wrap="square" lIns="0" tIns="0" rIns="0" bIns="0" rtlCol="0" anchor="ctr"/>
          <a:lstStyle/>
          <a:p>
            <a:pPr indent="0" marL="0">
              <a:lnSpc>
                <a:spcPct val="108000"/>
              </a:lnSpc>
              <a:buNone/>
            </a:pPr>
            <a:r>
              <a:rPr lang="en-US" sz="1000" dirty="0">
                <a:solidFill>
                  <a:srgbClr val="0B1D31"/>
                </a:solidFill>
                <a:latin typeface="Arial" pitchFamily="34" charset="0"/>
                <a:ea typeface="Arial" pitchFamily="34" charset="-122"/>
                <a:cs typeface="Arial" pitchFamily="34" charset="-120"/>
              </a:rPr>
              <a:t>Measured in CJA, closed loop</a:t>
            </a:r>
            <a:endParaRPr lang="en-US" sz="1000" dirty="0"/>
          </a:p>
        </p:txBody>
      </p:sp>
      <p:sp>
        <p:nvSpPr>
          <p:cNvPr id="59" name="Shape 53"/>
          <p:cNvSpPr/>
          <p:nvPr/>
        </p:nvSpPr>
        <p:spPr>
          <a:xfrm>
            <a:off x="640080" y="4937760"/>
            <a:ext cx="7040880" cy="749808"/>
          </a:xfrm>
          <a:prstGeom prst="roundRect">
            <a:avLst>
              <a:gd name="adj" fmla="val 9756"/>
            </a:avLst>
          </a:prstGeom>
          <a:solidFill>
            <a:srgbClr val="082340"/>
          </a:solidFill>
          <a:ln w="12700">
            <a:solidFill>
              <a:srgbClr val="082340"/>
            </a:solidFill>
            <a:prstDash val="solid"/>
          </a:ln>
        </p:spPr>
      </p:sp>
      <p:sp>
        <p:nvSpPr>
          <p:cNvPr id="60" name="Text 54"/>
          <p:cNvSpPr/>
          <p:nvPr/>
        </p:nvSpPr>
        <p:spPr>
          <a:xfrm>
            <a:off x="914400" y="5029200"/>
            <a:ext cx="6400800" cy="219456"/>
          </a:xfrm>
          <a:prstGeom prst="rect">
            <a:avLst/>
          </a:prstGeom>
          <a:noFill/>
          <a:ln/>
        </p:spPr>
        <p:txBody>
          <a:bodyPr wrap="square" lIns="0" tIns="0" rIns="0" bIns="0" rtlCol="0" anchor="ctr"/>
          <a:lstStyle/>
          <a:p>
            <a:pPr indent="0" marL="0">
              <a:buNone/>
            </a:pPr>
            <a:r>
              <a:rPr lang="en-US" sz="850" b="1" spc="140" kern="0" dirty="0">
                <a:solidFill>
                  <a:srgbClr val="2E6FD6"/>
                </a:solidFill>
                <a:latin typeface="Arial" pitchFamily="34" charset="0"/>
                <a:ea typeface="Arial" pitchFamily="34" charset="-122"/>
                <a:cs typeface="Arial" pitchFamily="34" charset="-120"/>
              </a:rPr>
              <a:t>ADOBE COMPONENTS</a:t>
            </a:r>
            <a:endParaRPr lang="en-US" sz="850" dirty="0"/>
          </a:p>
        </p:txBody>
      </p:sp>
      <p:sp>
        <p:nvSpPr>
          <p:cNvPr id="61" name="Text 55"/>
          <p:cNvSpPr/>
          <p:nvPr/>
        </p:nvSpPr>
        <p:spPr>
          <a:xfrm>
            <a:off x="914400" y="5266944"/>
            <a:ext cx="6492240" cy="36576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Experience Platform  ·  Real-Time CDP  ·  Journey Optimizer  ·  Customer Journey Analytics  ·  AEM  ·  Target</a:t>
            </a:r>
            <a:endParaRPr lang="en-US" sz="1050" dirty="0"/>
          </a:p>
        </p:txBody>
      </p:sp>
      <p:sp>
        <p:nvSpPr>
          <p:cNvPr id="62" name="Shape 56"/>
          <p:cNvSpPr/>
          <p:nvPr/>
        </p:nvSpPr>
        <p:spPr>
          <a:xfrm>
            <a:off x="7863840" y="4937760"/>
            <a:ext cx="3687775" cy="749808"/>
          </a:xfrm>
          <a:prstGeom prst="roundRect">
            <a:avLst>
              <a:gd name="adj" fmla="val 9756"/>
            </a:avLst>
          </a:prstGeom>
          <a:solidFill>
            <a:srgbClr val="E0F4F1"/>
          </a:solidFill>
          <a:ln w="12700">
            <a:solidFill>
              <a:srgbClr val="E0F4F1"/>
            </a:solidFill>
            <a:prstDash val="solid"/>
          </a:ln>
        </p:spPr>
      </p:sp>
      <p:pic>
        <p:nvPicPr>
          <p:cNvPr id="63" name="Image 4" descr="/home/claude/work/icons/bolt_teal.png">    </p:cNvPr>
          <p:cNvPicPr>
            <a:picLocks noChangeAspect="1"/>
          </p:cNvPicPr>
          <p:nvPr/>
        </p:nvPicPr>
        <p:blipFill>
          <a:blip r:embed="rId5"/>
          <a:stretch>
            <a:fillRect/>
          </a:stretch>
        </p:blipFill>
        <p:spPr>
          <a:xfrm>
            <a:off x="8092440" y="5120640"/>
            <a:ext cx="310896" cy="310896"/>
          </a:xfrm>
          <a:prstGeom prst="rect">
            <a:avLst/>
          </a:prstGeom>
        </p:spPr>
      </p:pic>
      <p:sp>
        <p:nvSpPr>
          <p:cNvPr id="64" name="Text 57"/>
          <p:cNvSpPr/>
          <p:nvPr/>
        </p:nvSpPr>
        <p:spPr>
          <a:xfrm>
            <a:off x="8503920" y="4937760"/>
            <a:ext cx="2956255" cy="749808"/>
          </a:xfrm>
          <a:prstGeom prst="rect">
            <a:avLst/>
          </a:prstGeom>
          <a:noFill/>
          <a:ln/>
        </p:spPr>
        <p:txBody>
          <a:bodyPr wrap="square" lIns="0" tIns="0" rIns="0" bIns="0" rtlCol="0" anchor="ctr"/>
          <a:lstStyle/>
          <a:p>
            <a:pPr indent="0" marL="0">
              <a:lnSpc>
                <a:spcPct val="112000"/>
              </a:lnSpc>
              <a:buNone/>
            </a:pPr>
            <a:r>
              <a:rPr lang="en-US" sz="1050" b="1" dirty="0">
                <a:solidFill>
                  <a:srgbClr val="05463D"/>
                </a:solidFill>
                <a:latin typeface="Arial" pitchFamily="34" charset="0"/>
                <a:ea typeface="Arial" pitchFamily="34" charset="-122"/>
                <a:cs typeface="Arial" pitchFamily="34" charset="-120"/>
              </a:rPr>
              <a:t>Scales to millions of profiles in real time.  </a:t>
            </a:r>
            <a:pPr indent="0" marL="0">
              <a:lnSpc>
                <a:spcPct val="112000"/>
              </a:lnSpc>
              <a:buNone/>
            </a:pPr>
            <a:r>
              <a:rPr lang="en-US" sz="1050" b="1" dirty="0">
                <a:solidFill>
                  <a:srgbClr val="00A792"/>
                </a:solidFill>
                <a:latin typeface="Arial" pitchFamily="34" charset="0"/>
                <a:ea typeface="Arial" pitchFamily="34" charset="-122"/>
                <a:cs typeface="Arial" pitchFamily="34" charset="-120"/>
              </a:rPr>
              <a:t>→ live use-case demo</a:t>
            </a:r>
            <a:endParaRPr lang="en-US" sz="1050" dirty="0"/>
          </a:p>
        </p:txBody>
      </p:sp>
      <p:sp>
        <p:nvSpPr>
          <p:cNvPr id="65" name="Text 58"/>
          <p:cNvSpPr/>
          <p:nvPr/>
        </p:nvSpPr>
        <p:spPr>
          <a:xfrm>
            <a:off x="640080" y="6428232"/>
            <a:ext cx="5486400" cy="228600"/>
          </a:xfrm>
          <a:prstGeom prst="rect">
            <a:avLst/>
          </a:prstGeom>
          <a:noFill/>
          <a:ln/>
        </p:spPr>
        <p:txBody>
          <a:bodyPr wrap="square" lIns="0" tIns="0" rIns="0" bIns="0" rtlCol="0" anchor="ctr"/>
          <a:lstStyle/>
          <a:p>
            <a:pPr indent="0" marL="0">
              <a:buNone/>
            </a:pPr>
            <a:r>
              <a:rPr lang="en-US" sz="800" spc="140" kern="0" dirty="0">
                <a:solidFill>
                  <a:srgbClr val="5F7085"/>
                </a:solidFill>
                <a:latin typeface="Arial" pitchFamily="34" charset="0"/>
                <a:ea typeface="Arial" pitchFamily="34" charset="-122"/>
                <a:cs typeface="Arial" pitchFamily="34" charset="-120"/>
              </a:rPr>
              <a:t>VOYAGER.AI ALL-HANDS   ·   COFORGE  ×  ADOBE</a:t>
            </a:r>
            <a:endParaRPr lang="en-US" sz="800" dirty="0"/>
          </a:p>
        </p:txBody>
      </p:sp>
      <p:sp>
        <p:nvSpPr>
          <p:cNvPr id="66" name="Text 59"/>
          <p:cNvSpPr/>
          <p:nvPr/>
        </p:nvSpPr>
        <p:spPr>
          <a:xfrm>
            <a:off x="10637215" y="6428232"/>
            <a:ext cx="914400" cy="228600"/>
          </a:xfrm>
          <a:prstGeom prst="rect">
            <a:avLst/>
          </a:prstGeom>
          <a:noFill/>
          <a:ln/>
        </p:spPr>
        <p:txBody>
          <a:bodyPr wrap="square" lIns="0" tIns="0" rIns="0" bIns="0" rtlCol="0" anchor="ctr"/>
          <a:lstStyle/>
          <a:p>
            <a:pPr algn="r" indent="0" marL="0">
              <a:buNone/>
            </a:pPr>
            <a:r>
              <a:rPr lang="en-US" sz="800" b="1" dirty="0">
                <a:solidFill>
                  <a:srgbClr val="5F7085"/>
                </a:solidFill>
                <a:latin typeface="Arial" pitchFamily="34" charset="0"/>
                <a:ea typeface="Arial" pitchFamily="34" charset="-122"/>
                <a:cs typeface="Arial" pitchFamily="34" charset="-120"/>
              </a:rPr>
              <a:t>04 / 07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8229600" cy="237744"/>
          </a:xfrm>
          <a:prstGeom prst="rect">
            <a:avLst/>
          </a:prstGeom>
          <a:noFill/>
          <a:ln/>
        </p:spPr>
        <p:txBody>
          <a:bodyPr wrap="square" lIns="0" tIns="0" rIns="0" bIns="0" rtlCol="0" anchor="ctr"/>
          <a:lstStyle/>
          <a:p>
            <a:pPr indent="0" marL="0">
              <a:buNone/>
            </a:pPr>
            <a:r>
              <a:rPr lang="en-US" sz="1050" b="1" spc="220" kern="0" dirty="0">
                <a:solidFill>
                  <a:srgbClr val="F15B40"/>
                </a:solidFill>
                <a:latin typeface="Arial" pitchFamily="34" charset="0"/>
                <a:ea typeface="Arial" pitchFamily="34" charset="-122"/>
                <a:cs typeface="Arial" pitchFamily="34" charset="-120"/>
              </a:rPr>
              <a:t>AGENDA 05   ·   TAKING IT TO MARKET</a:t>
            </a:r>
            <a:endParaRPr lang="en-US" sz="1050" dirty="0"/>
          </a:p>
        </p:txBody>
      </p:sp>
      <p:sp>
        <p:nvSpPr>
          <p:cNvPr id="3" name="Text 1"/>
          <p:cNvSpPr/>
          <p:nvPr/>
        </p:nvSpPr>
        <p:spPr>
          <a:xfrm>
            <a:off x="640080" y="914400"/>
            <a:ext cx="8412480" cy="713232"/>
          </a:xfrm>
          <a:prstGeom prst="rect">
            <a:avLst/>
          </a:prstGeom>
          <a:noFill/>
          <a:ln/>
        </p:spPr>
        <p:txBody>
          <a:bodyPr wrap="square" lIns="0" tIns="0" rIns="0" bIns="0" rtlCol="0" anchor="ctr"/>
          <a:lstStyle/>
          <a:p>
            <a:pPr indent="0" marL="0">
              <a:buNone/>
            </a:pPr>
            <a:r>
              <a:rPr lang="en-US" sz="3000" b="1" dirty="0">
                <a:solidFill>
                  <a:srgbClr val="0B1D31"/>
                </a:solidFill>
                <a:latin typeface="Arial" pitchFamily="34" charset="0"/>
                <a:ea typeface="Arial" pitchFamily="34" charset="-122"/>
                <a:cs typeface="Arial" pitchFamily="34" charset="-120"/>
              </a:rPr>
              <a:t>How Voyager.AI is sold</a:t>
            </a:r>
            <a:endParaRPr lang="en-US" sz="3000" dirty="0"/>
          </a:p>
        </p:txBody>
      </p:sp>
      <p:sp>
        <p:nvSpPr>
          <p:cNvPr id="4" name="Shape 2"/>
          <p:cNvSpPr/>
          <p:nvPr/>
        </p:nvSpPr>
        <p:spPr>
          <a:xfrm>
            <a:off x="9247327" y="548640"/>
            <a:ext cx="2304288" cy="365760"/>
          </a:xfrm>
          <a:prstGeom prst="roundRect">
            <a:avLst>
              <a:gd name="adj" fmla="val 47500"/>
            </a:avLst>
          </a:prstGeom>
          <a:solidFill>
            <a:srgbClr val="F3F6FB"/>
          </a:solidFill>
          <a:ln w="12700">
            <a:solidFill>
              <a:srgbClr val="DBE3EF"/>
            </a:solidFill>
            <a:prstDash val="solid"/>
          </a:ln>
        </p:spPr>
      </p:sp>
      <p:sp>
        <p:nvSpPr>
          <p:cNvPr id="5" name="Shape 3"/>
          <p:cNvSpPr/>
          <p:nvPr/>
        </p:nvSpPr>
        <p:spPr>
          <a:xfrm>
            <a:off x="9448495" y="676656"/>
            <a:ext cx="109728" cy="109728"/>
          </a:xfrm>
          <a:prstGeom prst="ellipse">
            <a:avLst/>
          </a:prstGeom>
          <a:solidFill>
            <a:srgbClr val="F15B40"/>
          </a:solidFill>
          <a:ln w="12700">
            <a:solidFill>
              <a:srgbClr val="F15B40"/>
            </a:solidFill>
            <a:prstDash val="solid"/>
          </a:ln>
        </p:spPr>
      </p:sp>
      <p:sp>
        <p:nvSpPr>
          <p:cNvPr id="6" name="Text 4"/>
          <p:cNvSpPr/>
          <p:nvPr/>
        </p:nvSpPr>
        <p:spPr>
          <a:xfrm>
            <a:off x="9603943" y="548640"/>
            <a:ext cx="1801368" cy="365760"/>
          </a:xfrm>
          <a:prstGeom prst="rect">
            <a:avLst/>
          </a:prstGeom>
          <a:noFill/>
          <a:ln/>
        </p:spPr>
        <p:txBody>
          <a:bodyPr wrap="square" lIns="0" tIns="0" rIns="0" bIns="0" rtlCol="0" anchor="ctr"/>
          <a:lstStyle/>
          <a:p>
            <a:pPr indent="0" marL="0">
              <a:buNone/>
            </a:pPr>
            <a:r>
              <a:rPr lang="en-US" sz="900" b="1" spc="80" kern="0" dirty="0">
                <a:solidFill>
                  <a:srgbClr val="0B1D31"/>
                </a:solidFill>
                <a:latin typeface="Arial" pitchFamily="34" charset="0"/>
                <a:ea typeface="Arial" pitchFamily="34" charset="-122"/>
                <a:cs typeface="Arial" pitchFamily="34" charset="-120"/>
              </a:rPr>
              <a:t>SANDEEP UPPAL   ·   5 MIN</a:t>
            </a:r>
            <a:endParaRPr lang="en-US" sz="900" dirty="0"/>
          </a:p>
        </p:txBody>
      </p:sp>
      <p:sp>
        <p:nvSpPr>
          <p:cNvPr id="7" name="Shape 5"/>
          <p:cNvSpPr/>
          <p:nvPr/>
        </p:nvSpPr>
        <p:spPr>
          <a:xfrm>
            <a:off x="640080" y="1828800"/>
            <a:ext cx="5266944" cy="1755648"/>
          </a:xfrm>
          <a:prstGeom prst="roundRect">
            <a:avLst>
              <a:gd name="adj" fmla="val 4167"/>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8" name="Shape 6"/>
          <p:cNvSpPr/>
          <p:nvPr/>
        </p:nvSpPr>
        <p:spPr>
          <a:xfrm>
            <a:off x="950976" y="2103120"/>
            <a:ext cx="548640" cy="548640"/>
          </a:xfrm>
          <a:prstGeom prst="ellipse">
            <a:avLst/>
          </a:prstGeom>
          <a:solidFill>
            <a:srgbClr val="FDEAE5"/>
          </a:solidFill>
          <a:ln w="12700">
            <a:solidFill>
              <a:srgbClr val="FDEAE5"/>
            </a:solidFill>
            <a:prstDash val="solid"/>
          </a:ln>
        </p:spPr>
      </p:sp>
      <p:pic>
        <p:nvPicPr>
          <p:cNvPr id="9" name="Image 0" descr="/home/claude/work/icons/users_coral.png">    </p:cNvPr>
          <p:cNvPicPr>
            <a:picLocks noChangeAspect="1"/>
          </p:cNvPicPr>
          <p:nvPr/>
        </p:nvPicPr>
        <p:blipFill>
          <a:blip r:embed="rId1"/>
          <a:stretch>
            <a:fillRect/>
          </a:stretch>
        </p:blipFill>
        <p:spPr>
          <a:xfrm>
            <a:off x="1088136" y="2240280"/>
            <a:ext cx="274320" cy="274320"/>
          </a:xfrm>
          <a:prstGeom prst="rect">
            <a:avLst/>
          </a:prstGeom>
        </p:spPr>
      </p:pic>
      <p:sp>
        <p:nvSpPr>
          <p:cNvPr id="10" name="Text 7"/>
          <p:cNvSpPr/>
          <p:nvPr/>
        </p:nvSpPr>
        <p:spPr>
          <a:xfrm>
            <a:off x="1591056" y="2103120"/>
            <a:ext cx="4078224" cy="548640"/>
          </a:xfrm>
          <a:prstGeom prst="rect">
            <a:avLst/>
          </a:prstGeom>
          <a:noFill/>
          <a:ln/>
        </p:spPr>
        <p:txBody>
          <a:bodyPr wrap="square" lIns="0" tIns="0" rIns="0" bIns="0" rtlCol="0" anchor="ctr"/>
          <a:lstStyle/>
          <a:p>
            <a:pPr indent="0" marL="0">
              <a:buNone/>
            </a:pPr>
            <a:r>
              <a:rPr lang="en-US" sz="1500" b="1" dirty="0">
                <a:solidFill>
                  <a:srgbClr val="0B1D31"/>
                </a:solidFill>
                <a:latin typeface="Arial" pitchFamily="34" charset="0"/>
                <a:ea typeface="Arial" pitchFamily="34" charset="-122"/>
                <a:cs typeface="Arial" pitchFamily="34" charset="-120"/>
              </a:rPr>
              <a:t>Buyer personas</a:t>
            </a:r>
            <a:endParaRPr lang="en-US" sz="1500" dirty="0"/>
          </a:p>
        </p:txBody>
      </p:sp>
      <p:sp>
        <p:nvSpPr>
          <p:cNvPr id="11" name="Shape 8"/>
          <p:cNvSpPr/>
          <p:nvPr/>
        </p:nvSpPr>
        <p:spPr>
          <a:xfrm>
            <a:off x="1005840" y="2862072"/>
            <a:ext cx="82296" cy="82296"/>
          </a:xfrm>
          <a:prstGeom prst="ellipse">
            <a:avLst/>
          </a:prstGeom>
          <a:solidFill>
            <a:srgbClr val="F15B40"/>
          </a:solidFill>
          <a:ln w="12700">
            <a:solidFill>
              <a:srgbClr val="F15B40"/>
            </a:solidFill>
            <a:prstDash val="solid"/>
          </a:ln>
        </p:spPr>
      </p:sp>
      <p:sp>
        <p:nvSpPr>
          <p:cNvPr id="12" name="Text 9"/>
          <p:cNvSpPr/>
          <p:nvPr/>
        </p:nvSpPr>
        <p:spPr>
          <a:xfrm>
            <a:off x="1188720" y="2761488"/>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Chief Customer / Loyalty Officer</a:t>
            </a:r>
            <a:endParaRPr lang="en-US" sz="1050" dirty="0"/>
          </a:p>
        </p:txBody>
      </p:sp>
      <p:sp>
        <p:nvSpPr>
          <p:cNvPr id="13" name="Shape 10"/>
          <p:cNvSpPr/>
          <p:nvPr/>
        </p:nvSpPr>
        <p:spPr>
          <a:xfrm>
            <a:off x="1005840" y="3136392"/>
            <a:ext cx="82296" cy="82296"/>
          </a:xfrm>
          <a:prstGeom prst="ellipse">
            <a:avLst/>
          </a:prstGeom>
          <a:solidFill>
            <a:srgbClr val="F15B40"/>
          </a:solidFill>
          <a:ln w="12700">
            <a:solidFill>
              <a:srgbClr val="F15B40"/>
            </a:solidFill>
            <a:prstDash val="solid"/>
          </a:ln>
        </p:spPr>
      </p:sp>
      <p:sp>
        <p:nvSpPr>
          <p:cNvPr id="14" name="Text 11"/>
          <p:cNvSpPr/>
          <p:nvPr/>
        </p:nvSpPr>
        <p:spPr>
          <a:xfrm>
            <a:off x="1188720" y="3035808"/>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VP Digital &amp; E-commerce</a:t>
            </a:r>
            <a:endParaRPr lang="en-US" sz="1050" dirty="0"/>
          </a:p>
        </p:txBody>
      </p:sp>
      <p:sp>
        <p:nvSpPr>
          <p:cNvPr id="15" name="Shape 12"/>
          <p:cNvSpPr/>
          <p:nvPr/>
        </p:nvSpPr>
        <p:spPr>
          <a:xfrm>
            <a:off x="1005840" y="3410712"/>
            <a:ext cx="82296" cy="82296"/>
          </a:xfrm>
          <a:prstGeom prst="ellipse">
            <a:avLst/>
          </a:prstGeom>
          <a:solidFill>
            <a:srgbClr val="F15B40"/>
          </a:solidFill>
          <a:ln w="12700">
            <a:solidFill>
              <a:srgbClr val="F15B40"/>
            </a:solidFill>
            <a:prstDash val="solid"/>
          </a:ln>
        </p:spPr>
      </p:sp>
      <p:sp>
        <p:nvSpPr>
          <p:cNvPr id="16" name="Text 13"/>
          <p:cNvSpPr/>
          <p:nvPr/>
        </p:nvSpPr>
        <p:spPr>
          <a:xfrm>
            <a:off x="1188720" y="3310128"/>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Head of CRM / Personalisation</a:t>
            </a:r>
            <a:endParaRPr lang="en-US" sz="1050" dirty="0"/>
          </a:p>
        </p:txBody>
      </p:sp>
      <p:sp>
        <p:nvSpPr>
          <p:cNvPr id="17" name="Shape 14"/>
          <p:cNvSpPr/>
          <p:nvPr/>
        </p:nvSpPr>
        <p:spPr>
          <a:xfrm>
            <a:off x="6281928" y="1828800"/>
            <a:ext cx="5266944" cy="1755648"/>
          </a:xfrm>
          <a:prstGeom prst="roundRect">
            <a:avLst>
              <a:gd name="adj" fmla="val 4167"/>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18" name="Shape 15"/>
          <p:cNvSpPr/>
          <p:nvPr/>
        </p:nvSpPr>
        <p:spPr>
          <a:xfrm>
            <a:off x="6592824" y="2103120"/>
            <a:ext cx="548640" cy="548640"/>
          </a:xfrm>
          <a:prstGeom prst="ellipse">
            <a:avLst/>
          </a:prstGeom>
          <a:solidFill>
            <a:srgbClr val="FDEAE5"/>
          </a:solidFill>
          <a:ln w="12700">
            <a:solidFill>
              <a:srgbClr val="FDEAE5"/>
            </a:solidFill>
            <a:prstDash val="solid"/>
          </a:ln>
        </p:spPr>
      </p:sp>
      <p:pic>
        <p:nvPicPr>
          <p:cNvPr id="19" name="Image 1" descr="/home/claude/work/icons/bolt_coral.png">    </p:cNvPr>
          <p:cNvPicPr>
            <a:picLocks noChangeAspect="1"/>
          </p:cNvPicPr>
          <p:nvPr/>
        </p:nvPicPr>
        <p:blipFill>
          <a:blip r:embed="rId2"/>
          <a:stretch>
            <a:fillRect/>
          </a:stretch>
        </p:blipFill>
        <p:spPr>
          <a:xfrm>
            <a:off x="6729984" y="2240280"/>
            <a:ext cx="274320" cy="274320"/>
          </a:xfrm>
          <a:prstGeom prst="rect">
            <a:avLst/>
          </a:prstGeom>
        </p:spPr>
      </p:pic>
      <p:sp>
        <p:nvSpPr>
          <p:cNvPr id="20" name="Text 16"/>
          <p:cNvSpPr/>
          <p:nvPr/>
        </p:nvSpPr>
        <p:spPr>
          <a:xfrm>
            <a:off x="7232904" y="2103120"/>
            <a:ext cx="4078224" cy="548640"/>
          </a:xfrm>
          <a:prstGeom prst="rect">
            <a:avLst/>
          </a:prstGeom>
          <a:noFill/>
          <a:ln/>
        </p:spPr>
        <p:txBody>
          <a:bodyPr wrap="square" lIns="0" tIns="0" rIns="0" bIns="0" rtlCol="0" anchor="ctr"/>
          <a:lstStyle/>
          <a:p>
            <a:pPr indent="0" marL="0">
              <a:buNone/>
            </a:pPr>
            <a:r>
              <a:rPr lang="en-US" sz="1500" b="1" dirty="0">
                <a:solidFill>
                  <a:srgbClr val="0B1D31"/>
                </a:solidFill>
                <a:latin typeface="Arial" pitchFamily="34" charset="0"/>
                <a:ea typeface="Arial" pitchFamily="34" charset="-122"/>
                <a:cs typeface="Arial" pitchFamily="34" charset="-120"/>
              </a:rPr>
              <a:t>Customer triggers</a:t>
            </a:r>
            <a:endParaRPr lang="en-US" sz="1500" dirty="0"/>
          </a:p>
        </p:txBody>
      </p:sp>
      <p:sp>
        <p:nvSpPr>
          <p:cNvPr id="21" name="Shape 17"/>
          <p:cNvSpPr/>
          <p:nvPr/>
        </p:nvSpPr>
        <p:spPr>
          <a:xfrm>
            <a:off x="6647688" y="2862072"/>
            <a:ext cx="82296" cy="82296"/>
          </a:xfrm>
          <a:prstGeom prst="ellipse">
            <a:avLst/>
          </a:prstGeom>
          <a:solidFill>
            <a:srgbClr val="F15B40"/>
          </a:solidFill>
          <a:ln w="12700">
            <a:solidFill>
              <a:srgbClr val="F15B40"/>
            </a:solidFill>
            <a:prstDash val="solid"/>
          </a:ln>
        </p:spPr>
      </p:sp>
      <p:sp>
        <p:nvSpPr>
          <p:cNvPr id="22" name="Text 18"/>
          <p:cNvSpPr/>
          <p:nvPr/>
        </p:nvSpPr>
        <p:spPr>
          <a:xfrm>
            <a:off x="6830568" y="2761488"/>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A stalled or costly Adobe rollout</a:t>
            </a:r>
            <a:endParaRPr lang="en-US" sz="1050" dirty="0"/>
          </a:p>
        </p:txBody>
      </p:sp>
      <p:sp>
        <p:nvSpPr>
          <p:cNvPr id="23" name="Shape 19"/>
          <p:cNvSpPr/>
          <p:nvPr/>
        </p:nvSpPr>
        <p:spPr>
          <a:xfrm>
            <a:off x="6647688" y="3136392"/>
            <a:ext cx="82296" cy="82296"/>
          </a:xfrm>
          <a:prstGeom prst="ellipse">
            <a:avLst/>
          </a:prstGeom>
          <a:solidFill>
            <a:srgbClr val="F15B40"/>
          </a:solidFill>
          <a:ln w="12700">
            <a:solidFill>
              <a:srgbClr val="F15B40"/>
            </a:solidFill>
            <a:prstDash val="solid"/>
          </a:ln>
        </p:spPr>
      </p:sp>
      <p:sp>
        <p:nvSpPr>
          <p:cNvPr id="24" name="Text 20"/>
          <p:cNvSpPr/>
          <p:nvPr/>
        </p:nvSpPr>
        <p:spPr>
          <a:xfrm>
            <a:off x="6830568" y="3035808"/>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Disruption / IROPS pain in the press</a:t>
            </a:r>
            <a:endParaRPr lang="en-US" sz="1050" dirty="0"/>
          </a:p>
        </p:txBody>
      </p:sp>
      <p:sp>
        <p:nvSpPr>
          <p:cNvPr id="25" name="Shape 21"/>
          <p:cNvSpPr/>
          <p:nvPr/>
        </p:nvSpPr>
        <p:spPr>
          <a:xfrm>
            <a:off x="6647688" y="3410712"/>
            <a:ext cx="82296" cy="82296"/>
          </a:xfrm>
          <a:prstGeom prst="ellipse">
            <a:avLst/>
          </a:prstGeom>
          <a:solidFill>
            <a:srgbClr val="F15B40"/>
          </a:solidFill>
          <a:ln w="12700">
            <a:solidFill>
              <a:srgbClr val="F15B40"/>
            </a:solidFill>
            <a:prstDash val="solid"/>
          </a:ln>
        </p:spPr>
      </p:sp>
      <p:sp>
        <p:nvSpPr>
          <p:cNvPr id="26" name="Text 22"/>
          <p:cNvSpPr/>
          <p:nvPr/>
        </p:nvSpPr>
        <p:spPr>
          <a:xfrm>
            <a:off x="6830568" y="3310128"/>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Loyalty churn or flat ancillary revenue</a:t>
            </a:r>
            <a:endParaRPr lang="en-US" sz="1050" dirty="0"/>
          </a:p>
        </p:txBody>
      </p:sp>
      <p:sp>
        <p:nvSpPr>
          <p:cNvPr id="27" name="Shape 23"/>
          <p:cNvSpPr/>
          <p:nvPr/>
        </p:nvSpPr>
        <p:spPr>
          <a:xfrm>
            <a:off x="640080" y="3785616"/>
            <a:ext cx="5266944" cy="1755648"/>
          </a:xfrm>
          <a:prstGeom prst="roundRect">
            <a:avLst>
              <a:gd name="adj" fmla="val 4167"/>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28" name="Shape 24"/>
          <p:cNvSpPr/>
          <p:nvPr/>
        </p:nvSpPr>
        <p:spPr>
          <a:xfrm>
            <a:off x="950976" y="4059936"/>
            <a:ext cx="548640" cy="548640"/>
          </a:xfrm>
          <a:prstGeom prst="ellipse">
            <a:avLst/>
          </a:prstGeom>
          <a:solidFill>
            <a:srgbClr val="FDEAE5"/>
          </a:solidFill>
          <a:ln w="12700">
            <a:solidFill>
              <a:srgbClr val="FDEAE5"/>
            </a:solidFill>
            <a:prstDash val="solid"/>
          </a:ln>
        </p:spPr>
      </p:sp>
      <p:pic>
        <p:nvPicPr>
          <p:cNvPr id="29" name="Image 2" descr="/home/claude/work/icons/comments_coral.png">    </p:cNvPr>
          <p:cNvPicPr>
            <a:picLocks noChangeAspect="1"/>
          </p:cNvPicPr>
          <p:nvPr/>
        </p:nvPicPr>
        <p:blipFill>
          <a:blip r:embed="rId3"/>
          <a:stretch>
            <a:fillRect/>
          </a:stretch>
        </p:blipFill>
        <p:spPr>
          <a:xfrm>
            <a:off x="1088136" y="4197096"/>
            <a:ext cx="274320" cy="274320"/>
          </a:xfrm>
          <a:prstGeom prst="rect">
            <a:avLst/>
          </a:prstGeom>
        </p:spPr>
      </p:pic>
      <p:sp>
        <p:nvSpPr>
          <p:cNvPr id="30" name="Text 25"/>
          <p:cNvSpPr/>
          <p:nvPr/>
        </p:nvSpPr>
        <p:spPr>
          <a:xfrm>
            <a:off x="1591056" y="4059936"/>
            <a:ext cx="4078224" cy="548640"/>
          </a:xfrm>
          <a:prstGeom prst="rect">
            <a:avLst/>
          </a:prstGeom>
          <a:noFill/>
          <a:ln/>
        </p:spPr>
        <p:txBody>
          <a:bodyPr wrap="square" lIns="0" tIns="0" rIns="0" bIns="0" rtlCol="0" anchor="ctr"/>
          <a:lstStyle/>
          <a:p>
            <a:pPr indent="0" marL="0">
              <a:buNone/>
            </a:pPr>
            <a:r>
              <a:rPr lang="en-US" sz="1500" b="1" dirty="0">
                <a:solidFill>
                  <a:srgbClr val="0B1D31"/>
                </a:solidFill>
                <a:latin typeface="Arial" pitchFamily="34" charset="0"/>
                <a:ea typeface="Arial" pitchFamily="34" charset="-122"/>
                <a:cs typeface="Arial" pitchFamily="34" charset="-120"/>
              </a:rPr>
              <a:t>Discovery questions</a:t>
            </a:r>
            <a:endParaRPr lang="en-US" sz="1500" dirty="0"/>
          </a:p>
        </p:txBody>
      </p:sp>
      <p:sp>
        <p:nvSpPr>
          <p:cNvPr id="31" name="Shape 26"/>
          <p:cNvSpPr/>
          <p:nvPr/>
        </p:nvSpPr>
        <p:spPr>
          <a:xfrm>
            <a:off x="1005840" y="4818888"/>
            <a:ext cx="82296" cy="82296"/>
          </a:xfrm>
          <a:prstGeom prst="ellipse">
            <a:avLst/>
          </a:prstGeom>
          <a:solidFill>
            <a:srgbClr val="F15B40"/>
          </a:solidFill>
          <a:ln w="12700">
            <a:solidFill>
              <a:srgbClr val="F15B40"/>
            </a:solidFill>
            <a:prstDash val="solid"/>
          </a:ln>
        </p:spPr>
      </p:sp>
      <p:sp>
        <p:nvSpPr>
          <p:cNvPr id="32" name="Text 27"/>
          <p:cNvSpPr/>
          <p:nvPr/>
        </p:nvSpPr>
        <p:spPr>
          <a:xfrm>
            <a:off x="1188720" y="4718304"/>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“How fast can you act on a disruption?”</a:t>
            </a:r>
            <a:endParaRPr lang="en-US" sz="1050" dirty="0"/>
          </a:p>
        </p:txBody>
      </p:sp>
      <p:sp>
        <p:nvSpPr>
          <p:cNvPr id="33" name="Shape 28"/>
          <p:cNvSpPr/>
          <p:nvPr/>
        </p:nvSpPr>
        <p:spPr>
          <a:xfrm>
            <a:off x="1005840" y="5093208"/>
            <a:ext cx="82296" cy="82296"/>
          </a:xfrm>
          <a:prstGeom prst="ellipse">
            <a:avLst/>
          </a:prstGeom>
          <a:solidFill>
            <a:srgbClr val="F15B40"/>
          </a:solidFill>
          <a:ln w="12700">
            <a:solidFill>
              <a:srgbClr val="F15B40"/>
            </a:solidFill>
            <a:prstDash val="solid"/>
          </a:ln>
        </p:spPr>
      </p:sp>
      <p:sp>
        <p:nvSpPr>
          <p:cNvPr id="34" name="Text 29"/>
          <p:cNvSpPr/>
          <p:nvPr/>
        </p:nvSpPr>
        <p:spPr>
          <a:xfrm>
            <a:off x="1188720" y="4992624"/>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“Can you tell known from unknown?”</a:t>
            </a:r>
            <a:endParaRPr lang="en-US" sz="1050" dirty="0"/>
          </a:p>
        </p:txBody>
      </p:sp>
      <p:sp>
        <p:nvSpPr>
          <p:cNvPr id="35" name="Shape 30"/>
          <p:cNvSpPr/>
          <p:nvPr/>
        </p:nvSpPr>
        <p:spPr>
          <a:xfrm>
            <a:off x="1005840" y="5367528"/>
            <a:ext cx="82296" cy="82296"/>
          </a:xfrm>
          <a:prstGeom prst="ellipse">
            <a:avLst/>
          </a:prstGeom>
          <a:solidFill>
            <a:srgbClr val="F15B40"/>
          </a:solidFill>
          <a:ln w="12700">
            <a:solidFill>
              <a:srgbClr val="F15B40"/>
            </a:solidFill>
            <a:prstDash val="solid"/>
          </a:ln>
        </p:spPr>
      </p:sp>
      <p:sp>
        <p:nvSpPr>
          <p:cNvPr id="36" name="Text 31"/>
          <p:cNvSpPr/>
          <p:nvPr/>
        </p:nvSpPr>
        <p:spPr>
          <a:xfrm>
            <a:off x="1188720" y="5266944"/>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“How long is a new campaign today?”</a:t>
            </a:r>
            <a:endParaRPr lang="en-US" sz="1050" dirty="0"/>
          </a:p>
        </p:txBody>
      </p:sp>
      <p:sp>
        <p:nvSpPr>
          <p:cNvPr id="37" name="Shape 32"/>
          <p:cNvSpPr/>
          <p:nvPr/>
        </p:nvSpPr>
        <p:spPr>
          <a:xfrm>
            <a:off x="6281928" y="3785616"/>
            <a:ext cx="5266944" cy="1755648"/>
          </a:xfrm>
          <a:prstGeom prst="roundRect">
            <a:avLst>
              <a:gd name="adj" fmla="val 4167"/>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38" name="Shape 33"/>
          <p:cNvSpPr/>
          <p:nvPr/>
        </p:nvSpPr>
        <p:spPr>
          <a:xfrm>
            <a:off x="6592824" y="4059936"/>
            <a:ext cx="548640" cy="548640"/>
          </a:xfrm>
          <a:prstGeom prst="ellipse">
            <a:avLst/>
          </a:prstGeom>
          <a:solidFill>
            <a:srgbClr val="FDEAE5"/>
          </a:solidFill>
          <a:ln w="12700">
            <a:solidFill>
              <a:srgbClr val="FDEAE5"/>
            </a:solidFill>
            <a:prstDash val="solid"/>
          </a:ln>
        </p:spPr>
      </p:sp>
      <p:pic>
        <p:nvPicPr>
          <p:cNvPr id="39" name="Image 3" descr="/home/claude/work/icons/compass_coral.png">    </p:cNvPr>
          <p:cNvPicPr>
            <a:picLocks noChangeAspect="1"/>
          </p:cNvPicPr>
          <p:nvPr/>
        </p:nvPicPr>
        <p:blipFill>
          <a:blip r:embed="rId4"/>
          <a:stretch>
            <a:fillRect/>
          </a:stretch>
        </p:blipFill>
        <p:spPr>
          <a:xfrm>
            <a:off x="6729984" y="4197096"/>
            <a:ext cx="274320" cy="274320"/>
          </a:xfrm>
          <a:prstGeom prst="rect">
            <a:avLst/>
          </a:prstGeom>
        </p:spPr>
      </p:pic>
      <p:sp>
        <p:nvSpPr>
          <p:cNvPr id="40" name="Text 34"/>
          <p:cNvSpPr/>
          <p:nvPr/>
        </p:nvSpPr>
        <p:spPr>
          <a:xfrm>
            <a:off x="7232904" y="4059936"/>
            <a:ext cx="4078224" cy="548640"/>
          </a:xfrm>
          <a:prstGeom prst="rect">
            <a:avLst/>
          </a:prstGeom>
          <a:noFill/>
          <a:ln/>
        </p:spPr>
        <p:txBody>
          <a:bodyPr wrap="square" lIns="0" tIns="0" rIns="0" bIns="0" rtlCol="0" anchor="ctr"/>
          <a:lstStyle/>
          <a:p>
            <a:pPr indent="0" marL="0">
              <a:buNone/>
            </a:pPr>
            <a:r>
              <a:rPr lang="en-US" sz="1500" b="1" dirty="0">
                <a:solidFill>
                  <a:srgbClr val="0B1D31"/>
                </a:solidFill>
                <a:latin typeface="Arial" pitchFamily="34" charset="0"/>
                <a:ea typeface="Arial" pitchFamily="34" charset="-122"/>
                <a:cs typeface="Arial" pitchFamily="34" charset="-120"/>
              </a:rPr>
              <a:t>Positioning</a:t>
            </a:r>
            <a:endParaRPr lang="en-US" sz="1500" dirty="0"/>
          </a:p>
        </p:txBody>
      </p:sp>
      <p:sp>
        <p:nvSpPr>
          <p:cNvPr id="41" name="Shape 35"/>
          <p:cNvSpPr/>
          <p:nvPr/>
        </p:nvSpPr>
        <p:spPr>
          <a:xfrm>
            <a:off x="6647688" y="4818888"/>
            <a:ext cx="82296" cy="82296"/>
          </a:xfrm>
          <a:prstGeom prst="ellipse">
            <a:avLst/>
          </a:prstGeom>
          <a:solidFill>
            <a:srgbClr val="F15B40"/>
          </a:solidFill>
          <a:ln w="12700">
            <a:solidFill>
              <a:srgbClr val="F15B40"/>
            </a:solidFill>
            <a:prstDash val="solid"/>
          </a:ln>
        </p:spPr>
      </p:sp>
      <p:sp>
        <p:nvSpPr>
          <p:cNvPr id="42" name="Text 36"/>
          <p:cNvSpPr/>
          <p:nvPr/>
        </p:nvSpPr>
        <p:spPr>
          <a:xfrm>
            <a:off x="6830568" y="4718304"/>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Not a project — a prebuilt accelerator</a:t>
            </a:r>
            <a:endParaRPr lang="en-US" sz="1050" dirty="0"/>
          </a:p>
        </p:txBody>
      </p:sp>
      <p:sp>
        <p:nvSpPr>
          <p:cNvPr id="43" name="Shape 37"/>
          <p:cNvSpPr/>
          <p:nvPr/>
        </p:nvSpPr>
        <p:spPr>
          <a:xfrm>
            <a:off x="6647688" y="5093208"/>
            <a:ext cx="82296" cy="82296"/>
          </a:xfrm>
          <a:prstGeom prst="ellipse">
            <a:avLst/>
          </a:prstGeom>
          <a:solidFill>
            <a:srgbClr val="F15B40"/>
          </a:solidFill>
          <a:ln w="12700">
            <a:solidFill>
              <a:srgbClr val="F15B40"/>
            </a:solidFill>
            <a:prstDash val="solid"/>
          </a:ln>
        </p:spPr>
      </p:sp>
      <p:sp>
        <p:nvSpPr>
          <p:cNvPr id="44" name="Text 38"/>
          <p:cNvSpPr/>
          <p:nvPr/>
        </p:nvSpPr>
        <p:spPr>
          <a:xfrm>
            <a:off x="6830568" y="4992624"/>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Adobe-validated, on Adobe Exchange</a:t>
            </a:r>
            <a:endParaRPr lang="en-US" sz="1050" dirty="0"/>
          </a:p>
        </p:txBody>
      </p:sp>
      <p:sp>
        <p:nvSpPr>
          <p:cNvPr id="45" name="Shape 39"/>
          <p:cNvSpPr/>
          <p:nvPr/>
        </p:nvSpPr>
        <p:spPr>
          <a:xfrm>
            <a:off x="6647688" y="5367528"/>
            <a:ext cx="82296" cy="82296"/>
          </a:xfrm>
          <a:prstGeom prst="ellipse">
            <a:avLst/>
          </a:prstGeom>
          <a:solidFill>
            <a:srgbClr val="F15B40"/>
          </a:solidFill>
          <a:ln w="12700">
            <a:solidFill>
              <a:srgbClr val="F15B40"/>
            </a:solidFill>
            <a:prstDash val="solid"/>
          </a:ln>
        </p:spPr>
      </p:sp>
      <p:sp>
        <p:nvSpPr>
          <p:cNvPr id="46" name="Text 40"/>
          <p:cNvSpPr/>
          <p:nvPr/>
        </p:nvSpPr>
        <p:spPr>
          <a:xfrm>
            <a:off x="6830568" y="5266944"/>
            <a:ext cx="4443984" cy="256032"/>
          </a:xfrm>
          <a:prstGeom prst="rect">
            <a:avLst/>
          </a:prstGeom>
          <a:noFill/>
          <a:ln/>
        </p:spPr>
        <p:txBody>
          <a:bodyPr wrap="square" lIns="0" tIns="0" rIns="0" bIns="0" rtlCol="0" anchor="ctr"/>
          <a:lstStyle/>
          <a:p>
            <a:pPr indent="0" marL="0">
              <a:buNone/>
            </a:pPr>
            <a:r>
              <a:rPr lang="en-US" sz="1050" dirty="0">
                <a:solidFill>
                  <a:srgbClr val="5F7085"/>
                </a:solidFill>
                <a:latin typeface="Arial" pitchFamily="34" charset="0"/>
                <a:ea typeface="Arial" pitchFamily="34" charset="-122"/>
                <a:cs typeface="Arial" pitchFamily="34" charset="-120"/>
              </a:rPr>
              <a:t>Weeks-to-value, not quarters</a:t>
            </a:r>
            <a:endParaRPr lang="en-US" sz="1050" dirty="0"/>
          </a:p>
        </p:txBody>
      </p:sp>
      <p:sp>
        <p:nvSpPr>
          <p:cNvPr id="47" name="Shape 41"/>
          <p:cNvSpPr/>
          <p:nvPr/>
        </p:nvSpPr>
        <p:spPr>
          <a:xfrm>
            <a:off x="640080" y="5779008"/>
            <a:ext cx="10911535" cy="548640"/>
          </a:xfrm>
          <a:prstGeom prst="roundRect">
            <a:avLst>
              <a:gd name="adj" fmla="val 13333"/>
            </a:avLst>
          </a:prstGeom>
          <a:solidFill>
            <a:srgbClr val="082340"/>
          </a:solidFill>
          <a:ln w="12700">
            <a:solidFill>
              <a:srgbClr val="082340"/>
            </a:solidFill>
            <a:prstDash val="solid"/>
          </a:ln>
        </p:spPr>
      </p:sp>
      <p:sp>
        <p:nvSpPr>
          <p:cNvPr id="48" name="Text 42"/>
          <p:cNvSpPr/>
          <p:nvPr/>
        </p:nvSpPr>
        <p:spPr>
          <a:xfrm>
            <a:off x="960120" y="5779008"/>
            <a:ext cx="10271455"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Spotting the opportunity:  </a:t>
            </a:r>
            <a:pPr indent="0" marL="0">
              <a:buNone/>
            </a:pPr>
            <a:r>
              <a:rPr lang="en-US" sz="1200" dirty="0">
                <a:solidFill>
                  <a:srgbClr val="C7D5EA"/>
                </a:solidFill>
                <a:latin typeface="Arial" pitchFamily="34" charset="0"/>
                <a:ea typeface="Arial" pitchFamily="34" charset="-122"/>
                <a:cs typeface="Arial" pitchFamily="34" charset="-120"/>
              </a:rPr>
              <a:t>any airline account already on Adobe, with a disruption, loyalty or personalisation problem, is a Voyager conversation.</a:t>
            </a:r>
            <a:endParaRPr lang="en-US" sz="1200" dirty="0"/>
          </a:p>
        </p:txBody>
      </p:sp>
      <p:sp>
        <p:nvSpPr>
          <p:cNvPr id="49" name="Text 43"/>
          <p:cNvSpPr/>
          <p:nvPr/>
        </p:nvSpPr>
        <p:spPr>
          <a:xfrm>
            <a:off x="640080" y="6428232"/>
            <a:ext cx="5486400" cy="228600"/>
          </a:xfrm>
          <a:prstGeom prst="rect">
            <a:avLst/>
          </a:prstGeom>
          <a:noFill/>
          <a:ln/>
        </p:spPr>
        <p:txBody>
          <a:bodyPr wrap="square" lIns="0" tIns="0" rIns="0" bIns="0" rtlCol="0" anchor="ctr"/>
          <a:lstStyle/>
          <a:p>
            <a:pPr indent="0" marL="0">
              <a:buNone/>
            </a:pPr>
            <a:r>
              <a:rPr lang="en-US" sz="800" spc="140" kern="0" dirty="0">
                <a:solidFill>
                  <a:srgbClr val="5F7085"/>
                </a:solidFill>
                <a:latin typeface="Arial" pitchFamily="34" charset="0"/>
                <a:ea typeface="Arial" pitchFamily="34" charset="-122"/>
                <a:cs typeface="Arial" pitchFamily="34" charset="-120"/>
              </a:rPr>
              <a:t>VOYAGER.AI ALL-HANDS   ·   COFORGE  ×  ADOBE</a:t>
            </a:r>
            <a:endParaRPr lang="en-US" sz="800" dirty="0"/>
          </a:p>
        </p:txBody>
      </p:sp>
      <p:sp>
        <p:nvSpPr>
          <p:cNvPr id="50" name="Text 44"/>
          <p:cNvSpPr/>
          <p:nvPr/>
        </p:nvSpPr>
        <p:spPr>
          <a:xfrm>
            <a:off x="10637215" y="6428232"/>
            <a:ext cx="914400" cy="228600"/>
          </a:xfrm>
          <a:prstGeom prst="rect">
            <a:avLst/>
          </a:prstGeom>
          <a:noFill/>
          <a:ln/>
        </p:spPr>
        <p:txBody>
          <a:bodyPr wrap="square" lIns="0" tIns="0" rIns="0" bIns="0" rtlCol="0" anchor="ctr"/>
          <a:lstStyle/>
          <a:p>
            <a:pPr algn="r" indent="0" marL="0">
              <a:buNone/>
            </a:pPr>
            <a:r>
              <a:rPr lang="en-US" sz="800" b="1" dirty="0">
                <a:solidFill>
                  <a:srgbClr val="5F7085"/>
                </a:solidFill>
                <a:latin typeface="Arial" pitchFamily="34" charset="0"/>
                <a:ea typeface="Arial" pitchFamily="34" charset="-122"/>
                <a:cs typeface="Arial" pitchFamily="34" charset="-120"/>
              </a:rPr>
              <a:t>05 / 07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8229600" cy="237744"/>
          </a:xfrm>
          <a:prstGeom prst="rect">
            <a:avLst/>
          </a:prstGeom>
          <a:noFill/>
          <a:ln/>
        </p:spPr>
        <p:txBody>
          <a:bodyPr wrap="square" lIns="0" tIns="0" rIns="0" bIns="0" rtlCol="0" anchor="ctr"/>
          <a:lstStyle/>
          <a:p>
            <a:pPr indent="0" marL="0">
              <a:buNone/>
            </a:pPr>
            <a:r>
              <a:rPr lang="en-US" sz="1050" b="1" spc="220" kern="0" dirty="0">
                <a:solidFill>
                  <a:srgbClr val="00A792"/>
                </a:solidFill>
                <a:latin typeface="Arial" pitchFamily="34" charset="0"/>
                <a:ea typeface="Arial" pitchFamily="34" charset="-122"/>
                <a:cs typeface="Arial" pitchFamily="34" charset="-120"/>
              </a:rPr>
              <a:t>AGENDA 06   ·   YOUR TURN</a:t>
            </a:r>
            <a:endParaRPr lang="en-US" sz="1050" dirty="0"/>
          </a:p>
        </p:txBody>
      </p:sp>
      <p:sp>
        <p:nvSpPr>
          <p:cNvPr id="3" name="Text 1"/>
          <p:cNvSpPr/>
          <p:nvPr/>
        </p:nvSpPr>
        <p:spPr>
          <a:xfrm>
            <a:off x="640080" y="914400"/>
            <a:ext cx="8412480" cy="713232"/>
          </a:xfrm>
          <a:prstGeom prst="rect">
            <a:avLst/>
          </a:prstGeom>
          <a:noFill/>
          <a:ln/>
        </p:spPr>
        <p:txBody>
          <a:bodyPr wrap="square" lIns="0" tIns="0" rIns="0" bIns="0" rtlCol="0" anchor="ctr"/>
          <a:lstStyle/>
          <a:p>
            <a:pPr indent="0" marL="0">
              <a:buNone/>
            </a:pPr>
            <a:r>
              <a:rPr lang="en-US" sz="3000" b="1" dirty="0">
                <a:solidFill>
                  <a:srgbClr val="0B1D31"/>
                </a:solidFill>
                <a:latin typeface="Arial" pitchFamily="34" charset="0"/>
                <a:ea typeface="Arial" pitchFamily="34" charset="-122"/>
                <a:cs typeface="Arial" pitchFamily="34" charset="-120"/>
              </a:rPr>
              <a:t>How the Experience team can participate</a:t>
            </a:r>
            <a:endParaRPr lang="en-US" sz="3000" dirty="0"/>
          </a:p>
        </p:txBody>
      </p:sp>
      <p:sp>
        <p:nvSpPr>
          <p:cNvPr id="4" name="Shape 2"/>
          <p:cNvSpPr/>
          <p:nvPr/>
        </p:nvSpPr>
        <p:spPr>
          <a:xfrm>
            <a:off x="8369503" y="548640"/>
            <a:ext cx="3182112" cy="365760"/>
          </a:xfrm>
          <a:prstGeom prst="roundRect">
            <a:avLst>
              <a:gd name="adj" fmla="val 47500"/>
            </a:avLst>
          </a:prstGeom>
          <a:solidFill>
            <a:srgbClr val="F3F6FB"/>
          </a:solidFill>
          <a:ln w="12700">
            <a:solidFill>
              <a:srgbClr val="DBE3EF"/>
            </a:solidFill>
            <a:prstDash val="solid"/>
          </a:ln>
        </p:spPr>
      </p:sp>
      <p:sp>
        <p:nvSpPr>
          <p:cNvPr id="5" name="Shape 3"/>
          <p:cNvSpPr/>
          <p:nvPr/>
        </p:nvSpPr>
        <p:spPr>
          <a:xfrm>
            <a:off x="8570671" y="676656"/>
            <a:ext cx="109728" cy="109728"/>
          </a:xfrm>
          <a:prstGeom prst="ellipse">
            <a:avLst/>
          </a:prstGeom>
          <a:solidFill>
            <a:srgbClr val="00A792"/>
          </a:solidFill>
          <a:ln w="12700">
            <a:solidFill>
              <a:srgbClr val="00A792"/>
            </a:solidFill>
            <a:prstDash val="solid"/>
          </a:ln>
        </p:spPr>
      </p:sp>
      <p:sp>
        <p:nvSpPr>
          <p:cNvPr id="6" name="Shape 4"/>
          <p:cNvSpPr/>
          <p:nvPr/>
        </p:nvSpPr>
        <p:spPr>
          <a:xfrm>
            <a:off x="8744407" y="676656"/>
            <a:ext cx="109728" cy="109728"/>
          </a:xfrm>
          <a:prstGeom prst="ellipse">
            <a:avLst/>
          </a:prstGeom>
          <a:solidFill>
            <a:srgbClr val="F15B40"/>
          </a:solidFill>
          <a:ln w="12700">
            <a:solidFill>
              <a:srgbClr val="F15B40"/>
            </a:solidFill>
            <a:prstDash val="solid"/>
          </a:ln>
        </p:spPr>
      </p:sp>
      <p:sp>
        <p:nvSpPr>
          <p:cNvPr id="7" name="Text 5"/>
          <p:cNvSpPr/>
          <p:nvPr/>
        </p:nvSpPr>
        <p:spPr>
          <a:xfrm>
            <a:off x="8899855" y="548640"/>
            <a:ext cx="2505456" cy="365760"/>
          </a:xfrm>
          <a:prstGeom prst="rect">
            <a:avLst/>
          </a:prstGeom>
          <a:noFill/>
          <a:ln/>
        </p:spPr>
        <p:txBody>
          <a:bodyPr wrap="square" lIns="0" tIns="0" rIns="0" bIns="0" rtlCol="0" anchor="ctr"/>
          <a:lstStyle/>
          <a:p>
            <a:pPr indent="0" marL="0">
              <a:buNone/>
            </a:pPr>
            <a:r>
              <a:rPr lang="en-US" sz="900" b="1" spc="80" kern="0" dirty="0">
                <a:solidFill>
                  <a:srgbClr val="0B1D31"/>
                </a:solidFill>
                <a:latin typeface="Arial" pitchFamily="34" charset="0"/>
                <a:ea typeface="Arial" pitchFamily="34" charset="-122"/>
                <a:cs typeface="Arial" pitchFamily="34" charset="-120"/>
              </a:rPr>
              <a:t>ANANT  +  SANDEEP UPPAL   ·   3 MIN</a:t>
            </a:r>
            <a:endParaRPr lang="en-US" sz="900" dirty="0"/>
          </a:p>
        </p:txBody>
      </p:sp>
      <p:sp>
        <p:nvSpPr>
          <p:cNvPr id="8" name="Shape 6"/>
          <p:cNvSpPr/>
          <p:nvPr/>
        </p:nvSpPr>
        <p:spPr>
          <a:xfrm>
            <a:off x="640080" y="1920240"/>
            <a:ext cx="2020824" cy="2880360"/>
          </a:xfrm>
          <a:prstGeom prst="roundRect">
            <a:avLst>
              <a:gd name="adj" fmla="val 3620"/>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9" name="Shape 7"/>
          <p:cNvSpPr/>
          <p:nvPr/>
        </p:nvSpPr>
        <p:spPr>
          <a:xfrm>
            <a:off x="1348740" y="2249424"/>
            <a:ext cx="603504" cy="603504"/>
          </a:xfrm>
          <a:prstGeom prst="ellipse">
            <a:avLst/>
          </a:prstGeom>
          <a:solidFill>
            <a:srgbClr val="E0F4F1"/>
          </a:solidFill>
          <a:ln w="12700">
            <a:solidFill>
              <a:srgbClr val="E0F4F1"/>
            </a:solidFill>
            <a:prstDash val="solid"/>
          </a:ln>
        </p:spPr>
      </p:sp>
      <p:pic>
        <p:nvPicPr>
          <p:cNvPr id="10" name="Image 0" descr="/home/claude/work/icons/award_teal.png">    </p:cNvPr>
          <p:cNvPicPr>
            <a:picLocks noChangeAspect="1"/>
          </p:cNvPicPr>
          <p:nvPr/>
        </p:nvPicPr>
        <p:blipFill>
          <a:blip r:embed="rId1"/>
          <a:stretch>
            <a:fillRect/>
          </a:stretch>
        </p:blipFill>
        <p:spPr>
          <a:xfrm>
            <a:off x="1504188" y="2404872"/>
            <a:ext cx="292608" cy="292608"/>
          </a:xfrm>
          <a:prstGeom prst="rect">
            <a:avLst/>
          </a:prstGeom>
        </p:spPr>
      </p:pic>
      <p:sp>
        <p:nvSpPr>
          <p:cNvPr id="11" name="Shape 8"/>
          <p:cNvSpPr/>
          <p:nvPr/>
        </p:nvSpPr>
        <p:spPr>
          <a:xfrm>
            <a:off x="1449324" y="2980944"/>
            <a:ext cx="402336" cy="402336"/>
          </a:xfrm>
          <a:prstGeom prst="ellipse">
            <a:avLst/>
          </a:prstGeom>
          <a:solidFill>
            <a:srgbClr val="00A792"/>
          </a:solidFill>
          <a:ln w="12700">
            <a:solidFill>
              <a:srgbClr val="00A792"/>
            </a:solidFill>
            <a:prstDash val="solid"/>
          </a:ln>
        </p:spPr>
      </p:sp>
      <p:sp>
        <p:nvSpPr>
          <p:cNvPr id="12" name="Text 9"/>
          <p:cNvSpPr/>
          <p:nvPr/>
        </p:nvSpPr>
        <p:spPr>
          <a:xfrm>
            <a:off x="1449324" y="29809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822960" y="3511296"/>
            <a:ext cx="1655064" cy="457200"/>
          </a:xfrm>
          <a:prstGeom prst="rect">
            <a:avLst/>
          </a:prstGeom>
          <a:noFill/>
          <a:ln/>
        </p:spPr>
        <p:txBody>
          <a:bodyPr wrap="square" lIns="0" tIns="0" rIns="0" bIns="0" rtlCol="0" anchor="t"/>
          <a:lstStyle/>
          <a:p>
            <a:pPr algn="ctr" indent="0" marL="0">
              <a:lnSpc>
                <a:spcPct val="105000"/>
              </a:lnSpc>
              <a:buNone/>
            </a:pPr>
            <a:r>
              <a:rPr lang="en-US" sz="1350" b="1" dirty="0">
                <a:solidFill>
                  <a:srgbClr val="0B1D31"/>
                </a:solidFill>
                <a:latin typeface="Arial" pitchFamily="34" charset="0"/>
                <a:ea typeface="Arial" pitchFamily="34" charset="-122"/>
                <a:cs typeface="Arial" pitchFamily="34" charset="-120"/>
              </a:rPr>
              <a:t>Get enabled</a:t>
            </a:r>
            <a:endParaRPr lang="en-US" sz="1350" dirty="0"/>
          </a:p>
        </p:txBody>
      </p:sp>
      <p:sp>
        <p:nvSpPr>
          <p:cNvPr id="14" name="Text 11"/>
          <p:cNvSpPr/>
          <p:nvPr/>
        </p:nvSpPr>
        <p:spPr>
          <a:xfrm>
            <a:off x="841248" y="3968496"/>
            <a:ext cx="1618488" cy="749808"/>
          </a:xfrm>
          <a:prstGeom prst="rect">
            <a:avLst/>
          </a:prstGeom>
          <a:noFill/>
          <a:ln/>
        </p:spPr>
        <p:txBody>
          <a:bodyPr wrap="square" lIns="0" tIns="0" rIns="0" bIns="0" rtlCol="0" anchor="t"/>
          <a:lstStyle/>
          <a:p>
            <a:pPr algn="ctr" indent="0" marL="0">
              <a:lnSpc>
                <a:spcPct val="116000"/>
              </a:lnSpc>
              <a:buNone/>
            </a:pPr>
            <a:r>
              <a:rPr lang="en-US" sz="1000" dirty="0">
                <a:solidFill>
                  <a:srgbClr val="5F7085"/>
                </a:solidFill>
                <a:latin typeface="Arial" pitchFamily="34" charset="0"/>
                <a:ea typeface="Arial" pitchFamily="34" charset="-122"/>
                <a:cs typeface="Arial" pitchFamily="34" charset="-120"/>
              </a:rPr>
              <a:t>Complete the Voyager.AI enablement path and the Adobe credentials that back it.</a:t>
            </a:r>
            <a:endParaRPr lang="en-US" sz="1000" dirty="0"/>
          </a:p>
        </p:txBody>
      </p:sp>
      <p:sp>
        <p:nvSpPr>
          <p:cNvPr id="15" name="Shape 12"/>
          <p:cNvSpPr/>
          <p:nvPr/>
        </p:nvSpPr>
        <p:spPr>
          <a:xfrm>
            <a:off x="2816352" y="1920240"/>
            <a:ext cx="2020824" cy="2880360"/>
          </a:xfrm>
          <a:prstGeom prst="roundRect">
            <a:avLst>
              <a:gd name="adj" fmla="val 3620"/>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16" name="Shape 13"/>
          <p:cNvSpPr/>
          <p:nvPr/>
        </p:nvSpPr>
        <p:spPr>
          <a:xfrm>
            <a:off x="3525012" y="2249424"/>
            <a:ext cx="603504" cy="603504"/>
          </a:xfrm>
          <a:prstGeom prst="ellipse">
            <a:avLst/>
          </a:prstGeom>
          <a:solidFill>
            <a:srgbClr val="FDEAE5"/>
          </a:solidFill>
          <a:ln w="12700">
            <a:solidFill>
              <a:srgbClr val="FDEAE5"/>
            </a:solidFill>
            <a:prstDash val="solid"/>
          </a:ln>
        </p:spPr>
      </p:sp>
      <p:pic>
        <p:nvPicPr>
          <p:cNvPr id="17" name="Image 1" descr="/home/claude/work/icons/magic_coral.png">    </p:cNvPr>
          <p:cNvPicPr>
            <a:picLocks noChangeAspect="1"/>
          </p:cNvPicPr>
          <p:nvPr/>
        </p:nvPicPr>
        <p:blipFill>
          <a:blip r:embed="rId2"/>
          <a:stretch>
            <a:fillRect/>
          </a:stretch>
        </p:blipFill>
        <p:spPr>
          <a:xfrm>
            <a:off x="3680460" y="2404872"/>
            <a:ext cx="292608" cy="292608"/>
          </a:xfrm>
          <a:prstGeom prst="rect">
            <a:avLst/>
          </a:prstGeom>
        </p:spPr>
      </p:pic>
      <p:sp>
        <p:nvSpPr>
          <p:cNvPr id="18" name="Shape 14"/>
          <p:cNvSpPr/>
          <p:nvPr/>
        </p:nvSpPr>
        <p:spPr>
          <a:xfrm>
            <a:off x="3625596" y="2980944"/>
            <a:ext cx="402336" cy="402336"/>
          </a:xfrm>
          <a:prstGeom prst="ellipse">
            <a:avLst/>
          </a:prstGeom>
          <a:solidFill>
            <a:srgbClr val="F15B40"/>
          </a:solidFill>
          <a:ln w="12700">
            <a:solidFill>
              <a:srgbClr val="F15B40"/>
            </a:solidFill>
            <a:prstDash val="solid"/>
          </a:ln>
        </p:spPr>
      </p:sp>
      <p:sp>
        <p:nvSpPr>
          <p:cNvPr id="19" name="Text 15"/>
          <p:cNvSpPr/>
          <p:nvPr/>
        </p:nvSpPr>
        <p:spPr>
          <a:xfrm>
            <a:off x="3625596" y="29809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0" name="Text 16"/>
          <p:cNvSpPr/>
          <p:nvPr/>
        </p:nvSpPr>
        <p:spPr>
          <a:xfrm>
            <a:off x="2999232" y="3511296"/>
            <a:ext cx="1655064" cy="457200"/>
          </a:xfrm>
          <a:prstGeom prst="rect">
            <a:avLst/>
          </a:prstGeom>
          <a:noFill/>
          <a:ln/>
        </p:spPr>
        <p:txBody>
          <a:bodyPr wrap="square" lIns="0" tIns="0" rIns="0" bIns="0" rtlCol="0" anchor="t"/>
          <a:lstStyle/>
          <a:p>
            <a:pPr algn="ctr" indent="0" marL="0">
              <a:lnSpc>
                <a:spcPct val="105000"/>
              </a:lnSpc>
              <a:buNone/>
            </a:pPr>
            <a:r>
              <a:rPr lang="en-US" sz="1350" b="1" dirty="0">
                <a:solidFill>
                  <a:srgbClr val="0B1D31"/>
                </a:solidFill>
                <a:latin typeface="Arial" pitchFamily="34" charset="0"/>
                <a:ea typeface="Arial" pitchFamily="34" charset="-122"/>
                <a:cs typeface="Arial" pitchFamily="34" charset="-120"/>
              </a:rPr>
              <a:t>Run the demos</a:t>
            </a:r>
            <a:endParaRPr lang="en-US" sz="1350" dirty="0"/>
          </a:p>
        </p:txBody>
      </p:sp>
      <p:sp>
        <p:nvSpPr>
          <p:cNvPr id="21" name="Text 17"/>
          <p:cNvSpPr/>
          <p:nvPr/>
        </p:nvSpPr>
        <p:spPr>
          <a:xfrm>
            <a:off x="3017520" y="3968496"/>
            <a:ext cx="1618488" cy="749808"/>
          </a:xfrm>
          <a:prstGeom prst="rect">
            <a:avLst/>
          </a:prstGeom>
          <a:noFill/>
          <a:ln/>
        </p:spPr>
        <p:txBody>
          <a:bodyPr wrap="square" lIns="0" tIns="0" rIns="0" bIns="0" rtlCol="0" anchor="t"/>
          <a:lstStyle/>
          <a:p>
            <a:pPr algn="ctr" indent="0" marL="0">
              <a:lnSpc>
                <a:spcPct val="116000"/>
              </a:lnSpc>
              <a:buNone/>
            </a:pPr>
            <a:r>
              <a:rPr lang="en-US" sz="1000" dirty="0">
                <a:solidFill>
                  <a:srgbClr val="5F7085"/>
                </a:solidFill>
                <a:latin typeface="Arial" pitchFamily="34" charset="0"/>
                <a:ea typeface="Arial" pitchFamily="34" charset="-122"/>
                <a:cs typeface="Arial" pitchFamily="34" charset="-120"/>
              </a:rPr>
              <a:t>Learn the two flagship journeys and be able to demo them live in a customer room.</a:t>
            </a:r>
            <a:endParaRPr lang="en-US" sz="1000" dirty="0"/>
          </a:p>
        </p:txBody>
      </p:sp>
      <p:sp>
        <p:nvSpPr>
          <p:cNvPr id="22" name="Shape 18"/>
          <p:cNvSpPr/>
          <p:nvPr/>
        </p:nvSpPr>
        <p:spPr>
          <a:xfrm>
            <a:off x="4992624" y="1920240"/>
            <a:ext cx="2020824" cy="2880360"/>
          </a:xfrm>
          <a:prstGeom prst="roundRect">
            <a:avLst>
              <a:gd name="adj" fmla="val 3620"/>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23" name="Shape 19"/>
          <p:cNvSpPr/>
          <p:nvPr/>
        </p:nvSpPr>
        <p:spPr>
          <a:xfrm>
            <a:off x="5701284" y="2249424"/>
            <a:ext cx="603504" cy="603504"/>
          </a:xfrm>
          <a:prstGeom prst="ellipse">
            <a:avLst/>
          </a:prstGeom>
          <a:solidFill>
            <a:srgbClr val="E4ECFB"/>
          </a:solidFill>
          <a:ln w="12700">
            <a:solidFill>
              <a:srgbClr val="E4ECFB"/>
            </a:solidFill>
            <a:prstDash val="solid"/>
          </a:ln>
        </p:spPr>
      </p:sp>
      <p:pic>
        <p:nvPicPr>
          <p:cNvPr id="24" name="Image 2" descr="/home/claude/work/icons/globe_adobe.png">    </p:cNvPr>
          <p:cNvPicPr>
            <a:picLocks noChangeAspect="1"/>
          </p:cNvPicPr>
          <p:nvPr/>
        </p:nvPicPr>
        <p:blipFill>
          <a:blip r:embed="rId3"/>
          <a:stretch>
            <a:fillRect/>
          </a:stretch>
        </p:blipFill>
        <p:spPr>
          <a:xfrm>
            <a:off x="5856732" y="2404872"/>
            <a:ext cx="292608" cy="292608"/>
          </a:xfrm>
          <a:prstGeom prst="rect">
            <a:avLst/>
          </a:prstGeom>
        </p:spPr>
      </p:pic>
      <p:sp>
        <p:nvSpPr>
          <p:cNvPr id="25" name="Shape 20"/>
          <p:cNvSpPr/>
          <p:nvPr/>
        </p:nvSpPr>
        <p:spPr>
          <a:xfrm>
            <a:off x="5801868" y="2980944"/>
            <a:ext cx="402336" cy="402336"/>
          </a:xfrm>
          <a:prstGeom prst="ellipse">
            <a:avLst/>
          </a:prstGeom>
          <a:solidFill>
            <a:srgbClr val="2E6FD6"/>
          </a:solidFill>
          <a:ln w="12700">
            <a:solidFill>
              <a:srgbClr val="2E6FD6"/>
            </a:solidFill>
            <a:prstDash val="solid"/>
          </a:ln>
        </p:spPr>
      </p:sp>
      <p:sp>
        <p:nvSpPr>
          <p:cNvPr id="26" name="Text 21"/>
          <p:cNvSpPr/>
          <p:nvPr/>
        </p:nvSpPr>
        <p:spPr>
          <a:xfrm>
            <a:off x="5801868" y="29809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7" name="Text 22"/>
          <p:cNvSpPr/>
          <p:nvPr/>
        </p:nvSpPr>
        <p:spPr>
          <a:xfrm>
            <a:off x="5175504" y="3511296"/>
            <a:ext cx="1655064" cy="457200"/>
          </a:xfrm>
          <a:prstGeom prst="rect">
            <a:avLst/>
          </a:prstGeom>
          <a:noFill/>
          <a:ln/>
        </p:spPr>
        <p:txBody>
          <a:bodyPr wrap="square" lIns="0" tIns="0" rIns="0" bIns="0" rtlCol="0" anchor="t"/>
          <a:lstStyle/>
          <a:p>
            <a:pPr algn="ctr" indent="0" marL="0">
              <a:lnSpc>
                <a:spcPct val="105000"/>
              </a:lnSpc>
              <a:buNone/>
            </a:pPr>
            <a:r>
              <a:rPr lang="en-US" sz="1350" b="1" dirty="0">
                <a:solidFill>
                  <a:srgbClr val="0B1D31"/>
                </a:solidFill>
                <a:latin typeface="Arial" pitchFamily="34" charset="0"/>
                <a:ea typeface="Arial" pitchFamily="34" charset="-122"/>
                <a:cs typeface="Arial" pitchFamily="34" charset="-120"/>
              </a:rPr>
              <a:t>Bring your industry</a:t>
            </a:r>
            <a:endParaRPr lang="en-US" sz="1350" dirty="0"/>
          </a:p>
        </p:txBody>
      </p:sp>
      <p:sp>
        <p:nvSpPr>
          <p:cNvPr id="28" name="Text 23"/>
          <p:cNvSpPr/>
          <p:nvPr/>
        </p:nvSpPr>
        <p:spPr>
          <a:xfrm>
            <a:off x="5193792" y="3968496"/>
            <a:ext cx="1618488" cy="749808"/>
          </a:xfrm>
          <a:prstGeom prst="rect">
            <a:avLst/>
          </a:prstGeom>
          <a:noFill/>
          <a:ln/>
        </p:spPr>
        <p:txBody>
          <a:bodyPr wrap="square" lIns="0" tIns="0" rIns="0" bIns="0" rtlCol="0" anchor="t"/>
          <a:lstStyle/>
          <a:p>
            <a:pPr algn="ctr" indent="0" marL="0">
              <a:lnSpc>
                <a:spcPct val="116000"/>
              </a:lnSpc>
              <a:buNone/>
            </a:pPr>
            <a:r>
              <a:rPr lang="en-US" sz="1000" dirty="0">
                <a:solidFill>
                  <a:srgbClr val="5F7085"/>
                </a:solidFill>
                <a:latin typeface="Arial" pitchFamily="34" charset="0"/>
                <a:ea typeface="Arial" pitchFamily="34" charset="-122"/>
                <a:cs typeface="Arial" pitchFamily="34" charset="-120"/>
              </a:rPr>
              <a:t>Adapt the pattern to your sector — banking, insurance, retail, healthcare, travel.</a:t>
            </a:r>
            <a:endParaRPr lang="en-US" sz="1000" dirty="0"/>
          </a:p>
        </p:txBody>
      </p:sp>
      <p:sp>
        <p:nvSpPr>
          <p:cNvPr id="29" name="Shape 24"/>
          <p:cNvSpPr/>
          <p:nvPr/>
        </p:nvSpPr>
        <p:spPr>
          <a:xfrm>
            <a:off x="7168896" y="1920240"/>
            <a:ext cx="2020824" cy="2880360"/>
          </a:xfrm>
          <a:prstGeom prst="roundRect">
            <a:avLst>
              <a:gd name="adj" fmla="val 3620"/>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30" name="Shape 25"/>
          <p:cNvSpPr/>
          <p:nvPr/>
        </p:nvSpPr>
        <p:spPr>
          <a:xfrm>
            <a:off x="7877556" y="2249424"/>
            <a:ext cx="603504" cy="603504"/>
          </a:xfrm>
          <a:prstGeom prst="ellipse">
            <a:avLst/>
          </a:prstGeom>
          <a:solidFill>
            <a:srgbClr val="E0F4F1"/>
          </a:solidFill>
          <a:ln w="12700">
            <a:solidFill>
              <a:srgbClr val="E0F4F1"/>
            </a:solidFill>
            <a:prstDash val="solid"/>
          </a:ln>
        </p:spPr>
      </p:sp>
      <p:pic>
        <p:nvPicPr>
          <p:cNvPr id="31" name="Image 3" descr="/home/claude/work/icons/microchip_teal.png">    </p:cNvPr>
          <p:cNvPicPr>
            <a:picLocks noChangeAspect="1"/>
          </p:cNvPicPr>
          <p:nvPr/>
        </p:nvPicPr>
        <p:blipFill>
          <a:blip r:embed="rId4"/>
          <a:stretch>
            <a:fillRect/>
          </a:stretch>
        </p:blipFill>
        <p:spPr>
          <a:xfrm>
            <a:off x="8033004" y="2404872"/>
            <a:ext cx="292608" cy="292608"/>
          </a:xfrm>
          <a:prstGeom prst="rect">
            <a:avLst/>
          </a:prstGeom>
        </p:spPr>
      </p:pic>
      <p:sp>
        <p:nvSpPr>
          <p:cNvPr id="32" name="Shape 26"/>
          <p:cNvSpPr/>
          <p:nvPr/>
        </p:nvSpPr>
        <p:spPr>
          <a:xfrm>
            <a:off x="7978140" y="2980944"/>
            <a:ext cx="402336" cy="402336"/>
          </a:xfrm>
          <a:prstGeom prst="ellipse">
            <a:avLst/>
          </a:prstGeom>
          <a:solidFill>
            <a:srgbClr val="00A792"/>
          </a:solidFill>
          <a:ln w="12700">
            <a:solidFill>
              <a:srgbClr val="00A792"/>
            </a:solidFill>
            <a:prstDash val="solid"/>
          </a:ln>
        </p:spPr>
      </p:sp>
      <p:sp>
        <p:nvSpPr>
          <p:cNvPr id="33" name="Text 27"/>
          <p:cNvSpPr/>
          <p:nvPr/>
        </p:nvSpPr>
        <p:spPr>
          <a:xfrm>
            <a:off x="7978140" y="29809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4" name="Text 28"/>
          <p:cNvSpPr/>
          <p:nvPr/>
        </p:nvSpPr>
        <p:spPr>
          <a:xfrm>
            <a:off x="7351776" y="3511296"/>
            <a:ext cx="1655064" cy="457200"/>
          </a:xfrm>
          <a:prstGeom prst="rect">
            <a:avLst/>
          </a:prstGeom>
          <a:noFill/>
          <a:ln/>
        </p:spPr>
        <p:txBody>
          <a:bodyPr wrap="square" lIns="0" tIns="0" rIns="0" bIns="0" rtlCol="0" anchor="t"/>
          <a:lstStyle/>
          <a:p>
            <a:pPr algn="ctr" indent="0" marL="0">
              <a:lnSpc>
                <a:spcPct val="105000"/>
              </a:lnSpc>
              <a:buNone/>
            </a:pPr>
            <a:r>
              <a:rPr lang="en-US" sz="1350" b="1" dirty="0">
                <a:solidFill>
                  <a:srgbClr val="0B1D31"/>
                </a:solidFill>
                <a:latin typeface="Arial" pitchFamily="34" charset="0"/>
                <a:ea typeface="Arial" pitchFamily="34" charset="-122"/>
                <a:cs typeface="Arial" pitchFamily="34" charset="-120"/>
              </a:rPr>
              <a:t>Sharpen delivery</a:t>
            </a:r>
            <a:endParaRPr lang="en-US" sz="1350" dirty="0"/>
          </a:p>
        </p:txBody>
      </p:sp>
      <p:sp>
        <p:nvSpPr>
          <p:cNvPr id="35" name="Text 29"/>
          <p:cNvSpPr/>
          <p:nvPr/>
        </p:nvSpPr>
        <p:spPr>
          <a:xfrm>
            <a:off x="7370064" y="3968496"/>
            <a:ext cx="1618488" cy="749808"/>
          </a:xfrm>
          <a:prstGeom prst="rect">
            <a:avLst/>
          </a:prstGeom>
          <a:noFill/>
          <a:ln/>
        </p:spPr>
        <p:txBody>
          <a:bodyPr wrap="square" lIns="0" tIns="0" rIns="0" bIns="0" rtlCol="0" anchor="t"/>
          <a:lstStyle/>
          <a:p>
            <a:pPr algn="ctr" indent="0" marL="0">
              <a:lnSpc>
                <a:spcPct val="116000"/>
              </a:lnSpc>
              <a:buNone/>
            </a:pPr>
            <a:r>
              <a:rPr lang="en-US" sz="1000" dirty="0">
                <a:solidFill>
                  <a:srgbClr val="5F7085"/>
                </a:solidFill>
                <a:latin typeface="Arial" pitchFamily="34" charset="0"/>
                <a:ea typeface="Arial" pitchFamily="34" charset="-122"/>
                <a:cs typeface="Arial" pitchFamily="34" charset="-120"/>
              </a:rPr>
              <a:t>Build the AEP, AJO and AI skills that turn the accelerator into a shipped outcome.</a:t>
            </a:r>
            <a:endParaRPr lang="en-US" sz="1000" dirty="0"/>
          </a:p>
        </p:txBody>
      </p:sp>
      <p:sp>
        <p:nvSpPr>
          <p:cNvPr id="36" name="Shape 30"/>
          <p:cNvSpPr/>
          <p:nvPr/>
        </p:nvSpPr>
        <p:spPr>
          <a:xfrm>
            <a:off x="9345168" y="1920240"/>
            <a:ext cx="2020824" cy="2880360"/>
          </a:xfrm>
          <a:prstGeom prst="roundRect">
            <a:avLst>
              <a:gd name="adj" fmla="val 3620"/>
            </a:avLst>
          </a:prstGeom>
          <a:solidFill>
            <a:srgbClr val="FFFFFF"/>
          </a:solidFill>
          <a:ln w="12700">
            <a:solidFill>
              <a:srgbClr val="DBE3EF"/>
            </a:solidFill>
            <a:prstDash val="solid"/>
          </a:ln>
          <a:effectLst>
            <a:outerShdw sx="100000" sy="100000" kx="0" ky="0" algn="bl" rotWithShape="0" blurRad="177800" dist="25400" dir="5400000">
              <a:srgbClr val="0B1D31">
                <a:alpha val="10000"/>
              </a:srgbClr>
            </a:outerShdw>
          </a:effectLst>
        </p:spPr>
      </p:sp>
      <p:sp>
        <p:nvSpPr>
          <p:cNvPr id="37" name="Shape 31"/>
          <p:cNvSpPr/>
          <p:nvPr/>
        </p:nvSpPr>
        <p:spPr>
          <a:xfrm>
            <a:off x="10053828" y="2249424"/>
            <a:ext cx="603504" cy="603504"/>
          </a:xfrm>
          <a:prstGeom prst="ellipse">
            <a:avLst/>
          </a:prstGeom>
          <a:solidFill>
            <a:srgbClr val="FDEAE5"/>
          </a:solidFill>
          <a:ln w="12700">
            <a:solidFill>
              <a:srgbClr val="FDEAE5"/>
            </a:solidFill>
            <a:prstDash val="solid"/>
          </a:ln>
        </p:spPr>
      </p:sp>
      <p:pic>
        <p:nvPicPr>
          <p:cNvPr id="38" name="Image 4" descr="/home/claude/work/icons/handshake_coral.png">    </p:cNvPr>
          <p:cNvPicPr>
            <a:picLocks noChangeAspect="1"/>
          </p:cNvPicPr>
          <p:nvPr/>
        </p:nvPicPr>
        <p:blipFill>
          <a:blip r:embed="rId5"/>
          <a:stretch>
            <a:fillRect/>
          </a:stretch>
        </p:blipFill>
        <p:spPr>
          <a:xfrm>
            <a:off x="10209276" y="2404872"/>
            <a:ext cx="292608" cy="292608"/>
          </a:xfrm>
          <a:prstGeom prst="rect">
            <a:avLst/>
          </a:prstGeom>
        </p:spPr>
      </p:pic>
      <p:sp>
        <p:nvSpPr>
          <p:cNvPr id="39" name="Shape 32"/>
          <p:cNvSpPr/>
          <p:nvPr/>
        </p:nvSpPr>
        <p:spPr>
          <a:xfrm>
            <a:off x="10154412" y="2980944"/>
            <a:ext cx="402336" cy="402336"/>
          </a:xfrm>
          <a:prstGeom prst="ellipse">
            <a:avLst/>
          </a:prstGeom>
          <a:solidFill>
            <a:srgbClr val="F15B40"/>
          </a:solidFill>
          <a:ln w="12700">
            <a:solidFill>
              <a:srgbClr val="F15B40"/>
            </a:solidFill>
            <a:prstDash val="solid"/>
          </a:ln>
        </p:spPr>
      </p:sp>
      <p:sp>
        <p:nvSpPr>
          <p:cNvPr id="40" name="Text 33"/>
          <p:cNvSpPr/>
          <p:nvPr/>
        </p:nvSpPr>
        <p:spPr>
          <a:xfrm>
            <a:off x="10154412" y="29809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41" name="Text 34"/>
          <p:cNvSpPr/>
          <p:nvPr/>
        </p:nvSpPr>
        <p:spPr>
          <a:xfrm>
            <a:off x="9528048" y="3511296"/>
            <a:ext cx="1655064" cy="457200"/>
          </a:xfrm>
          <a:prstGeom prst="rect">
            <a:avLst/>
          </a:prstGeom>
          <a:noFill/>
          <a:ln/>
        </p:spPr>
        <p:txBody>
          <a:bodyPr wrap="square" lIns="0" tIns="0" rIns="0" bIns="0" rtlCol="0" anchor="t"/>
          <a:lstStyle/>
          <a:p>
            <a:pPr algn="ctr" indent="0" marL="0">
              <a:lnSpc>
                <a:spcPct val="105000"/>
              </a:lnSpc>
              <a:buNone/>
            </a:pPr>
            <a:r>
              <a:rPr lang="en-US" sz="1350" b="1" dirty="0">
                <a:solidFill>
                  <a:srgbClr val="0B1D31"/>
                </a:solidFill>
                <a:latin typeface="Arial" pitchFamily="34" charset="0"/>
                <a:ea typeface="Arial" pitchFamily="34" charset="-122"/>
                <a:cs typeface="Arial" pitchFamily="34" charset="-120"/>
              </a:rPr>
              <a:t>Nominate a customer</a:t>
            </a:r>
            <a:endParaRPr lang="en-US" sz="1350" dirty="0"/>
          </a:p>
        </p:txBody>
      </p:sp>
      <p:sp>
        <p:nvSpPr>
          <p:cNvPr id="42" name="Text 35"/>
          <p:cNvSpPr/>
          <p:nvPr/>
        </p:nvSpPr>
        <p:spPr>
          <a:xfrm>
            <a:off x="9546336" y="3968496"/>
            <a:ext cx="1618488" cy="749808"/>
          </a:xfrm>
          <a:prstGeom prst="rect">
            <a:avLst/>
          </a:prstGeom>
          <a:noFill/>
          <a:ln/>
        </p:spPr>
        <p:txBody>
          <a:bodyPr wrap="square" lIns="0" tIns="0" rIns="0" bIns="0" rtlCol="0" anchor="t"/>
          <a:lstStyle/>
          <a:p>
            <a:pPr algn="ctr" indent="0" marL="0">
              <a:lnSpc>
                <a:spcPct val="116000"/>
              </a:lnSpc>
              <a:buNone/>
            </a:pPr>
            <a:r>
              <a:rPr lang="en-US" sz="1000" dirty="0">
                <a:solidFill>
                  <a:srgbClr val="5F7085"/>
                </a:solidFill>
                <a:latin typeface="Arial" pitchFamily="34" charset="0"/>
                <a:ea typeface="Arial" pitchFamily="34" charset="-122"/>
                <a:cs typeface="Arial" pitchFamily="34" charset="-120"/>
              </a:rPr>
              <a:t>Know an account that fits? Put it forward — that is how the pipeline starts.</a:t>
            </a:r>
            <a:endParaRPr lang="en-US" sz="1000" dirty="0"/>
          </a:p>
        </p:txBody>
      </p:sp>
      <p:sp>
        <p:nvSpPr>
          <p:cNvPr id="43" name="Shape 36"/>
          <p:cNvSpPr/>
          <p:nvPr/>
        </p:nvSpPr>
        <p:spPr>
          <a:xfrm>
            <a:off x="640080" y="5047488"/>
            <a:ext cx="10911535" cy="640080"/>
          </a:xfrm>
          <a:prstGeom prst="roundRect">
            <a:avLst>
              <a:gd name="adj" fmla="val 11429"/>
            </a:avLst>
          </a:prstGeom>
          <a:solidFill>
            <a:srgbClr val="F3F6FB"/>
          </a:solidFill>
          <a:ln w="12700">
            <a:solidFill>
              <a:srgbClr val="F3F6FB"/>
            </a:solidFill>
            <a:prstDash val="solid"/>
          </a:ln>
        </p:spPr>
      </p:sp>
      <p:pic>
        <p:nvPicPr>
          <p:cNvPr id="44" name="Image 5" descr="/home/claude/work/icons/seedling_teal.png">    </p:cNvPr>
          <p:cNvPicPr>
            <a:picLocks noChangeAspect="1"/>
          </p:cNvPicPr>
          <p:nvPr/>
        </p:nvPicPr>
        <p:blipFill>
          <a:blip r:embed="rId6"/>
          <a:stretch>
            <a:fillRect/>
          </a:stretch>
        </p:blipFill>
        <p:spPr>
          <a:xfrm>
            <a:off x="960120" y="5193792"/>
            <a:ext cx="347472" cy="347472"/>
          </a:xfrm>
          <a:prstGeom prst="rect">
            <a:avLst/>
          </a:prstGeom>
        </p:spPr>
      </p:pic>
      <p:sp>
        <p:nvSpPr>
          <p:cNvPr id="45" name="Text 37"/>
          <p:cNvSpPr/>
          <p:nvPr/>
        </p:nvSpPr>
        <p:spPr>
          <a:xfrm>
            <a:off x="1508760" y="5047488"/>
            <a:ext cx="9722815" cy="640080"/>
          </a:xfrm>
          <a:prstGeom prst="rect">
            <a:avLst/>
          </a:prstGeom>
          <a:noFill/>
          <a:ln/>
        </p:spPr>
        <p:txBody>
          <a:bodyPr wrap="square" lIns="0" tIns="0" rIns="0" bIns="0" rtlCol="0" anchor="ctr"/>
          <a:lstStyle/>
          <a:p>
            <a:pPr indent="0" marL="0">
              <a:buNone/>
            </a:pPr>
            <a:r>
              <a:rPr lang="en-US" sz="1250" dirty="0">
                <a:solidFill>
                  <a:srgbClr val="5F7085"/>
                </a:solidFill>
                <a:latin typeface="Arial" pitchFamily="34" charset="0"/>
                <a:ea typeface="Arial" pitchFamily="34" charset="-122"/>
                <a:cs typeface="Arial" pitchFamily="34" charset="-120"/>
              </a:rPr>
              <a:t>You don't need permission to start.  </a:t>
            </a:r>
            <a:pPr indent="0" marL="0">
              <a:buNone/>
            </a:pPr>
            <a:r>
              <a:rPr lang="en-US" sz="1250" b="1" dirty="0">
                <a:solidFill>
                  <a:srgbClr val="0B1D31"/>
                </a:solidFill>
                <a:latin typeface="Arial" pitchFamily="34" charset="0"/>
                <a:ea typeface="Arial" pitchFamily="34" charset="-122"/>
                <a:cs typeface="Arial" pitchFamily="34" charset="-120"/>
              </a:rPr>
              <a:t>Every one of these is open to all 1,800 of us from tomorrow.</a:t>
            </a:r>
            <a:endParaRPr lang="en-US" sz="1250" dirty="0"/>
          </a:p>
        </p:txBody>
      </p:sp>
      <p:sp>
        <p:nvSpPr>
          <p:cNvPr id="46" name="Text 38"/>
          <p:cNvSpPr/>
          <p:nvPr/>
        </p:nvSpPr>
        <p:spPr>
          <a:xfrm>
            <a:off x="640080" y="6428232"/>
            <a:ext cx="5486400" cy="228600"/>
          </a:xfrm>
          <a:prstGeom prst="rect">
            <a:avLst/>
          </a:prstGeom>
          <a:noFill/>
          <a:ln/>
        </p:spPr>
        <p:txBody>
          <a:bodyPr wrap="square" lIns="0" tIns="0" rIns="0" bIns="0" rtlCol="0" anchor="ctr"/>
          <a:lstStyle/>
          <a:p>
            <a:pPr indent="0" marL="0">
              <a:buNone/>
            </a:pPr>
            <a:r>
              <a:rPr lang="en-US" sz="800" spc="140" kern="0" dirty="0">
                <a:solidFill>
                  <a:srgbClr val="5F7085"/>
                </a:solidFill>
                <a:latin typeface="Arial" pitchFamily="34" charset="0"/>
                <a:ea typeface="Arial" pitchFamily="34" charset="-122"/>
                <a:cs typeface="Arial" pitchFamily="34" charset="-120"/>
              </a:rPr>
              <a:t>VOYAGER.AI ALL-HANDS   ·   COFORGE  ×  ADOBE</a:t>
            </a:r>
            <a:endParaRPr lang="en-US" sz="800" dirty="0"/>
          </a:p>
        </p:txBody>
      </p:sp>
      <p:sp>
        <p:nvSpPr>
          <p:cNvPr id="47" name="Text 39"/>
          <p:cNvSpPr/>
          <p:nvPr/>
        </p:nvSpPr>
        <p:spPr>
          <a:xfrm>
            <a:off x="10637215" y="6428232"/>
            <a:ext cx="914400" cy="228600"/>
          </a:xfrm>
          <a:prstGeom prst="rect">
            <a:avLst/>
          </a:prstGeom>
          <a:noFill/>
          <a:ln/>
        </p:spPr>
        <p:txBody>
          <a:bodyPr wrap="square" lIns="0" tIns="0" rIns="0" bIns="0" rtlCol="0" anchor="ctr"/>
          <a:lstStyle/>
          <a:p>
            <a:pPr algn="r" indent="0" marL="0">
              <a:buNone/>
            </a:pPr>
            <a:r>
              <a:rPr lang="en-US" sz="800" b="1" dirty="0">
                <a:solidFill>
                  <a:srgbClr val="5F7085"/>
                </a:solidFill>
                <a:latin typeface="Arial" pitchFamily="34" charset="0"/>
                <a:ea typeface="Arial" pitchFamily="34" charset="-122"/>
                <a:cs typeface="Arial" pitchFamily="34" charset="-120"/>
              </a:rPr>
              <a:t>06 / 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1727"/>
        </a:solidFill>
      </p:bgPr>
    </p:bg>
    <p:spTree>
      <p:nvGrpSpPr>
        <p:cNvPr id="1" name=""/>
        <p:cNvGrpSpPr/>
        <p:nvPr/>
      </p:nvGrpSpPr>
      <p:grpSpPr>
        <a:xfrm>
          <a:off x="0" y="0"/>
          <a:ext cx="0" cy="0"/>
          <a:chOff x="0" y="0"/>
          <a:chExt cx="0" cy="0"/>
        </a:xfrm>
      </p:grpSpPr>
      <p:pic>
        <p:nvPicPr>
          <p:cNvPr id="2" name="Image 0" descr="/home/claude/work/assets/hero_clos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822960" y="777240"/>
            <a:ext cx="7315200" cy="237744"/>
          </a:xfrm>
          <a:prstGeom prst="rect">
            <a:avLst/>
          </a:prstGeom>
          <a:noFill/>
          <a:ln/>
        </p:spPr>
        <p:txBody>
          <a:bodyPr wrap="square" lIns="0" tIns="0" rIns="0" bIns="0" rtlCol="0" anchor="ctr"/>
          <a:lstStyle/>
          <a:p>
            <a:pPr indent="0" marL="0">
              <a:buNone/>
            </a:pPr>
            <a:r>
              <a:rPr lang="en-US" sz="1050" b="1" spc="220" kern="0" dirty="0">
                <a:solidFill>
                  <a:srgbClr val="F15B40"/>
                </a:solidFill>
                <a:latin typeface="Arial" pitchFamily="34" charset="0"/>
                <a:ea typeface="Arial" pitchFamily="34" charset="-122"/>
                <a:cs typeface="Arial" pitchFamily="34" charset="-120"/>
              </a:rPr>
              <a:t>AGENDA 07   ·   CALL TO ACTION</a:t>
            </a:r>
            <a:endParaRPr lang="en-US" sz="1050" dirty="0"/>
          </a:p>
        </p:txBody>
      </p:sp>
      <p:sp>
        <p:nvSpPr>
          <p:cNvPr id="4" name="Shape 1"/>
          <p:cNvSpPr/>
          <p:nvPr/>
        </p:nvSpPr>
        <p:spPr>
          <a:xfrm>
            <a:off x="6796735" y="749808"/>
            <a:ext cx="4754880" cy="365760"/>
          </a:xfrm>
          <a:prstGeom prst="roundRect">
            <a:avLst>
              <a:gd name="adj" fmla="val 47500"/>
            </a:avLst>
          </a:prstGeom>
          <a:solidFill>
            <a:srgbClr val="0E3457"/>
          </a:solidFill>
          <a:ln w="12700">
            <a:solidFill>
              <a:srgbClr val="1D4B76"/>
            </a:solidFill>
            <a:prstDash val="solid"/>
          </a:ln>
        </p:spPr>
      </p:sp>
      <p:sp>
        <p:nvSpPr>
          <p:cNvPr id="5" name="Shape 2"/>
          <p:cNvSpPr/>
          <p:nvPr/>
        </p:nvSpPr>
        <p:spPr>
          <a:xfrm>
            <a:off x="6997903" y="877824"/>
            <a:ext cx="109728" cy="109728"/>
          </a:xfrm>
          <a:prstGeom prst="ellipse">
            <a:avLst/>
          </a:prstGeom>
          <a:solidFill>
            <a:srgbClr val="F15B40"/>
          </a:solidFill>
          <a:ln w="12700">
            <a:solidFill>
              <a:srgbClr val="F15B40"/>
            </a:solidFill>
            <a:prstDash val="solid"/>
          </a:ln>
        </p:spPr>
      </p:sp>
      <p:sp>
        <p:nvSpPr>
          <p:cNvPr id="6" name="Shape 3"/>
          <p:cNvSpPr/>
          <p:nvPr/>
        </p:nvSpPr>
        <p:spPr>
          <a:xfrm>
            <a:off x="7171639" y="877824"/>
            <a:ext cx="109728" cy="109728"/>
          </a:xfrm>
          <a:prstGeom prst="ellipse">
            <a:avLst/>
          </a:prstGeom>
          <a:solidFill>
            <a:srgbClr val="2E6FD6"/>
          </a:solidFill>
          <a:ln w="12700">
            <a:solidFill>
              <a:srgbClr val="2E6FD6"/>
            </a:solidFill>
            <a:prstDash val="solid"/>
          </a:ln>
        </p:spPr>
      </p:sp>
      <p:sp>
        <p:nvSpPr>
          <p:cNvPr id="7" name="Shape 4"/>
          <p:cNvSpPr/>
          <p:nvPr/>
        </p:nvSpPr>
        <p:spPr>
          <a:xfrm>
            <a:off x="7345375" y="877824"/>
            <a:ext cx="109728" cy="109728"/>
          </a:xfrm>
          <a:prstGeom prst="ellipse">
            <a:avLst/>
          </a:prstGeom>
          <a:solidFill>
            <a:srgbClr val="00A792"/>
          </a:solidFill>
          <a:ln w="12700">
            <a:solidFill>
              <a:srgbClr val="00A792"/>
            </a:solidFill>
            <a:prstDash val="solid"/>
          </a:ln>
        </p:spPr>
      </p:sp>
      <p:sp>
        <p:nvSpPr>
          <p:cNvPr id="8" name="Text 5"/>
          <p:cNvSpPr/>
          <p:nvPr/>
        </p:nvSpPr>
        <p:spPr>
          <a:xfrm>
            <a:off x="7500823" y="749808"/>
            <a:ext cx="3904488" cy="365760"/>
          </a:xfrm>
          <a:prstGeom prst="rect">
            <a:avLst/>
          </a:prstGeom>
          <a:noFill/>
          <a:ln/>
        </p:spPr>
        <p:txBody>
          <a:bodyPr wrap="square" lIns="0" tIns="0" rIns="0" bIns="0" rtlCol="0" anchor="ctr"/>
          <a:lstStyle/>
          <a:p>
            <a:pPr indent="0" marL="0">
              <a:buNone/>
            </a:pPr>
            <a:r>
              <a:rPr lang="en-US" sz="900" b="1" spc="80" kern="0" dirty="0">
                <a:solidFill>
                  <a:srgbClr val="FFFFFF"/>
                </a:solidFill>
                <a:latin typeface="Arial" pitchFamily="34" charset="0"/>
                <a:ea typeface="Arial" pitchFamily="34" charset="-122"/>
                <a:cs typeface="Arial" pitchFamily="34" charset="-120"/>
              </a:rPr>
              <a:t>SANDEEP UPPAL  +  ADOBE ARCHITECT  +  ANANT   ·   2 MIN</a:t>
            </a:r>
            <a:endParaRPr lang="en-US" sz="900" dirty="0"/>
          </a:p>
        </p:txBody>
      </p:sp>
      <p:sp>
        <p:nvSpPr>
          <p:cNvPr id="9" name="Text 6"/>
          <p:cNvSpPr/>
          <p:nvPr/>
        </p:nvSpPr>
        <p:spPr>
          <a:xfrm>
            <a:off x="822960" y="1417320"/>
            <a:ext cx="7498080" cy="1554480"/>
          </a:xfrm>
          <a:prstGeom prst="rect">
            <a:avLst/>
          </a:prstGeom>
          <a:noFill/>
          <a:ln/>
        </p:spPr>
        <p:txBody>
          <a:bodyPr wrap="square" lIns="0" tIns="0" rIns="0" bIns="0" rtlCol="0" anchor="t"/>
          <a:lstStyle/>
          <a:p>
            <a:pPr indent="0" marL="0">
              <a:lnSpc>
                <a:spcPct val="112000"/>
              </a:lnSpc>
              <a:buNone/>
            </a:pPr>
            <a:r>
              <a:rPr lang="en-US" sz="3400" dirty="0">
                <a:solidFill>
                  <a:srgbClr val="FFFFFF"/>
                </a:solidFill>
                <a:latin typeface="Cambria" pitchFamily="34" charset="0"/>
                <a:ea typeface="Cambria" pitchFamily="34" charset="-122"/>
                <a:cs typeface="Cambria" pitchFamily="34" charset="-120"/>
              </a:rPr>
              <a:t>Voyager was somebody's idea before it was Coforge's first badge.</a:t>
            </a:r>
            <a:endParaRPr lang="en-US" sz="3400" dirty="0"/>
          </a:p>
        </p:txBody>
      </p:sp>
      <p:sp>
        <p:nvSpPr>
          <p:cNvPr id="10" name="Shape 7"/>
          <p:cNvSpPr/>
          <p:nvPr/>
        </p:nvSpPr>
        <p:spPr>
          <a:xfrm>
            <a:off x="822960" y="3200400"/>
            <a:ext cx="3429000" cy="1600200"/>
          </a:xfrm>
          <a:prstGeom prst="roundRect">
            <a:avLst>
              <a:gd name="adj" fmla="val 4571"/>
            </a:avLst>
          </a:prstGeom>
          <a:solidFill>
            <a:srgbClr val="0E3457"/>
          </a:solidFill>
          <a:ln w="12700">
            <a:solidFill>
              <a:srgbClr val="1D4B76"/>
            </a:solidFill>
            <a:prstDash val="solid"/>
          </a:ln>
        </p:spPr>
      </p:sp>
      <p:sp>
        <p:nvSpPr>
          <p:cNvPr id="11" name="Shape 8"/>
          <p:cNvSpPr/>
          <p:nvPr/>
        </p:nvSpPr>
        <p:spPr>
          <a:xfrm>
            <a:off x="1115568" y="3456432"/>
            <a:ext cx="548640" cy="548640"/>
          </a:xfrm>
          <a:prstGeom prst="ellipse">
            <a:avLst/>
          </a:prstGeom>
          <a:solidFill>
            <a:srgbClr val="1D4B76"/>
          </a:solidFill>
          <a:ln w="12700">
            <a:solidFill>
              <a:srgbClr val="1D4B76"/>
            </a:solidFill>
            <a:prstDash val="solid"/>
          </a:ln>
        </p:spPr>
      </p:sp>
      <p:pic>
        <p:nvPicPr>
          <p:cNvPr id="12" name="Image 1" descr="/home/claude/work/icons/clipboard_white.png">    </p:cNvPr>
          <p:cNvPicPr>
            <a:picLocks noChangeAspect="1"/>
          </p:cNvPicPr>
          <p:nvPr/>
        </p:nvPicPr>
        <p:blipFill>
          <a:blip r:embed="rId2"/>
          <a:stretch>
            <a:fillRect/>
          </a:stretch>
        </p:blipFill>
        <p:spPr>
          <a:xfrm>
            <a:off x="1252728" y="3593592"/>
            <a:ext cx="274320" cy="274320"/>
          </a:xfrm>
          <a:prstGeom prst="rect">
            <a:avLst/>
          </a:prstGeom>
        </p:spPr>
      </p:pic>
      <p:sp>
        <p:nvSpPr>
          <p:cNvPr id="13" name="Text 9"/>
          <p:cNvSpPr/>
          <p:nvPr/>
        </p:nvSpPr>
        <p:spPr>
          <a:xfrm>
            <a:off x="1115568" y="4114800"/>
            <a:ext cx="2880360" cy="31089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Next steps</a:t>
            </a:r>
            <a:endParaRPr lang="en-US" sz="1450" dirty="0"/>
          </a:p>
        </p:txBody>
      </p:sp>
      <p:sp>
        <p:nvSpPr>
          <p:cNvPr id="14" name="Text 10"/>
          <p:cNvSpPr/>
          <p:nvPr/>
        </p:nvSpPr>
        <p:spPr>
          <a:xfrm>
            <a:off x="1115568" y="4425696"/>
            <a:ext cx="2880360" cy="329184"/>
          </a:xfrm>
          <a:prstGeom prst="rect">
            <a:avLst/>
          </a:prstGeom>
          <a:noFill/>
          <a:ln/>
        </p:spPr>
        <p:txBody>
          <a:bodyPr wrap="square" lIns="0" tIns="0" rIns="0" bIns="0" rtlCol="0" anchor="t"/>
          <a:lstStyle/>
          <a:p>
            <a:pPr indent="0" marL="0">
              <a:lnSpc>
                <a:spcPct val="115000"/>
              </a:lnSpc>
              <a:buNone/>
            </a:pPr>
            <a:r>
              <a:rPr lang="en-US" sz="1050" dirty="0">
                <a:solidFill>
                  <a:srgbClr val="C7D5EA"/>
                </a:solidFill>
                <a:latin typeface="Arial" pitchFamily="34" charset="0"/>
                <a:ea typeface="Arial" pitchFamily="34" charset="-122"/>
                <a:cs typeface="Arial" pitchFamily="34" charset="-120"/>
              </a:rPr>
              <a:t>Take the enablement path and get Voyager-ready this quarter.</a:t>
            </a:r>
            <a:endParaRPr lang="en-US" sz="1050" dirty="0"/>
          </a:p>
        </p:txBody>
      </p:sp>
      <p:sp>
        <p:nvSpPr>
          <p:cNvPr id="15" name="Shape 11"/>
          <p:cNvSpPr/>
          <p:nvPr/>
        </p:nvSpPr>
        <p:spPr>
          <a:xfrm>
            <a:off x="4507992" y="3200400"/>
            <a:ext cx="3429000" cy="1600200"/>
          </a:xfrm>
          <a:prstGeom prst="roundRect">
            <a:avLst>
              <a:gd name="adj" fmla="val 4571"/>
            </a:avLst>
          </a:prstGeom>
          <a:solidFill>
            <a:srgbClr val="0E3457"/>
          </a:solidFill>
          <a:ln w="12700">
            <a:solidFill>
              <a:srgbClr val="1D4B76"/>
            </a:solidFill>
            <a:prstDash val="solid"/>
          </a:ln>
        </p:spPr>
      </p:sp>
      <p:sp>
        <p:nvSpPr>
          <p:cNvPr id="16" name="Shape 12"/>
          <p:cNvSpPr/>
          <p:nvPr/>
        </p:nvSpPr>
        <p:spPr>
          <a:xfrm>
            <a:off x="4800600" y="3456432"/>
            <a:ext cx="548640" cy="548640"/>
          </a:xfrm>
          <a:prstGeom prst="ellipse">
            <a:avLst/>
          </a:prstGeom>
          <a:solidFill>
            <a:srgbClr val="1D4B76"/>
          </a:solidFill>
          <a:ln w="12700">
            <a:solidFill>
              <a:srgbClr val="1D4B76"/>
            </a:solidFill>
            <a:prstDash val="solid"/>
          </a:ln>
        </p:spPr>
      </p:sp>
      <p:pic>
        <p:nvPicPr>
          <p:cNvPr id="17" name="Image 2" descr="/home/claude/work/icons/boxopen_white.png">    </p:cNvPr>
          <p:cNvPicPr>
            <a:picLocks noChangeAspect="1"/>
          </p:cNvPicPr>
          <p:nvPr/>
        </p:nvPicPr>
        <p:blipFill>
          <a:blip r:embed="rId3"/>
          <a:stretch>
            <a:fillRect/>
          </a:stretch>
        </p:blipFill>
        <p:spPr>
          <a:xfrm>
            <a:off x="4937760" y="3593592"/>
            <a:ext cx="274320" cy="274320"/>
          </a:xfrm>
          <a:prstGeom prst="rect">
            <a:avLst/>
          </a:prstGeom>
        </p:spPr>
      </p:pic>
      <p:sp>
        <p:nvSpPr>
          <p:cNvPr id="18" name="Text 13"/>
          <p:cNvSpPr/>
          <p:nvPr/>
        </p:nvSpPr>
        <p:spPr>
          <a:xfrm>
            <a:off x="4800600" y="4114800"/>
            <a:ext cx="2880360" cy="31089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Enablement material</a:t>
            </a:r>
            <a:endParaRPr lang="en-US" sz="1450" dirty="0"/>
          </a:p>
        </p:txBody>
      </p:sp>
      <p:sp>
        <p:nvSpPr>
          <p:cNvPr id="19" name="Text 14"/>
          <p:cNvSpPr/>
          <p:nvPr/>
        </p:nvSpPr>
        <p:spPr>
          <a:xfrm>
            <a:off x="4800600" y="4425696"/>
            <a:ext cx="2880360" cy="329184"/>
          </a:xfrm>
          <a:prstGeom prst="rect">
            <a:avLst/>
          </a:prstGeom>
          <a:noFill/>
          <a:ln/>
        </p:spPr>
        <p:txBody>
          <a:bodyPr wrap="square" lIns="0" tIns="0" rIns="0" bIns="0" rtlCol="0" anchor="t"/>
          <a:lstStyle/>
          <a:p>
            <a:pPr indent="0" marL="0">
              <a:lnSpc>
                <a:spcPct val="115000"/>
              </a:lnSpc>
              <a:buNone/>
            </a:pPr>
            <a:r>
              <a:rPr lang="en-US" sz="1050" dirty="0">
                <a:solidFill>
                  <a:srgbClr val="C7D5EA"/>
                </a:solidFill>
                <a:latin typeface="Arial" pitchFamily="34" charset="0"/>
                <a:ea typeface="Arial" pitchFamily="34" charset="-122"/>
                <a:cs typeface="Arial" pitchFamily="34" charset="-120"/>
              </a:rPr>
              <a:t>Deck, demo scripts and playbook — on the Voyager.AI hub.</a:t>
            </a:r>
            <a:endParaRPr lang="en-US" sz="1050" dirty="0"/>
          </a:p>
        </p:txBody>
      </p:sp>
      <p:sp>
        <p:nvSpPr>
          <p:cNvPr id="20" name="Shape 15"/>
          <p:cNvSpPr/>
          <p:nvPr/>
        </p:nvSpPr>
        <p:spPr>
          <a:xfrm>
            <a:off x="8193024" y="3200400"/>
            <a:ext cx="3429000" cy="1600200"/>
          </a:xfrm>
          <a:prstGeom prst="roundRect">
            <a:avLst>
              <a:gd name="adj" fmla="val 4571"/>
            </a:avLst>
          </a:prstGeom>
          <a:solidFill>
            <a:srgbClr val="0E3457"/>
          </a:solidFill>
          <a:ln w="12700">
            <a:solidFill>
              <a:srgbClr val="1D4B76"/>
            </a:solidFill>
            <a:prstDash val="solid"/>
          </a:ln>
        </p:spPr>
      </p:sp>
      <p:sp>
        <p:nvSpPr>
          <p:cNvPr id="21" name="Shape 16"/>
          <p:cNvSpPr/>
          <p:nvPr/>
        </p:nvSpPr>
        <p:spPr>
          <a:xfrm>
            <a:off x="8485632" y="3456432"/>
            <a:ext cx="548640" cy="548640"/>
          </a:xfrm>
          <a:prstGeom prst="ellipse">
            <a:avLst/>
          </a:prstGeom>
          <a:solidFill>
            <a:srgbClr val="1D4B76"/>
          </a:solidFill>
          <a:ln w="12700">
            <a:solidFill>
              <a:srgbClr val="1D4B76"/>
            </a:solidFill>
            <a:prstDash val="solid"/>
          </a:ln>
        </p:spPr>
      </p:sp>
      <p:pic>
        <p:nvPicPr>
          <p:cNvPr id="22" name="Image 3" descr="/home/claude/work/icons/handshake_white.png">    </p:cNvPr>
          <p:cNvPicPr>
            <a:picLocks noChangeAspect="1"/>
          </p:cNvPicPr>
          <p:nvPr/>
        </p:nvPicPr>
        <p:blipFill>
          <a:blip r:embed="rId4"/>
          <a:stretch>
            <a:fillRect/>
          </a:stretch>
        </p:blipFill>
        <p:spPr>
          <a:xfrm>
            <a:off x="8622792" y="3593592"/>
            <a:ext cx="274320" cy="274320"/>
          </a:xfrm>
          <a:prstGeom prst="rect">
            <a:avLst/>
          </a:prstGeom>
        </p:spPr>
      </p:pic>
      <p:sp>
        <p:nvSpPr>
          <p:cNvPr id="23" name="Text 17"/>
          <p:cNvSpPr/>
          <p:nvPr/>
        </p:nvSpPr>
        <p:spPr>
          <a:xfrm>
            <a:off x="8485632" y="4114800"/>
            <a:ext cx="2880360" cy="31089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Nominate a customer</a:t>
            </a:r>
            <a:endParaRPr lang="en-US" sz="1450" dirty="0"/>
          </a:p>
        </p:txBody>
      </p:sp>
      <p:sp>
        <p:nvSpPr>
          <p:cNvPr id="24" name="Text 18"/>
          <p:cNvSpPr/>
          <p:nvPr/>
        </p:nvSpPr>
        <p:spPr>
          <a:xfrm>
            <a:off x="8485632" y="4425696"/>
            <a:ext cx="2880360" cy="329184"/>
          </a:xfrm>
          <a:prstGeom prst="rect">
            <a:avLst/>
          </a:prstGeom>
          <a:noFill/>
          <a:ln/>
        </p:spPr>
        <p:txBody>
          <a:bodyPr wrap="square" lIns="0" tIns="0" rIns="0" bIns="0" rtlCol="0" anchor="t"/>
          <a:lstStyle/>
          <a:p>
            <a:pPr indent="0" marL="0">
              <a:lnSpc>
                <a:spcPct val="115000"/>
              </a:lnSpc>
              <a:buNone/>
            </a:pPr>
            <a:r>
              <a:rPr lang="en-US" sz="1050" dirty="0">
                <a:solidFill>
                  <a:srgbClr val="C7D5EA"/>
                </a:solidFill>
                <a:latin typeface="Arial" pitchFamily="34" charset="0"/>
                <a:ea typeface="Arial" pitchFamily="34" charset="-122"/>
                <a:cs typeface="Arial" pitchFamily="34" charset="-120"/>
              </a:rPr>
              <a:t>One account that fits. That is all it takes to start a pursuit.</a:t>
            </a:r>
            <a:endParaRPr lang="en-US" sz="1050" dirty="0"/>
          </a:p>
        </p:txBody>
      </p:sp>
      <p:sp>
        <p:nvSpPr>
          <p:cNvPr id="25" name="Text 19"/>
          <p:cNvSpPr/>
          <p:nvPr/>
        </p:nvSpPr>
        <p:spPr>
          <a:xfrm>
            <a:off x="822960" y="512064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Thank you.</a:t>
            </a:r>
            <a:endParaRPr lang="en-US" sz="2000" dirty="0"/>
          </a:p>
        </p:txBody>
      </p:sp>
      <p:sp>
        <p:nvSpPr>
          <p:cNvPr id="26" name="Text 20"/>
          <p:cNvSpPr/>
          <p:nvPr/>
        </p:nvSpPr>
        <p:spPr>
          <a:xfrm>
            <a:off x="822960" y="5623560"/>
            <a:ext cx="10058400" cy="292608"/>
          </a:xfrm>
          <a:prstGeom prst="rect">
            <a:avLst/>
          </a:prstGeom>
          <a:noFill/>
          <a:ln/>
        </p:spPr>
        <p:txBody>
          <a:bodyPr wrap="square" lIns="0" tIns="0" rIns="0" bIns="0" rtlCol="0" anchor="ctr"/>
          <a:lstStyle/>
          <a:p>
            <a:pPr indent="0" marL="0">
              <a:buNone/>
            </a:pPr>
            <a:r>
              <a:rPr lang="en-US" sz="1050" dirty="0">
                <a:solidFill>
                  <a:srgbClr val="8FA6C4"/>
                </a:solidFill>
                <a:latin typeface="Arial" pitchFamily="34" charset="0"/>
                <a:ea typeface="Arial" pitchFamily="34" charset="-122"/>
                <a:cs typeface="Arial" pitchFamily="34" charset="-120"/>
              </a:rPr>
              <a:t>Coforge  ×  Adobe   ·   Voyager.AI is live on Adobe Exchange   ·   contact@coforge.com</a:t>
            </a:r>
            <a:endParaRPr lang="en-US" sz="1050" dirty="0"/>
          </a:p>
        </p:txBody>
      </p:sp>
      <p:sp>
        <p:nvSpPr>
          <p:cNvPr id="27" name="Text 21"/>
          <p:cNvSpPr/>
          <p:nvPr/>
        </p:nvSpPr>
        <p:spPr>
          <a:xfrm>
            <a:off x="640080" y="6428232"/>
            <a:ext cx="5486400" cy="228600"/>
          </a:xfrm>
          <a:prstGeom prst="rect">
            <a:avLst/>
          </a:prstGeom>
          <a:noFill/>
          <a:ln/>
        </p:spPr>
        <p:txBody>
          <a:bodyPr wrap="square" lIns="0" tIns="0" rIns="0" bIns="0" rtlCol="0" anchor="ctr"/>
          <a:lstStyle/>
          <a:p>
            <a:pPr indent="0" marL="0">
              <a:buNone/>
            </a:pPr>
            <a:r>
              <a:rPr lang="en-US" sz="800" spc="140" kern="0" dirty="0">
                <a:solidFill>
                  <a:srgbClr val="8FA6C4"/>
                </a:solidFill>
                <a:latin typeface="Arial" pitchFamily="34" charset="0"/>
                <a:ea typeface="Arial" pitchFamily="34" charset="-122"/>
                <a:cs typeface="Arial" pitchFamily="34" charset="-120"/>
              </a:rPr>
              <a:t>VOYAGER.AI ALL-HANDS   ·   COFORGE  ×  ADOBE</a:t>
            </a:r>
            <a:endParaRPr lang="en-US" sz="800" dirty="0"/>
          </a:p>
        </p:txBody>
      </p:sp>
      <p:sp>
        <p:nvSpPr>
          <p:cNvPr id="28" name="Text 22"/>
          <p:cNvSpPr/>
          <p:nvPr/>
        </p:nvSpPr>
        <p:spPr>
          <a:xfrm>
            <a:off x="10637215" y="6428232"/>
            <a:ext cx="914400" cy="228600"/>
          </a:xfrm>
          <a:prstGeom prst="rect">
            <a:avLst/>
          </a:prstGeom>
          <a:noFill/>
          <a:ln/>
        </p:spPr>
        <p:txBody>
          <a:bodyPr wrap="square" lIns="0" tIns="0" rIns="0" bIns="0" rtlCol="0" anchor="ctr"/>
          <a:lstStyle/>
          <a:p>
            <a:pPr algn="r" indent="0" marL="0">
              <a:buNone/>
            </a:pPr>
            <a:r>
              <a:rPr lang="en-US" sz="800" b="1" dirty="0">
                <a:solidFill>
                  <a:srgbClr val="8FA6C4"/>
                </a:solidFill>
                <a:latin typeface="Arial" pitchFamily="34" charset="0"/>
                <a:ea typeface="Arial" pitchFamily="34" charset="-122"/>
                <a:cs typeface="Arial" pitchFamily="34" charset="-120"/>
              </a:rPr>
              <a:t>07 / 07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Coforge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Voyager.AI - All-Hands Session</dc:title>
  <dc:subject>PptxGenJS Presentation</dc:subject>
  <dc:creator>Coforge</dc:creator>
  <cp:lastModifiedBy>Coforge</cp:lastModifiedBy>
  <cp:revision>1</cp:revision>
  <dcterms:created xsi:type="dcterms:W3CDTF">2026-07-25T04:22:14Z</dcterms:created>
  <dcterms:modified xsi:type="dcterms:W3CDTF">2026-07-25T04:22:14Z</dcterms:modified>
</cp:coreProperties>
</file>