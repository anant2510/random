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acd17927b74575" /><Relationship Type="http://schemas.openxmlformats.org/officeDocument/2006/relationships/extended-properties" Target="/docProps/app.xml" Id="R04c7ebd789774eaa" /><Relationship Type="http://schemas.openxmlformats.org/officeDocument/2006/relationships/officeDocument" Target="/ppt/presentation.xml" Id="R2ce308b9594048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7ee61e81d3415f"/>
  </p:sldMasterIdLst>
  <p:notesMasterIdLst>
    <p:notesMasterId xmlns:r="http://schemas.openxmlformats.org/officeDocument/2006/relationships" r:id="R7e274410a07f4841"/>
  </p:notesMasterIdLst>
  <p:sldIdLst>
    <p:sldId xmlns:r="http://schemas.openxmlformats.org/officeDocument/2006/relationships" id="256" r:id="Rb26b178bf7904104"/>
    <p:sldId xmlns:r="http://schemas.openxmlformats.org/officeDocument/2006/relationships" id="257" r:id="Rb5fca2681fac4e2a"/>
    <p:sldId xmlns:r="http://schemas.openxmlformats.org/officeDocument/2006/relationships" id="258" r:id="R6dbb7161b6774524"/>
    <p:sldId xmlns:r="http://schemas.openxmlformats.org/officeDocument/2006/relationships" id="259" r:id="Rdd3fbf36030e4522"/>
    <p:sldId xmlns:r="http://schemas.openxmlformats.org/officeDocument/2006/relationships" id="260" r:id="R7ad6391fc80f4f9f"/>
    <p:sldId xmlns:r="http://schemas.openxmlformats.org/officeDocument/2006/relationships" id="261" r:id="Rd1eebd38b7be42cb"/>
    <p:sldId xmlns:r="http://schemas.openxmlformats.org/officeDocument/2006/relationships" id="262" r:id="R74ee7699d391499c"/>
    <p:sldId xmlns:r="http://schemas.openxmlformats.org/officeDocument/2006/relationships" id="263" r:id="R21f2caccac004c3f"/>
    <p:sldId xmlns:r="http://schemas.openxmlformats.org/officeDocument/2006/relationships" id="264" r:id="Re6f7f084ada44221"/>
    <p:sldId xmlns:r="http://schemas.openxmlformats.org/officeDocument/2006/relationships" id="265" r:id="R8025e446265941a6"/>
    <p:sldId xmlns:r="http://schemas.openxmlformats.org/officeDocument/2006/relationships" id="266" r:id="R6493fcc42c81432b"/>
    <p:sldId xmlns:r="http://schemas.openxmlformats.org/officeDocument/2006/relationships" id="267" r:id="R2459d52acd124b9d"/>
    <p:sldId xmlns:r="http://schemas.openxmlformats.org/officeDocument/2006/relationships" id="268" r:id="R8164fad0cb494207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2be5754bd84779" /><Relationship Type="http://schemas.openxmlformats.org/officeDocument/2006/relationships/slideMaster" Target="/ppt/slideMasters/slideMaster1.xml" Id="R297ee61e81d3415f" /><Relationship Type="http://schemas.openxmlformats.org/officeDocument/2006/relationships/notesMaster" Target="/ppt/notesMasters/notesMaster1.xml" Id="R7e274410a07f4841" /><Relationship Type="http://schemas.openxmlformats.org/officeDocument/2006/relationships/presProps" Target="/ppt/presProps.xml" Id="Rbcad938b9bce4f8c" /><Relationship Type="http://schemas.openxmlformats.org/officeDocument/2006/relationships/viewProps" Target="/ppt/viewProps.xml" Id="R52adf86ca97b4383" /><Relationship Type="http://schemas.openxmlformats.org/officeDocument/2006/relationships/tableStyles" Target="/ppt/tableStyles.xml" Id="R241eb5ab10154943" /><Relationship Type="http://schemas.openxmlformats.org/officeDocument/2006/relationships/slide" Target="/ppt/slides/slide1.xml" Id="Rb26b178bf7904104" /><Relationship Type="http://schemas.openxmlformats.org/officeDocument/2006/relationships/slide" Target="/ppt/slides/slide2.xml" Id="Rb5fca2681fac4e2a" /><Relationship Type="http://schemas.openxmlformats.org/officeDocument/2006/relationships/slide" Target="/ppt/slides/slide3.xml" Id="R6dbb7161b6774524" /><Relationship Type="http://schemas.openxmlformats.org/officeDocument/2006/relationships/slide" Target="/ppt/slides/slide4.xml" Id="Rdd3fbf36030e4522" /><Relationship Type="http://schemas.openxmlformats.org/officeDocument/2006/relationships/slide" Target="/ppt/slides/slide5.xml" Id="R7ad6391fc80f4f9f" /><Relationship Type="http://schemas.openxmlformats.org/officeDocument/2006/relationships/slide" Target="/ppt/slides/slide6.xml" Id="Rd1eebd38b7be42cb" /><Relationship Type="http://schemas.openxmlformats.org/officeDocument/2006/relationships/slide" Target="/ppt/slides/slide7.xml" Id="R74ee7699d391499c" /><Relationship Type="http://schemas.openxmlformats.org/officeDocument/2006/relationships/slide" Target="/ppt/slides/slide8.xml" Id="R21f2caccac004c3f" /><Relationship Type="http://schemas.openxmlformats.org/officeDocument/2006/relationships/slide" Target="/ppt/slides/slide9.xml" Id="Re6f7f084ada44221" /><Relationship Type="http://schemas.openxmlformats.org/officeDocument/2006/relationships/slide" Target="/ppt/slides/slide10.xml" Id="R8025e446265941a6" /><Relationship Type="http://schemas.openxmlformats.org/officeDocument/2006/relationships/slide" Target="/ppt/slides/slide11.xml" Id="R6493fcc42c81432b" /><Relationship Type="http://schemas.openxmlformats.org/officeDocument/2006/relationships/slide" Target="/ppt/slides/slide12.xml" Id="R2459d52acd124b9d" /><Relationship Type="http://schemas.openxmlformats.org/officeDocument/2006/relationships/slide" Target="/ppt/slides/slide13.xml" Id="R8164fad0cb4942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03eee4b41a42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4415cf44cf44d5" /><Relationship Type="http://schemas.openxmlformats.org/officeDocument/2006/relationships/notesMaster" Target="/ppt/notesMasters/notesMaster1.xml" Id="R7b98503f3e5d42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ec4880ae1f4302" /><Relationship Type="http://schemas.openxmlformats.org/officeDocument/2006/relationships/notesMaster" Target="/ppt/notesMasters/notesMaster1.xml" Id="R266f02920f0241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9e35a334504499" /><Relationship Type="http://schemas.openxmlformats.org/officeDocument/2006/relationships/notesMaster" Target="/ppt/notesMasters/notesMaster1.xml" Id="R549fd196d2684f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d598581b2c4341" /><Relationship Type="http://schemas.openxmlformats.org/officeDocument/2006/relationships/notesMaster" Target="/ppt/notesMasters/notesMaster1.xml" Id="R9d86261cd0c747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dfbb9ff21b427b" /><Relationship Type="http://schemas.openxmlformats.org/officeDocument/2006/relationships/notesMaster" Target="/ppt/notesMasters/notesMaster1.xml" Id="R8101ba1648854c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16f8dc7779461c" /><Relationship Type="http://schemas.openxmlformats.org/officeDocument/2006/relationships/notesMaster" Target="/ppt/notesMasters/notesMaster1.xml" Id="R34433434fb344a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4fa48ab9d24220" /><Relationship Type="http://schemas.openxmlformats.org/officeDocument/2006/relationships/notesMaster" Target="/ppt/notesMasters/notesMaster1.xml" Id="Rbd6fca9e8e874b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e175707cc94c86" /><Relationship Type="http://schemas.openxmlformats.org/officeDocument/2006/relationships/notesMaster" Target="/ppt/notesMasters/notesMaster1.xml" Id="Ra89af629f03e4d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612b38943b448d" /><Relationship Type="http://schemas.openxmlformats.org/officeDocument/2006/relationships/notesMaster" Target="/ppt/notesMasters/notesMaster1.xml" Id="R6cfc60c0444f4d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5ff923e00f49b7" /><Relationship Type="http://schemas.openxmlformats.org/officeDocument/2006/relationships/notesMaster" Target="/ppt/notesMasters/notesMaster1.xml" Id="Rbe48188ed18248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964d7c904f4daa" /><Relationship Type="http://schemas.openxmlformats.org/officeDocument/2006/relationships/notesMaster" Target="/ppt/notesMasters/notesMaster1.xml" Id="R965bfef1576241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c5241373b64973" /><Relationship Type="http://schemas.openxmlformats.org/officeDocument/2006/relationships/notesMaster" Target="/ppt/notesMasters/notesMaster1.xml" Id="R63aab397612646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f3b83144844dfe" /><Relationship Type="http://schemas.openxmlformats.org/officeDocument/2006/relationships/notesMaster" Target="/ppt/notesMasters/notesMaster1.xml" Id="R91d957aaf21c49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Validation: PMI 2025 Annual Report reports products sold in approximately 170 markets and smoke-free products in 106 markets at year-end 2025. PMI identifies IQOS, ZYN and VEEV as leading smoke-free brands. Source: https://www.pmi.com/content/dam/pmicom/global/docs/investor_relation/pmi-2025-annual-report.pdf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status: recommendation and operating principles. Current-stack ownership, Datorama scope, platform entitlements and commercial ownership require PMI confirmation during mobilisation.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status: 16+ channels, ~900 interfaces, Data Ocean, Datorama scope and current licences are client-provided inputs, not publicly verifiable facts. Benefits are expressed as KPIs to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status: proposed Coforge solution architecture. DataFlux, KAI and DIVA capabilities and delivery scope require solution-design confirmation. No business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capability source: Adobe states that GenStudio for Performance Marketing integrates with Workfront and Experience Manager Assets; Firefly supports scaled content creation. https://business.adobe.com/products/genstudio/performance-marketing.html. PMI entitlements remain to be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Regulatory sources: U.S. FDA PMTA guidance https://www.fda.gov/tobacco-products/market-and-distribute-tobacco-product/premarket-tobacco-product-applications ; European Commission Tobacco Products Directive https://health.ec.europa.eu/tobacco/product-regulation_en. Rule applicability must be determined by PMI Legal for each product, content type and market.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capability source: Google states server-side tagging can improve data quality, page performance and privacy controls; it does not eliminate browser, consent or platform constraints. https://developers.google.com/tag-platform/tag-manager/server-side. The 21-day journey is a client input to confirm.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status: proposed privacy-first control pattern. Identity methods, clean-room usage, eligible features and activation rules require privacy, legal, security and model-risk approval by market.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status: target architecture, subject to tenant, licence, region, integration and data-residency validation. Privacy and product/marketing rules are intentionally separated.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privacy sources: GDPR https://eur-lex.europa.eu/eli/reg/2016/679/oj/eng ; CCPA https://oag.ca.gov/privacy/ccpa. Product/marketing sources: FDA PMTA and EU TPD. TPD is not a privacy or consent law.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capability sources: Salesforce Data 360 zero copy https://www.salesforce.com/data/connectivity/zero-copy/ ; Snowflake documentation https://docs.snowflake.com/en/user-guide/data-integration/openflow/connectors/salesforce-bulk-api/about. Applicability depends on supported architecture, regions, editions and governance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status: proposed delivery estimate. Dates depend on access, data quality, architecture, licences, pilot-market availability and timely legal/privacy decisions. Outcomes are decision gates, not guaranteed benefits.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sources: PMI 2025 Annual Report https://www.pmi.com/content/dam/pmicom/global/docs/investor_relation/pmi-2025-annual-report.pdf ; PMI Investor Relations https://www.pmi.com/investor-relations/overview ; FDA PMTA https://www.fda.gov/tobacco-products/market-and-distribute-tobacco-product/premarket-tobacco-product-applications ; EU TPD https://health.ec.europa.eu/tobacco/product-regulation_en ; GDPR https://eur-lex.europa.eu/eli/reg/2016/679/oj/eng ; CCPA https://oag.ca.gov/privacy/ccpa ; Google server-side tagging https://developers.google.com/tag-platform/tag-manager/server-side ; Adobe GenStudio https://business.adobe.com/products/genstudio/performance-marketing.html ; Salesforce Data 360 zero copy https://www.salesforce.com/data/connectivity/zero-copy/ ; Snowflake/Salesforce zero-copy https://docs.snowflake.com/en/user-guide/data-integration/openflow/connectors/salesforce-bulk-api/about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4fdefecba48d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7c81c8086a4b6b" /><Relationship Type="http://schemas.openxmlformats.org/officeDocument/2006/relationships/slideLayout" Target="/ppt/slideLayouts/slideLayout1.xml" Id="Ra0ee1c2bb8124b0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ee1c2bb8124b0a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4ff00463d4f28" /><Relationship Type="http://schemas.openxmlformats.org/officeDocument/2006/relationships/notesSlide" Target="/ppt/notesSlides/notesSlide1.xml" Id="R2379c6f1d6194b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9abbf56ff4fb1" /><Relationship Type="http://schemas.openxmlformats.org/officeDocument/2006/relationships/notesSlide" Target="/ppt/notesSlides/notesSlide2.xml" Id="R170f9d2f216f4f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9ece9e702433c" /><Relationship Type="http://schemas.openxmlformats.org/officeDocument/2006/relationships/image" Target="/ppt/media/image.png" Id="Rf4aa0bb4b3e7451a" /><Relationship Type="http://schemas.openxmlformats.org/officeDocument/2006/relationships/image" Target="/ppt/media/image2.png" Id="R4445008be67b4d73" /><Relationship Type="http://schemas.openxmlformats.org/officeDocument/2006/relationships/image" Target="/ppt/media/image3.png" Id="Rc8e6bcfea7574d98" /><Relationship Type="http://schemas.openxmlformats.org/officeDocument/2006/relationships/image" Target="/ppt/media/image4.png" Id="Ra34c32c12aa3415e" /><Relationship Type="http://schemas.openxmlformats.org/officeDocument/2006/relationships/image" Target="/ppt/media/image5.png" Id="Rd265dc2aa80d4514" /><Relationship Type="http://schemas.openxmlformats.org/officeDocument/2006/relationships/notesSlide" Target="/ppt/notesSlides/notesSlide3.xml" Id="R3ca34cb568c04d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1e0950bd44ee9" /><Relationship Type="http://schemas.openxmlformats.org/officeDocument/2006/relationships/notesSlide" Target="/ppt/notesSlides/notesSlide4.xml" Id="R45344cb02e1d4b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9fea13d224863" /><Relationship Type="http://schemas.openxmlformats.org/officeDocument/2006/relationships/image" Target="/ppt/media/image6.png" Id="R5ce7f2d6b8584b12" /><Relationship Type="http://schemas.openxmlformats.org/officeDocument/2006/relationships/image" Target="/ppt/media/image7.png" Id="R2198b7b01c9e4ef6" /><Relationship Type="http://schemas.openxmlformats.org/officeDocument/2006/relationships/image" Target="/ppt/media/image8.png" Id="R8d2b6b0c8983483c" /><Relationship Type="http://schemas.openxmlformats.org/officeDocument/2006/relationships/image" Target="/ppt/media/image9.png" Id="R55b0b302aaec4dd6" /><Relationship Type="http://schemas.openxmlformats.org/officeDocument/2006/relationships/image" Target="/ppt/media/image10.png" Id="R6288903702c24b0f" /><Relationship Type="http://schemas.openxmlformats.org/officeDocument/2006/relationships/notesSlide" Target="/ppt/notesSlides/notesSlide5.xml" Id="R865c8c9d35384c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48f3b8f4e459a" /><Relationship Type="http://schemas.openxmlformats.org/officeDocument/2006/relationships/image" Target="/ppt/media/image11.png" Id="Ra9117c0773d14f78" /><Relationship Type="http://schemas.openxmlformats.org/officeDocument/2006/relationships/image" Target="/ppt/media/image12.png" Id="R0f462cefbcac414b" /><Relationship Type="http://schemas.openxmlformats.org/officeDocument/2006/relationships/image" Target="/ppt/media/image13.png" Id="Rae619f52efbc46e4" /><Relationship Type="http://schemas.openxmlformats.org/officeDocument/2006/relationships/image" Target="/ppt/media/image14.png" Id="R12782913ac9546f0" /><Relationship Type="http://schemas.openxmlformats.org/officeDocument/2006/relationships/image" Target="/ppt/media/image15.png" Id="R25baa089e54540bb" /><Relationship Type="http://schemas.openxmlformats.org/officeDocument/2006/relationships/notesSlide" Target="/ppt/notesSlides/notesSlide6.xml" Id="R76bea09a87a84a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0ef1db7014431" /><Relationship Type="http://schemas.openxmlformats.org/officeDocument/2006/relationships/image" Target="/ppt/media/image16.png" Id="R659c6ec512f34c5c" /><Relationship Type="http://schemas.openxmlformats.org/officeDocument/2006/relationships/image" Target="/ppt/media/image17.png" Id="R31765b5e9da34213" /><Relationship Type="http://schemas.openxmlformats.org/officeDocument/2006/relationships/image" Target="/ppt/media/image18.png" Id="R679f1a91e8fc425f" /><Relationship Type="http://schemas.openxmlformats.org/officeDocument/2006/relationships/image" Target="/ppt/media/image19.png" Id="R0eaa9c94198d457b" /><Relationship Type="http://schemas.openxmlformats.org/officeDocument/2006/relationships/image" Target="/ppt/media/image20.png" Id="Rf6b7e70429044574" /><Relationship Type="http://schemas.openxmlformats.org/officeDocument/2006/relationships/notesSlide" Target="/ppt/notesSlides/notesSlide7.xml" Id="Rff816715c73743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292af7ab64033" /><Relationship Type="http://schemas.openxmlformats.org/officeDocument/2006/relationships/image" Target="/ppt/media/image21.png" Id="R7830fa7505aa4e79" /><Relationship Type="http://schemas.openxmlformats.org/officeDocument/2006/relationships/image" Target="/ppt/media/image22.png" Id="Rcbc93fd8fc2b4d19" /><Relationship Type="http://schemas.openxmlformats.org/officeDocument/2006/relationships/image" Target="/ppt/media/image23.png" Id="R3b2f6697423741c3" /><Relationship Type="http://schemas.openxmlformats.org/officeDocument/2006/relationships/image" Target="/ppt/media/image24.png" Id="R98a5e2d18bdb4ee8" /><Relationship Type="http://schemas.openxmlformats.org/officeDocument/2006/relationships/notesSlide" Target="/ppt/notesSlides/notesSlide8.xml" Id="R6dbba1568b704b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0de160a424397" /><Relationship Type="http://schemas.openxmlformats.org/officeDocument/2006/relationships/notesSlide" Target="/ppt/notesSlides/notesSlide9.xml" Id="R0588257c665443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af75f835544f1" /><Relationship Type="http://schemas.openxmlformats.org/officeDocument/2006/relationships/image" Target="/ppt/media/image25.png" Id="Rea89795e8f8d4baa" /><Relationship Type="http://schemas.openxmlformats.org/officeDocument/2006/relationships/image" Target="/ppt/media/image26.png" Id="R5ed667b2d2044f49" /><Relationship Type="http://schemas.openxmlformats.org/officeDocument/2006/relationships/image" Target="/ppt/media/image27.png" Id="Rd4f6cbd0501246e3" /><Relationship Type="http://schemas.openxmlformats.org/officeDocument/2006/relationships/image" Target="/ppt/media/image28.png" Id="R456a018a9d854f1c" /><Relationship Type="http://schemas.openxmlformats.org/officeDocument/2006/relationships/image" Target="/ppt/media/image29.png" Id="Rb0cbd02c74fa4d3f" /><Relationship Type="http://schemas.openxmlformats.org/officeDocument/2006/relationships/image" Target="/ppt/media/image30.png" Id="R67ba8436483a41ef" /><Relationship Type="http://schemas.openxmlformats.org/officeDocument/2006/relationships/notesSlide" Target="/ppt/notesSlides/notesSlide10.xml" Id="R9a1d1e09663447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18ceeba0b4721" /><Relationship Type="http://schemas.openxmlformats.org/officeDocument/2006/relationships/notesSlide" Target="/ppt/notesSlides/notesSlide11.xml" Id="Rfd733ce1920e4d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966f670df413e" /><Relationship Type="http://schemas.openxmlformats.org/officeDocument/2006/relationships/notesSlide" Target="/ppt/notesSlides/notesSlide12.xml" Id="R489b7b38d64f4f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2eecac3e345de" /><Relationship Type="http://schemas.openxmlformats.org/officeDocument/2006/relationships/image" Target="/ppt/media/image25.png" Id="R8e78981f8cd14431" /><Relationship Type="http://schemas.openxmlformats.org/officeDocument/2006/relationships/image" Target="/ppt/media/image26.png" Id="Rf8b3bc4d049c485c" /><Relationship Type="http://schemas.openxmlformats.org/officeDocument/2006/relationships/image" Target="/ppt/media/image27.png" Id="R86f3677d792e4e6e" /><Relationship Type="http://schemas.openxmlformats.org/officeDocument/2006/relationships/image" Target="/ppt/media/image28.png" Id="R1bc3f25cd76c4f39" /><Relationship Type="http://schemas.openxmlformats.org/officeDocument/2006/relationships/image" Target="/ppt/media/image29.png" Id="R20d4426e301f413d" /><Relationship Type="http://schemas.openxmlformats.org/officeDocument/2006/relationships/image" Target="/ppt/media/image30.png" Id="R8099df1ce61042d1" /><Relationship Type="http://schemas.openxmlformats.org/officeDocument/2006/relationships/notesSlide" Target="/ppt/notesSlides/notesSlide13.xml" Id="R5f6099d734de46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AE0063-A3F1-4D9D-B279-BDF1976C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F1D13-C7F0-451F-9978-C5053707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FA6"/>
          </a:solidFill>
          <a:ln xmlns:a="http://schemas.openxmlformats.org/drawingml/2006/main" w="0">
            <a:solidFill>
              <a:srgbClr val="3F6FA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493E4D0-8A45-4599-8DA9-A978D0EB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100584"/>
            <a:ext cx="8503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SETTING THE CONTEXT · CMO CHALLENGES AND VALIDATION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CA72F4E-951D-4CB3-852B-845AF6B1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92608"/>
            <a:ext cx="8549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100" b="1">
                <a:solidFill>
                  <a:srgbClr val="172A4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A46"/>
                </a:solidFill>
                <a:latin typeface="Georgia"/>
                <a:ea typeface="Georgia"/>
                <a:cs typeface="Georgia"/>
              </a:rPr>
              <a:t>Three challenges share one operating constraint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4399185-AA9E-4A09-9BFF-5358417D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841248"/>
            <a:ext cx="8549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0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1000" b="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PMI operates at global scale: products sold in approximately 170 markets, with smoke-free products available in 106 markets at year-end 2025. This PoV focuses on IQOS, ZYN and VEEV—PMI’s leading smoke-free brands.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D0DBBD5-3626-43B1-9004-55A20E93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35024"/>
            <a:ext cx="2743200" cy="2871216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E5726B9-C5F0-40A5-81DE-AA90B186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35024"/>
            <a:ext cx="27432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157F30C-AAA5-4B37-9CCE-7CC85299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481328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2877964-FCD0-4B49-ABC7-DDFBA8F7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847088"/>
            <a:ext cx="2414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MARKETING PERFORMANCE</a:t>
            </a:r>
          </a:p>
          <a:p xmlns:a="http://schemas.openxmlformats.org/drawingml/2006/main">
            <a:pPr marL="0" indent="0" algn="l">
              <a:lnSpc>
                <a:spcPct val="95000"/>
              </a:lnSpc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&amp; DATA MANAGEMENT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F4A342F-C79E-48E7-81E6-5833F1CA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0864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8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Client input: fragmented channel and interface landscape; high licence and data-operations effort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8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Decision cycles slowed by manual extraction and reconciliation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B4E2820-6D97-4BD0-9F06-5C93E2C9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" y="3163824"/>
            <a:ext cx="2487168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EFF7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B6C5E82-9D87-488B-8623-84A49C66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3236976"/>
            <a:ext cx="22860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68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CLIENT INPUT · CONFIRM IN MOBILISATION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8AA3215-E960-42C4-A365-1D778B85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3401568"/>
            <a:ext cx="22860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7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Need: one defensible view of toolkit adoption and market performance, with local signals informing HQ strategy.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6604D25-5A99-4773-9DB0-9C048E31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335024"/>
            <a:ext cx="2743200" cy="2871216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1A4D95A-2020-4A22-9BA5-A6572D98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335024"/>
            <a:ext cx="27432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7AB62E0-B08D-47C0-AA09-63CCFC8C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81328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614A11D-2434-4021-9E84-E045B520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847088"/>
            <a:ext cx="2414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CONTENT OPERATIONS</a:t>
            </a:r>
          </a:p>
          <a:p xmlns:a="http://schemas.openxmlformats.org/drawingml/2006/main">
            <a:pPr marL="0" indent="0" algn="l">
              <a:lnSpc>
                <a:spcPct val="95000"/>
              </a:lnSpc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&amp; COMPLIANCE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0BFDC56-D5B0-4101-AEF2-5712AE11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340864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8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Content demand exceeds manual production capacity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8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Sequential regulatory, legal and market reviews extend lead time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3FC32A5-7D3C-4E98-8815-B3FAF11A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3163824"/>
            <a:ext cx="2487168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EFF7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6A0752-3BBF-439A-A1C7-316546CF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3236976"/>
            <a:ext cx="22860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68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CLIENT INPUT · CONFIRM IN MOBILISATION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492D6C7-470D-436D-A136-F703682E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3401568"/>
            <a:ext cx="22860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7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Need: accelerate preparation and routing while qualified counsel retains approval.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9C229E1-0A58-4BD1-9522-58312B13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35024"/>
            <a:ext cx="2743200" cy="2871216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479FB50-D02D-424B-89AA-BEE5FBEF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35024"/>
            <a:ext cx="27432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339196B-82B3-45D4-92AE-7597BC8C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1481328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009702C-F2DB-4304-BFA4-E8459C3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1847088"/>
            <a:ext cx="2414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IDENTITY, CONSENT</a:t>
            </a:r>
          </a:p>
          <a:p xmlns:a="http://schemas.openxmlformats.org/drawingml/2006/main">
            <a:pPr marL="0" indent="0" algn="l">
              <a:lnSpc>
                <a:spcPct val="95000"/>
              </a:lnSpc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&amp; MEASUREMENT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D4895DB-5CEF-46F7-BAD3-860C7F36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40864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8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Third-party signals are weakening; tracking practices vary by market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8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Measurement must remain consented, accurate and explainable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F83CCFC-A0E9-4A0E-A8A9-538E064B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3163824"/>
            <a:ext cx="2487168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EFF7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AA31786-8FBF-497A-A007-F0CE9806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236976"/>
            <a:ext cx="22860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68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CLIENT INPUT · CONFIRM IN MOBILISATION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08AB683-7188-460C-B407-FCFB4C4C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401568"/>
            <a:ext cx="22860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7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Need: one permitted view across paid, owned and earned touchpoints. The 21-day journey is a client hypothesis to confirm.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647A727-C907-4643-BECC-F93E7749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334256"/>
            <a:ext cx="8595360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106558C-75E9-4592-95B2-D73D26E4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34256"/>
            <a:ext cx="8138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COMMON THREAD   Fragmented data, manual hand-offs and late-stage controls slow decisions and make outcomes harder to defend.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21AFF2F-0C40-4F67-A027-E0ABDB56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928616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1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700" b="1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Coforge   |   Confidential — for PMI discussion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E18E88A-5568-49FF-81B7-30431616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8616"/>
            <a:ext cx="76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638" b="0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1 / 13</a:t>
            </a:r>
          </a:p>
        </p:txBody>
      </p:sp>
    </p:spTree>
    <p:extLst>
      <p:ext uri="{BB962C8B-B14F-4D97-AF65-F5344CB8AC3E}">
        <p14:creationId xmlns:p14="http://schemas.microsoft.com/office/powerpoint/2010/main" val="616120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B1A3D-D5BA-4A11-81EC-01BF3D98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08D91E3-E9E1-44F0-AE7A-9934F773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FA6"/>
          </a:solidFill>
          <a:ln xmlns:a="http://schemas.openxmlformats.org/drawingml/2006/main" w="0">
            <a:solidFill>
              <a:srgbClr val="3F6FA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901E92-799E-49E1-84A2-C9FBB3E6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100584"/>
            <a:ext cx="8503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EXECUTIVE SUMMARY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A7770A8-27E3-402C-B87A-4B3299A4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92608"/>
            <a:ext cx="8549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100" b="1">
                <a:solidFill>
                  <a:srgbClr val="172A4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A46"/>
                </a:solidFill>
                <a:latin typeface="Georgia"/>
                <a:ea typeface="Georgia"/>
                <a:cs typeface="Georgia"/>
              </a:rPr>
              <a:t>Our recommendation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B1E4AA0-FD02-4F9E-9F3E-C6EEFAA6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841248"/>
            <a:ext cx="8549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05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Create one governed data foundation, then prove three value streams on the reported current stack. Architecture, licences and baselines are confirmed in mobilisation before any scale commitment.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8EFBFC5-28F4-4117-A789-577CBE67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16736"/>
            <a:ext cx="4224528" cy="146304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95B0FEE-FFF9-464C-82D7-F84AAC87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145389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9C0A8A8-0835-466B-B1E8-2292ED4F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145389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F7CC381-B8D6-4D4E-9BF7-F19E55FF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35608"/>
            <a:ext cx="35112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10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Measure commercial outcomes—not activity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1DFBF9D-5154-4E3D-883E-877DCBB3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3858768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8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3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Standardise campaign, spend and market-adoption signals in governed data products. Start with a source inventory and metric definitions; phase any Datorama transition.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DAA68DB-438B-477B-A110-67BB86B2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1316736"/>
            <a:ext cx="4224528" cy="146304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DB2ABCF-F6F4-41A2-A67A-33A45777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145389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C4C1244-705F-428B-8511-5EEA5EF2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145389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DCC75D0-FE16-488A-80D2-F2B0CBF3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435608"/>
            <a:ext cx="35112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10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Accelerate preparation—retain legal approval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7D11819-B042-452D-82B9-B2D621F4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828800"/>
            <a:ext cx="3858768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8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3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Use AI to assemble variants, evidence and routing. Apply market-specific rulebooks; human reviewers remain accountable for approval.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B78DDA9-FBA3-4AA7-ACEF-A991EAE6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926080"/>
            <a:ext cx="4224528" cy="146304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8EA5429-CFF7-4739-9DC2-1277A976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306324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CAB0ECA-5BE6-4D95-924B-2C1433E8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306324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C562EF2-7B0D-4AF9-BB7B-82E1DE62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44952"/>
            <a:ext cx="35112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10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Build a consent-led customer view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7543A48-38FB-4114-A189-CB3114A7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144"/>
            <a:ext cx="3858768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8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3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Prioritise first-party signals, purpose-bound consent and deterministic identity. Use probabilistic matching only if policy and local law allow.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7F3B798-0852-4EDE-8BFF-E3E8EFC9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926080"/>
            <a:ext cx="4224528" cy="146304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C801159-9807-4E52-84E5-2006B99D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306324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3C491E0-88FD-459E-9922-BD27D0D1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306324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38B029B-D69E-47DE-91A7-DD834DCF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3044952"/>
            <a:ext cx="35112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10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Extend before adding platforms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DEE514F-F7D3-44E8-B9E2-0F5607C3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438144"/>
            <a:ext cx="3858768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8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3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Reuse confirmed Snowflake, Adobe and Salesforce capabilities where supported. Coforge modules, ownership and support terms require technical and commercial sign-off.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89CED7C-3D52-44E9-8925-9129E7D4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517136"/>
            <a:ext cx="8595360" cy="310896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DEEC24E-533F-4BE0-B10F-CC28AD66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517136"/>
            <a:ext cx="8595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 FOUNDATION   ·   THREE PILOTS   ·   HUMAN ACCOUNTABILITY   ·   EVIDENCE BEFORE SCALE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3D37278-6EC4-45BE-A643-CD2508D8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928616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1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700" b="1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Coforge   |   Confidential — for PMI discussion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A8900BA-EE36-4837-80B1-B2F27B9B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8616"/>
            <a:ext cx="76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638" b="0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2 / 13</a:t>
            </a:r>
          </a:p>
        </p:txBody>
      </p:sp>
    </p:spTree>
    <p:extLst>
      <p:ext uri="{BB962C8B-B14F-4D97-AF65-F5344CB8AC3E}">
        <p14:creationId xmlns:p14="http://schemas.microsoft.com/office/powerpoint/2010/main" val="21458445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8EF8A88-8DEB-4EA0-8962-6CCF6DAC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ACFDFC7-2199-4813-9568-2F2927D1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FA6"/>
          </a:solidFill>
          <a:ln xmlns:a="http://schemas.openxmlformats.org/drawingml/2006/main" w="0">
            <a:solidFill>
              <a:srgbClr val="3F6FA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B7923E4-8528-4896-977A-EB90B6F4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100584"/>
            <a:ext cx="8503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CHALLENGE 1 · MARKETING PERFORMANCE &amp; DATA MANAGEMENT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7E910FA-4D58-432A-A31A-C06BE36B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92608"/>
            <a:ext cx="8549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172A46"/>
                </a:solidFill>
                <a:latin typeface="Georgia"/>
                <a:ea typeface="Georgia"/>
                <a:cs typeface="Georgia"/>
              </a:defRPr>
            </a:pPr>
            <a:r>
              <a:rPr sz="2000" b="1">
                <a:solidFill>
                  <a:srgbClr val="172A46"/>
                </a:solidFill>
                <a:latin typeface="Georgia"/>
                <a:ea typeface="Georgia"/>
                <a:cs typeface="Georgia"/>
              </a:rPr>
              <a:t>Marketing decisions need a defensible data layer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3E30E1B-C320-4EF9-8656-4CD566E5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841248"/>
            <a:ext cx="8549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Start with comparable definitions and traceable sources; tooling rationalisation follows the evidence.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D74AFA3-1179-4E0E-AA3B-7C41F8B6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170432"/>
            <a:ext cx="8595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THE APPROACH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717AFA4-9756-4943-B2D8-C998DC16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71600"/>
            <a:ext cx="1528877" cy="1078992"/>
          </a:xfrm>
          <a:prstGeom xmlns:a="http://schemas.openxmlformats.org/drawingml/2006/main" prst="roundRect">
            <a:avLst>
              <a:gd name="adj" fmla="val 7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50800" dist="127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9F568FD-70B3-42E3-AFFD-6D2BC1A7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6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a0bb4b3e745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2746" y="1623060"/>
            <a:ext cx="192024" cy="192024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EBDC777-BA82-4D9E-93F8-B331F12F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965960"/>
            <a:ext cx="143743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INGEST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FA376ED-73EB-4918-8D3C-70565D9E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148840"/>
            <a:ext cx="1400861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client-reported sources;</a:t>
            </a:r>
          </a:p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inventory first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4B33CD2-D3B5-4D10-9D7F-2A0835AF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909" y="1371600"/>
            <a:ext cx="27432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CF381616-1029-4E4A-BB2C-130E0593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941" y="1371600"/>
            <a:ext cx="1528877" cy="1078992"/>
          </a:xfrm>
          <a:prstGeom xmlns:a="http://schemas.openxmlformats.org/drawingml/2006/main" prst="roundRect">
            <a:avLst>
              <a:gd name="adj" fmla="val 7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50800" dist="127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6B8BF52-A63B-452A-B287-78E14794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779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7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5008be67b4d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9367" y="1623060"/>
            <a:ext cx="192024" cy="192024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0C67B21-4B18-4B70-B591-78DCB867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661" y="1965960"/>
            <a:ext cx="143743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GOVERN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BFAF1E83-0211-42CF-8A0B-2AE3DC17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2148840"/>
            <a:ext cx="1400861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global taxonomy</a:t>
            </a:r>
          </a:p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at capture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14E209F6-1DCA-48CF-BA12-34FB1891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530" y="1371600"/>
            <a:ext cx="27432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90B64674-6D2C-47D3-97E7-F30163F9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562" y="1371600"/>
            <a:ext cx="1528877" cy="1078992"/>
          </a:xfrm>
          <a:prstGeom xmlns:a="http://schemas.openxmlformats.org/drawingml/2006/main" prst="roundRect">
            <a:avLst>
              <a:gd name="adj" fmla="val 7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50800" dist="127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68EE4256-D5A1-432A-948B-D70B27AD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8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6bcfea7574d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5988" y="1623060"/>
            <a:ext cx="192024" cy="192024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1A155063-342E-4FA4-A29E-B27CF3BB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282" y="1965960"/>
            <a:ext cx="143743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ENRICH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E7367E10-6219-4D75-A7E8-7D4B13B6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570" y="2148840"/>
            <a:ext cx="1400861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quality checks +</a:t>
            </a:r>
          </a:p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semantic layer</a:t>
            </a:r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8BEA332D-BBB9-4A53-8128-A7F42B37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150" y="1371600"/>
            <a:ext cx="27432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A153BDCE-FF01-45DC-918A-A44D72DA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182" y="1371600"/>
            <a:ext cx="1528877" cy="1078992"/>
          </a:xfrm>
          <a:prstGeom xmlns:a="http://schemas.openxmlformats.org/drawingml/2006/main" prst="roundRect">
            <a:avLst>
              <a:gd name="adj" fmla="val 7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50800" dist="127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2544D4EA-16B2-44AC-803D-4156C220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021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8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c32c12aa341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2609" y="1623060"/>
            <a:ext cx="192024" cy="192024"/>
          </a:xfrm>
          <a:prstGeom xmlns:a="http://schemas.openxmlformats.org/drawingml/2006/main" prst="rect">
            <a:avLst/>
          </a:prstGeom>
        </p:spPr>
      </p:pic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A3CD78A7-4A0D-4D49-BB49-EB2F41B9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902" y="1965960"/>
            <a:ext cx="143743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ACTIVATE</a:t>
            </a:r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777E6867-CB27-4FB9-99C9-742359B1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190" y="2148840"/>
            <a:ext cx="1400861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self-service BI +</a:t>
            </a:r>
          </a:p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ask-your-data</a:t>
            </a:r>
          </a:p>
        </p:txBody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78827C48-5262-42FF-B12A-E046D103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771" y="1371600"/>
            <a:ext cx="27432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0F49531A-0499-45A5-9269-3EC259D3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803" y="1371600"/>
            <a:ext cx="1528877" cy="1078992"/>
          </a:xfrm>
          <a:prstGeom xmlns:a="http://schemas.openxmlformats.org/drawingml/2006/main" prst="roundRect">
            <a:avLst>
              <a:gd name="adj" fmla="val 7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50800" dist="127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8D1E15C9-ADC7-4D6F-85FE-FA842D08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6642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9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5dc2aa80d45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9230" y="1623060"/>
            <a:ext cx="192024" cy="192024"/>
          </a:xfrm>
          <a:prstGeom xmlns:a="http://schemas.openxmlformats.org/drawingml/2006/main" prst="rect">
            <a:avLst/>
          </a:prstGeom>
        </p:spPr>
      </p:pic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5611712C-11D8-4667-BEAE-6B15F943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523" y="1965960"/>
            <a:ext cx="143743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MEASURE</a:t>
            </a:r>
          </a:p>
        </p:txBody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5FF71BC9-D625-49BD-8AF6-A14AA0D2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811" y="2148840"/>
            <a:ext cx="1400861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adoption and</a:t>
            </a:r>
          </a:p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commercial outcomes</a:t>
            </a:r>
          </a:p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8AADBFC9-ED06-4603-A5F6-939E5AE9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615184"/>
            <a:ext cx="8595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REPORTED CURRENT STACK · CONFIRM TENANTS, LICENCES AND SCOPE</a:t>
            </a:r>
          </a:p>
        </p:txBody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785797FF-B2DA-4E7F-8754-CC8F988A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798064"/>
            <a:ext cx="8595360" cy="658368"/>
          </a:xfrm>
          <a:prstGeom xmlns:a="http://schemas.openxmlformats.org/drawingml/2006/main" prst="roundRect">
            <a:avLst>
              <a:gd name="adj" fmla="val 8681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F1E39B80-A17C-44B7-8843-02CF95C4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98064"/>
            <a:ext cx="8138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9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Proposed pattern: PMI EDP / Snowflake and Power BI, with Coforge DataFlux for approved-source ingestion, KAI for governed natural-language querying, DIVA for conversational insight and rule-based data-quality monitoring. ‘Data Ocean’ and Datorama scope remain client inputs.</a:t>
            </a:r>
          </a:p>
        </p:txBody>
      </p:sp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A2FA83D4-612D-46BA-8344-49AD2527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621024"/>
            <a:ext cx="8595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PILOT SUCCESS MEASURES · BASELINE AND TARGET IN MOBILISATION</a:t>
            </a:r>
          </a:p>
        </p:txBody>
      </p:sp>
      <p:sp>
        <p:nvSpPr>
          <p:cNvPr id="41" name="Shape 34">
            <a:extLst xmlns:a="http://schemas.openxmlformats.org/drawingml/2006/main">
              <a:ext uri="{FF2B5EF4-FFF2-40B4-BE49-F238E27FC236}">
                <a16:creationId xmlns:a16="http://schemas.microsoft.com/office/drawing/2014/main" id="{8E8D274C-CEDB-4B81-832C-D9D853C7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803904"/>
            <a:ext cx="859536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D3F80073-116A-493C-B712-A78C9F0B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877056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 cost</a:t>
            </a:r>
          </a:p>
        </p:txBody>
      </p:sp>
      <p:sp>
        <p:nvSpPr>
          <p:cNvPr id="43" name="Text 36">
            <a:extLst xmlns:a="http://schemas.openxmlformats.org/drawingml/2006/main">
              <a:ext uri="{FF2B5EF4-FFF2-40B4-BE49-F238E27FC236}">
                <a16:creationId xmlns:a16="http://schemas.microsoft.com/office/drawing/2014/main" id="{9976C938-FE9E-4E46-A5D3-42912463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169664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7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3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licence + data-operations baseline</a:t>
            </a:r>
          </a:p>
        </p:txBody>
      </p:sp>
      <p:sp>
        <p:nvSpPr>
          <p:cNvPr id="44" name="Shape 37">
            <a:extLst xmlns:a="http://schemas.openxmlformats.org/drawingml/2006/main">
              <a:ext uri="{FF2B5EF4-FFF2-40B4-BE49-F238E27FC236}">
                <a16:creationId xmlns:a16="http://schemas.microsoft.com/office/drawing/2014/main" id="{1A1A9E4D-6717-42D3-8227-73C94A9F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93192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A6D9DD10-86F1-4295-B695-00134DED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77056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Insight latency</a:t>
            </a:r>
          </a:p>
        </p:txBody>
      </p:sp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6F464B8E-9E80-46CC-8E61-334E0008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69664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7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3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request-to-answer cycle time</a:t>
            </a:r>
          </a:p>
        </p:txBody>
      </p:sp>
      <p:sp>
        <p:nvSpPr>
          <p:cNvPr id="47" name="Shape 40">
            <a:extLst xmlns:a="http://schemas.openxmlformats.org/drawingml/2006/main">
              <a:ext uri="{FF2B5EF4-FFF2-40B4-BE49-F238E27FC236}">
                <a16:creationId xmlns:a16="http://schemas.microsoft.com/office/drawing/2014/main" id="{41156F93-2FA0-446A-A7F2-3ED18C38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3192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48" name="Text 41">
            <a:extLst xmlns:a="http://schemas.openxmlformats.org/drawingml/2006/main">
              <a:ext uri="{FF2B5EF4-FFF2-40B4-BE49-F238E27FC236}">
                <a16:creationId xmlns:a16="http://schemas.microsoft.com/office/drawing/2014/main" id="{42A905D0-E46A-4234-AEC6-96CF7251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877056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Taxonomy coverage</a:t>
            </a:r>
          </a:p>
        </p:txBody>
      </p:sp>
      <p:sp>
        <p:nvSpPr>
          <p:cNvPr id="49" name="Text 42">
            <a:extLst xmlns:a="http://schemas.openxmlformats.org/drawingml/2006/main">
              <a:ext uri="{FF2B5EF4-FFF2-40B4-BE49-F238E27FC236}">
                <a16:creationId xmlns:a16="http://schemas.microsoft.com/office/drawing/2014/main" id="{AD5DA3D2-E2C5-4B59-A242-D17734B3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169664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7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3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% of priority sources mapped</a:t>
            </a:r>
          </a:p>
        </p:txBody>
      </p:sp>
      <p:sp>
        <p:nvSpPr>
          <p:cNvPr id="50" name="Shape 43">
            <a:extLst xmlns:a="http://schemas.openxmlformats.org/drawingml/2006/main">
              <a:ext uri="{FF2B5EF4-FFF2-40B4-BE49-F238E27FC236}">
                <a16:creationId xmlns:a16="http://schemas.microsoft.com/office/drawing/2014/main" id="{740772F8-9966-42A6-B0BA-EC7143E1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93192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51" name="Text 44">
            <a:extLst xmlns:a="http://schemas.openxmlformats.org/drawingml/2006/main">
              <a:ext uri="{FF2B5EF4-FFF2-40B4-BE49-F238E27FC236}">
                <a16:creationId xmlns:a16="http://schemas.microsoft.com/office/drawing/2014/main" id="{45D38D28-B8BB-4E99-8B29-1F061312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877056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reliability</a:t>
            </a:r>
          </a:p>
        </p:txBody>
      </p:sp>
      <p:sp>
        <p:nvSpPr>
          <p:cNvPr id="52" name="Text 45">
            <a:extLst xmlns:a="http://schemas.openxmlformats.org/drawingml/2006/main">
              <a:ext uri="{FF2B5EF4-FFF2-40B4-BE49-F238E27FC236}">
                <a16:creationId xmlns:a16="http://schemas.microsoft.com/office/drawing/2014/main" id="{E5D3E1E0-23BE-4B6C-B3C1-D436CDF5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169664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7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3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freshness, completeness and SLA</a:t>
            </a:r>
          </a:p>
        </p:txBody>
      </p:sp>
      <p:sp>
        <p:nvSpPr>
          <p:cNvPr id="53" name="Text 46">
            <a:extLst xmlns:a="http://schemas.openxmlformats.org/drawingml/2006/main">
              <a:ext uri="{FF2B5EF4-FFF2-40B4-BE49-F238E27FC236}">
                <a16:creationId xmlns:a16="http://schemas.microsoft.com/office/drawing/2014/main" id="{5082B188-5FDA-4B88-ADD3-BAC26547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928616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1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700" b="1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Coforge   |   Confidential — for PMI discussion</a:t>
            </a:r>
          </a:p>
        </p:txBody>
      </p:sp>
      <p:sp>
        <p:nvSpPr>
          <p:cNvPr id="54" name="Text 47">
            <a:extLst xmlns:a="http://schemas.openxmlformats.org/drawingml/2006/main">
              <a:ext uri="{FF2B5EF4-FFF2-40B4-BE49-F238E27FC236}">
                <a16:creationId xmlns:a16="http://schemas.microsoft.com/office/drawing/2014/main" id="{5E74544F-84B9-42C4-BE5E-1E9275E2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8616"/>
            <a:ext cx="76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638" b="0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3 / 13</a:t>
            </a:r>
          </a:p>
        </p:txBody>
      </p:sp>
    </p:spTree>
    <p:extLst>
      <p:ext uri="{BB962C8B-B14F-4D97-AF65-F5344CB8AC3E}">
        <p14:creationId xmlns:p14="http://schemas.microsoft.com/office/powerpoint/2010/main" val="9488977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E27034E-8336-4307-91AF-54762D86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733BC99-7F06-4DAD-83D7-FC6D2882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FA6"/>
          </a:solidFill>
          <a:ln xmlns:a="http://schemas.openxmlformats.org/drawingml/2006/main" w="0">
            <a:solidFill>
              <a:srgbClr val="3F6FA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11E1465-DC52-42AB-8CC2-9BE81AC6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100584"/>
            <a:ext cx="8503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SOLUTION DEEP-DIVE · CHALLENGE 1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AD18C3F-651A-417F-86D3-CB7E40A5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92608"/>
            <a:ext cx="8549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172A46"/>
                </a:solidFill>
                <a:latin typeface="Georgia"/>
                <a:ea typeface="Georgia"/>
                <a:cs typeface="Georgia"/>
              </a:defRPr>
            </a:pPr>
            <a:r>
              <a:rPr sz="2000" b="1">
                <a:solidFill>
                  <a:srgbClr val="172A46"/>
                </a:solidFill>
                <a:latin typeface="Georgia"/>
                <a:ea typeface="Georgia"/>
                <a:cs typeface="Georgia"/>
              </a:rPr>
              <a:t>Inside the governed marketing intelligence platform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D1CD431-B43B-4515-90B3-9C40E258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822960"/>
            <a:ext cx="8549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1000" b="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The platform separates reusable data products from the agents that monitor, query and explain them.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EEC782D-5496-449F-B702-2B449F35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152144"/>
            <a:ext cx="4206240" cy="1883664"/>
          </a:xfrm>
          <a:prstGeom xmlns:a="http://schemas.openxmlformats.org/drawingml/2006/main" prst="roundRect">
            <a:avLst>
              <a:gd name="adj" fmla="val 40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4A67985-6C69-4132-ACF9-72B9C6D6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152144"/>
            <a:ext cx="420624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864A59B-E82D-464F-ACCB-F90E5C81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43584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47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PROPOSED DATA PRODUCTS · ON THE VALIDATED ENTERPRISE DATA PLATFORM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76C502B-AFAA-4FE5-9E24-07834691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554480"/>
            <a:ext cx="3822192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300"/>
              </a:spcAft>
              <a:buChar char="•"/>
              <a:defRPr sz="78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78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Marketing 360 — comparable campaign, channel and spend view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300"/>
              </a:spcAft>
              <a:buChar char="•"/>
              <a:defRPr sz="78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78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Toolkit Adoption — usage and performance by market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300"/>
              </a:spcAft>
              <a:buChar char="•"/>
              <a:defRPr sz="78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78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Campaign Performance — agreed cross-market KPIs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300"/>
              </a:spcAft>
              <a:buChar char="•"/>
              <a:defRPr sz="78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78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Consumer Journey — purpose-bound owned-channel behaviour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300"/>
              </a:spcAft>
              <a:buChar char="•"/>
              <a:defRPr sz="78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78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SFP Commercialisation — agreed device, reorder and switching outcomes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B64827E-C3DB-45BF-8668-B35AC3E4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152144"/>
            <a:ext cx="4206240" cy="1883664"/>
          </a:xfrm>
          <a:prstGeom xmlns:a="http://schemas.openxmlformats.org/drawingml/2006/main" prst="roundRect">
            <a:avLst>
              <a:gd name="adj" fmla="val 40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B2A1B23-E14B-40C5-BB3C-2ACD8F6B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152144"/>
            <a:ext cx="420624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027BA9-6838-4DD4-8F03-64E38177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243584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PROPOSED AGENT SERVICES · COFORGE DATA COSMOS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16079E7-E96F-4884-BF51-DFD3A92E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1554480"/>
            <a:ext cx="3822192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300"/>
              </a:spcAft>
              <a:buChar char="•"/>
              <a:defRPr sz="78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78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DataFlux — ingest the approved source inventory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300"/>
              </a:spcAft>
              <a:buChar char="•"/>
              <a:defRPr sz="78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78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Taxonomy agent — validate capture against the global dictionary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300"/>
              </a:spcAft>
              <a:buChar char="•"/>
              <a:defRPr sz="78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78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Quality agent — detect anomalies and propose governed remediation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300"/>
              </a:spcAft>
              <a:buChar char="•"/>
              <a:defRPr sz="78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78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KAI · NL2SQL — query approved semantic models in plain language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300"/>
              </a:spcAft>
              <a:buChar char="•"/>
              <a:defRPr sz="78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78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Attribution service — test methods and document limitations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300"/>
              </a:spcAft>
              <a:buChar char="•"/>
              <a:defRPr sz="78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78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DIVA — cited, conversational insight for the CMO cockpit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B5E4431-0620-4C1E-BC7D-90A9E13F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145536"/>
            <a:ext cx="8595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DESIGN DECISIONS TO CONFIRM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97B3221-7491-47CF-A7E4-EDFBB7BC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328416"/>
            <a:ext cx="2743200" cy="841248"/>
          </a:xfrm>
          <a:prstGeom xmlns:a="http://schemas.openxmlformats.org/drawingml/2006/main" prst="roundRect">
            <a:avLst>
              <a:gd name="adj" fmla="val 6793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1B270C1-2BD1-441B-95E5-F5641B23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" y="343814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C8AE3CF-A3B0-4D7E-86B0-9D8FE142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" y="343814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B7AE48B-34B0-491D-9169-0BB613A8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19856"/>
            <a:ext cx="21579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84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84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Taxonomy at capture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8AF32A6-B5DF-4566-9C0D-6EC2687D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" y="3749040"/>
            <a:ext cx="24871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  <a:defRPr sz="75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Define required metadata before onboarding priority sources.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F318C7B-ACF1-4956-9CCB-75F04C6E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28416"/>
            <a:ext cx="2743200" cy="841248"/>
          </a:xfrm>
          <a:prstGeom xmlns:a="http://schemas.openxmlformats.org/drawingml/2006/main" prst="roundRect">
            <a:avLst>
              <a:gd name="adj" fmla="val 6793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CBEE168-2DBB-46C5-B24B-0BA6E305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343814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A114F63-4506-4F13-87E7-DAE971AC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343814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2048BB-CBC9-4E6D-B9AD-B836E782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19856"/>
            <a:ext cx="21579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84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84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Transition Datorama in waves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D71E728-E8DA-4346-B661-E7CC832F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3749040"/>
            <a:ext cx="24871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  <a:defRPr sz="75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Retain continuity; retire connectors only after parity and cost validation.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DC939A4-11A0-48E7-A799-57BDE623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328416"/>
            <a:ext cx="2743200" cy="841248"/>
          </a:xfrm>
          <a:prstGeom xmlns:a="http://schemas.openxmlformats.org/drawingml/2006/main" prst="roundRect">
            <a:avLst>
              <a:gd name="adj" fmla="val 6793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ABB32B-C2FA-4C65-B2C8-F5480EC2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343814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FD0E760-1715-4C63-94A3-C0292127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343814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4AAA166-AC19-4E05-A83C-9471A384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419856"/>
            <a:ext cx="21579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84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84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Self-service with citations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E49414F-1053-4A09-A1F5-1808DEE9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3749040"/>
            <a:ext cx="24871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  <a:defRPr sz="75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Return governed answers with metric, source and freshness context.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DF88D9F8-F040-4495-9B09-1023FECB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297680"/>
            <a:ext cx="8595360" cy="493776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4CA02A-30D6-496E-8524-DAF07E93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97680"/>
            <a:ext cx="81381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3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9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CONSUMPTION SURFACES   CMO cockpit · toolkit adoption scorecard · campaign-to-outcome view · HQ↔market feedback loop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A0E4081-9502-497B-A1DC-7E916E6D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928616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1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700" b="1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Coforge   |   Confidential — for PMI discussion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B937CC4-0AFC-4E4A-82A0-130A327E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8616"/>
            <a:ext cx="76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638" b="0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4 / 13</a:t>
            </a:r>
          </a:p>
        </p:txBody>
      </p:sp>
    </p:spTree>
    <p:extLst>
      <p:ext uri="{BB962C8B-B14F-4D97-AF65-F5344CB8AC3E}">
        <p14:creationId xmlns:p14="http://schemas.microsoft.com/office/powerpoint/2010/main" val="10465359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844D860-54A8-4170-847D-E136A805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377CAE-EBAE-4583-B947-F271B3C9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FA6"/>
          </a:solidFill>
          <a:ln xmlns:a="http://schemas.openxmlformats.org/drawingml/2006/main" w="0">
            <a:solidFill>
              <a:srgbClr val="3F6FA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3BEDEA-2823-432B-8523-070ABF92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100584"/>
            <a:ext cx="8503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CHALLENGE 2 · CONTENT CREATION &amp; SCALE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2C3E3A5-F104-414A-AB4E-8C9A73FA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92608"/>
            <a:ext cx="8549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172A46"/>
                </a:solidFill>
                <a:latin typeface="Georgia"/>
                <a:ea typeface="Georgia"/>
                <a:cs typeface="Georgia"/>
              </a:defRPr>
            </a:pPr>
            <a:r>
              <a:rPr sz="2000" b="1">
                <a:solidFill>
                  <a:srgbClr val="172A46"/>
                </a:solidFill>
                <a:latin typeface="Georgia"/>
                <a:ea typeface="Georgia"/>
                <a:cs typeface="Georgia"/>
              </a:rPr>
              <a:t>Content velocity is constrained by compliant review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38B0DC7-30F0-4AA4-ADFB-71A3C166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841248"/>
            <a:ext cx="8549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Client input to confirm: regulatory, legal and market review is a major lead-time driver across brand and smoke-free product content.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F5CE64A-63DA-4346-88F9-114EBF47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170432"/>
            <a:ext cx="8595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THE APPROACH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89F736D-7AF7-44C3-BD1B-802B1EE2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71600"/>
            <a:ext cx="1528877" cy="1078992"/>
          </a:xfrm>
          <a:prstGeom xmlns:a="http://schemas.openxmlformats.org/drawingml/2006/main" prst="roundRect">
            <a:avLst>
              <a:gd name="adj" fmla="val 7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50800" dist="127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DF203A5-007C-447B-A0D3-F42FADF1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6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7f2d6b8584b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2746" y="1623060"/>
            <a:ext cx="192024" cy="192024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5E7E9B6-1E19-4016-95CB-626B9668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965960"/>
            <a:ext cx="143743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BRIEF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A285E18-EB9E-4440-9FDA-7DC22B45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148840"/>
            <a:ext cx="1400861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complete, taxonomy-tagged</a:t>
            </a:r>
          </a:p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market brief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E9E7E85-7A2E-45B9-A91A-2191F209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909" y="1371600"/>
            <a:ext cx="27432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64A36FE-83AE-4BB8-9615-5C7E6B53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941" y="1371600"/>
            <a:ext cx="1528877" cy="1078992"/>
          </a:xfrm>
          <a:prstGeom xmlns:a="http://schemas.openxmlformats.org/drawingml/2006/main" prst="roundRect">
            <a:avLst>
              <a:gd name="adj" fmla="val 7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50800" dist="127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56D53CD-2CA9-44A7-87F4-2B09848B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779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7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8b7b01c9e4e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9367" y="1623060"/>
            <a:ext cx="192024" cy="192024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1770DBBD-1C9B-4806-86CF-8640A178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661" y="1965960"/>
            <a:ext cx="143743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GENERATE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641A1903-3AE9-42EC-BE42-748C907C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2148840"/>
            <a:ext cx="1400861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brand-controlled copy,</a:t>
            </a:r>
          </a:p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image and video variants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4821F94-7281-4048-B650-ED80DA3E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530" y="1371600"/>
            <a:ext cx="27432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3862D027-B5B7-4CDE-AEF2-3F2B5D5C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562" y="1371600"/>
            <a:ext cx="1528877" cy="1078992"/>
          </a:xfrm>
          <a:prstGeom xmlns:a="http://schemas.openxmlformats.org/drawingml/2006/main" prst="roundRect">
            <a:avLst>
              <a:gd name="adj" fmla="val 7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50800" dist="127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75E9AE3-D0B6-4F8C-9F42-A03120A6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8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b6b0c898348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5988" y="1623060"/>
            <a:ext cx="192024" cy="192024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231B7E1-52B1-4DC4-AA5D-0C340EA3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282" y="1965960"/>
            <a:ext cx="143743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482E0510-8D49-4EEE-92D7-C663ABF6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570" y="2148840"/>
            <a:ext cx="1400861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market-specific rulebook</a:t>
            </a:r>
          </a:p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pre-check with citations</a:t>
            </a:r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09604DE4-9A97-44DF-8679-7D99A0F5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150" y="1371600"/>
            <a:ext cx="27432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163632C9-64CB-4078-B7DD-D6FDEA5B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182" y="1371600"/>
            <a:ext cx="1528877" cy="1078992"/>
          </a:xfrm>
          <a:prstGeom xmlns:a="http://schemas.openxmlformats.org/drawingml/2006/main" prst="roundRect">
            <a:avLst>
              <a:gd name="adj" fmla="val 7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50800" dist="127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F7296262-AF9C-498C-89D5-128CCCAA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021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8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0b302aaec4d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2609" y="1623060"/>
            <a:ext cx="192024" cy="192024"/>
          </a:xfrm>
          <a:prstGeom xmlns:a="http://schemas.openxmlformats.org/drawingml/2006/main" prst="rect">
            <a:avLst/>
          </a:prstGeom>
        </p:spPr>
      </p:pic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59CB31-8852-4171-B65D-FD025FDE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902" y="1965960"/>
            <a:ext cx="143743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ROUTE</a:t>
            </a:r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3159BC6D-DA98-49A1-95C4-DE589964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190" y="2148840"/>
            <a:ext cx="1400861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parallel review where</a:t>
            </a:r>
          </a:p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policy permits; HITL</a:t>
            </a:r>
          </a:p>
        </p:txBody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AC8DD936-53BD-4637-9DE8-3EF8C43F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771" y="1371600"/>
            <a:ext cx="27432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872187DA-27B8-475F-A91C-21CF4E0B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803" y="1371600"/>
            <a:ext cx="1528877" cy="1078992"/>
          </a:xfrm>
          <a:prstGeom xmlns:a="http://schemas.openxmlformats.org/drawingml/2006/main" prst="roundRect">
            <a:avLst>
              <a:gd name="adj" fmla="val 7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50800" dist="127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9BA67ABF-A257-4969-A72C-9BFFEB91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6642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9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8903702c24b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9230" y="1623060"/>
            <a:ext cx="192024" cy="192024"/>
          </a:xfrm>
          <a:prstGeom xmlns:a="http://schemas.openxmlformats.org/drawingml/2006/main" prst="rect">
            <a:avLst/>
          </a:prstGeom>
        </p:spPr>
      </p:pic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95349CB8-8AF3-4835-A20A-0872F57A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523" y="1965960"/>
            <a:ext cx="143743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ACTIVATE</a:t>
            </a:r>
          </a:p>
        </p:txBody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8C54B6EC-A842-4131-BD0F-5FF7121B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811" y="2148840"/>
            <a:ext cx="1400861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approved, age-gated</a:t>
            </a:r>
          </a:p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content through channels</a:t>
            </a:r>
          </a:p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EED35D53-8A5E-4FB1-A3F1-56E02419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615184"/>
            <a:ext cx="8595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REPORTED CURRENT STACK · ADOBE CAPABILITIES VERIFIED; PMI ENTITLEMENTS TO CONFIRM</a:t>
            </a:r>
          </a:p>
        </p:txBody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EBB393E3-2EF2-46B6-B8F2-8E159BBC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798064"/>
            <a:ext cx="8595360" cy="658368"/>
          </a:xfrm>
          <a:prstGeom xmlns:a="http://schemas.openxmlformats.org/drawingml/2006/main" prst="roundRect">
            <a:avLst>
              <a:gd name="adj" fmla="val 8681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C103ACD6-6D6A-4AB5-94FE-7744C1C1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98064"/>
            <a:ext cx="8138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9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Adobe publicly documents GenStudio integration with Workfront and Experience Manager Assets, with Firefly for scaled creation. Proposed Coforge additions: requirements intake, market-rule retrieval and transcreation memory. Salesforce activation remains subject to confirmed architecture.</a:t>
            </a:r>
          </a:p>
        </p:txBody>
      </p:sp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4FCB0186-D596-4DD2-806C-E76403D1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621024"/>
            <a:ext cx="8595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PILOT SUCCESS MEASURES · BASELINE AND TARGET IN MOBILISATION</a:t>
            </a:r>
          </a:p>
        </p:txBody>
      </p:sp>
      <p:sp>
        <p:nvSpPr>
          <p:cNvPr id="41" name="Shape 34">
            <a:extLst xmlns:a="http://schemas.openxmlformats.org/drawingml/2006/main">
              <a:ext uri="{FF2B5EF4-FFF2-40B4-BE49-F238E27FC236}">
                <a16:creationId xmlns:a16="http://schemas.microsoft.com/office/drawing/2014/main" id="{DDE53597-AE70-4720-A1C8-A32E09B8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803904"/>
            <a:ext cx="859536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9F16DC91-4E2B-40AA-A3C2-3B33110A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877056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Lead time</a:t>
            </a:r>
          </a:p>
        </p:txBody>
      </p:sp>
      <p:sp>
        <p:nvSpPr>
          <p:cNvPr id="43" name="Text 36">
            <a:extLst xmlns:a="http://schemas.openxmlformats.org/drawingml/2006/main">
              <a:ext uri="{FF2B5EF4-FFF2-40B4-BE49-F238E27FC236}">
                <a16:creationId xmlns:a16="http://schemas.microsoft.com/office/drawing/2014/main" id="{AA80432A-65CA-4DA9-8F80-B6A5E1A3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169664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7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3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brief-to-approved-asset cycle</a:t>
            </a:r>
          </a:p>
        </p:txBody>
      </p:sp>
      <p:sp>
        <p:nvSpPr>
          <p:cNvPr id="44" name="Shape 37">
            <a:extLst xmlns:a="http://schemas.openxmlformats.org/drawingml/2006/main">
              <a:ext uri="{FF2B5EF4-FFF2-40B4-BE49-F238E27FC236}">
                <a16:creationId xmlns:a16="http://schemas.microsoft.com/office/drawing/2014/main" id="{C855CC30-0256-4967-92E2-B6A59C13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93192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CB40E68D-BC01-4C14-90AE-FA9F5548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77056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Review effort</a:t>
            </a:r>
          </a:p>
        </p:txBody>
      </p:sp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A9D539B6-5D06-4DD2-924E-AFCBB3F1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69664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7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3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first-pass and exception touch time</a:t>
            </a:r>
          </a:p>
        </p:txBody>
      </p:sp>
      <p:sp>
        <p:nvSpPr>
          <p:cNvPr id="47" name="Shape 40">
            <a:extLst xmlns:a="http://schemas.openxmlformats.org/drawingml/2006/main">
              <a:ext uri="{FF2B5EF4-FFF2-40B4-BE49-F238E27FC236}">
                <a16:creationId xmlns:a16="http://schemas.microsoft.com/office/drawing/2014/main" id="{39B39B1F-AA79-4703-A3B4-158CED8D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3192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48" name="Text 41">
            <a:extLst xmlns:a="http://schemas.openxmlformats.org/drawingml/2006/main">
              <a:ext uri="{FF2B5EF4-FFF2-40B4-BE49-F238E27FC236}">
                <a16:creationId xmlns:a16="http://schemas.microsoft.com/office/drawing/2014/main" id="{4915FEB5-F92E-4576-B19F-00C3FFF5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877056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Variant throughput</a:t>
            </a:r>
          </a:p>
        </p:txBody>
      </p:sp>
      <p:sp>
        <p:nvSpPr>
          <p:cNvPr id="49" name="Text 42">
            <a:extLst xmlns:a="http://schemas.openxmlformats.org/drawingml/2006/main">
              <a:ext uri="{FF2B5EF4-FFF2-40B4-BE49-F238E27FC236}">
                <a16:creationId xmlns:a16="http://schemas.microsoft.com/office/drawing/2014/main" id="{30697C57-8C56-4268-BBAB-4976E472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169664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7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3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approved variants per campaign</a:t>
            </a:r>
          </a:p>
        </p:txBody>
      </p:sp>
      <p:sp>
        <p:nvSpPr>
          <p:cNvPr id="50" name="Shape 43">
            <a:extLst xmlns:a="http://schemas.openxmlformats.org/drawingml/2006/main">
              <a:ext uri="{FF2B5EF4-FFF2-40B4-BE49-F238E27FC236}">
                <a16:creationId xmlns:a16="http://schemas.microsoft.com/office/drawing/2014/main" id="{59D3716D-26B4-4A62-9839-939D9305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93192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51" name="Text 44">
            <a:extLst xmlns:a="http://schemas.openxmlformats.org/drawingml/2006/main">
              <a:ext uri="{FF2B5EF4-FFF2-40B4-BE49-F238E27FC236}">
                <a16:creationId xmlns:a16="http://schemas.microsoft.com/office/drawing/2014/main" id="{3770842E-5B65-4DD7-BADD-53C66A93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877056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coverage</a:t>
            </a:r>
          </a:p>
        </p:txBody>
      </p:sp>
      <p:sp>
        <p:nvSpPr>
          <p:cNvPr id="52" name="Text 45">
            <a:extLst xmlns:a="http://schemas.openxmlformats.org/drawingml/2006/main">
              <a:ext uri="{FF2B5EF4-FFF2-40B4-BE49-F238E27FC236}">
                <a16:creationId xmlns:a16="http://schemas.microsoft.com/office/drawing/2014/main" id="{C346A4F5-5CE3-468D-9A6A-B1A70CB6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169664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7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3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% of flags linked to approved sources</a:t>
            </a:r>
          </a:p>
        </p:txBody>
      </p:sp>
      <p:sp>
        <p:nvSpPr>
          <p:cNvPr id="53" name="Text 46">
            <a:extLst xmlns:a="http://schemas.openxmlformats.org/drawingml/2006/main">
              <a:ext uri="{FF2B5EF4-FFF2-40B4-BE49-F238E27FC236}">
                <a16:creationId xmlns:a16="http://schemas.microsoft.com/office/drawing/2014/main" id="{399030E4-E817-49A5-BAF9-5B51DF20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928616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1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700" b="1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Coforge   |   Confidential — for PMI discussion</a:t>
            </a:r>
          </a:p>
        </p:txBody>
      </p:sp>
      <p:sp>
        <p:nvSpPr>
          <p:cNvPr id="54" name="Text 47">
            <a:extLst xmlns:a="http://schemas.openxmlformats.org/drawingml/2006/main">
              <a:ext uri="{FF2B5EF4-FFF2-40B4-BE49-F238E27FC236}">
                <a16:creationId xmlns:a16="http://schemas.microsoft.com/office/drawing/2014/main" id="{0F870547-4DAB-4D2B-A379-2535B27A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8616"/>
            <a:ext cx="76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638" b="0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5 / 13</a:t>
            </a:r>
          </a:p>
        </p:txBody>
      </p:sp>
    </p:spTree>
    <p:extLst>
      <p:ext uri="{BB962C8B-B14F-4D97-AF65-F5344CB8AC3E}">
        <p14:creationId xmlns:p14="http://schemas.microsoft.com/office/powerpoint/2010/main" val="2057346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EB3085D-99F1-4430-9646-F5F924E7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382D74F-1FB7-48D7-84F5-E0173F51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FA6"/>
          </a:solidFill>
          <a:ln xmlns:a="http://schemas.openxmlformats.org/drawingml/2006/main" w="0">
            <a:solidFill>
              <a:srgbClr val="3F6FA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348C7D9-E6CD-42FB-9667-32BF3868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100584"/>
            <a:ext cx="8503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SOLUTION DEEP-DIVE · CHALLENGE 2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D64A472-EB1A-4388-AC31-6062438F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92608"/>
            <a:ext cx="8549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172A46"/>
                </a:solidFill>
                <a:latin typeface="Georgia"/>
                <a:ea typeface="Georgia"/>
                <a:cs typeface="Georgia"/>
              </a:defRPr>
            </a:pPr>
            <a:r>
              <a:rPr sz="2000" b="1">
                <a:solidFill>
                  <a:srgbClr val="172A46"/>
                </a:solidFill>
                <a:latin typeface="Georgia"/>
                <a:ea typeface="Georgia"/>
                <a:cs typeface="Georgia"/>
              </a:rPr>
              <a:t>AI prepares evidence; qualified counsel retains approval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57FA6AE-CD47-451E-941E-06E2BC2D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822960"/>
            <a:ext cx="8549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1000" b="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Market-specific rules, cited checks and controlled hand-offs reduce rework without delegating legal decisions to AI.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9F77A1A-97F2-4A9A-90A6-9FE5F3F8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170432"/>
            <a:ext cx="5074920" cy="54864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000000">
                <a:alpha val="7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04665B8-A706-47B5-8A41-3BE3E9CA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1243584"/>
            <a:ext cx="1188720" cy="402336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BB89969-AA9B-4D9A-9520-252D4B75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1307592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6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117c0773d14f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204" y="1376172"/>
            <a:ext cx="137160" cy="137160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14FE515-2CF8-4432-AA9A-D487EB23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70432"/>
            <a:ext cx="7863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82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BRIEF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05C4812-936E-4C56-9FDE-48AE9D6F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1170432"/>
            <a:ext cx="363931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  <a:defRPr sz="77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7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Capture required market, product, audience, channel and mandatory-claim fields; block incomplete briefs.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A946500-54EB-4902-BFE2-BA48786A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01368"/>
            <a:ext cx="5074920" cy="54864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000000">
                <a:alpha val="7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FA2A9DD-FB86-4B97-82BA-7575C1AA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1874520"/>
            <a:ext cx="1188720" cy="402336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817709E-CBCA-4C91-855A-016D366E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193852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7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62cefbcac41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204" y="2007108"/>
            <a:ext cx="137160" cy="137160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3E3FD91-8CB2-402F-A6FF-E6F9DC7B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01368"/>
            <a:ext cx="7863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82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GENERATE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5EA5D97F-CA6E-4546-BE51-95EC8D88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1801368"/>
            <a:ext cx="363931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  <a:defRPr sz="77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7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Use approved templates, assets and brand controls. Generated copy, image and video remain draft until reviewed.</a:t>
            </a:r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4B93DC9-59B2-42AA-B55E-2C325BA1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432304"/>
            <a:ext cx="5074920" cy="54864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000000">
                <a:alpha val="7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257A0D37-3A2E-4765-B926-43EB3AE2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2505456"/>
            <a:ext cx="1188720" cy="402336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C036347-C4B0-4ADE-A320-C9F295EC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2569464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8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19f52efbc46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204" y="2638044"/>
            <a:ext cx="137160" cy="13716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CB6F0B44-EEA1-4637-B494-C89033E4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32304"/>
            <a:ext cx="7863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82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40638474-F271-4104-A2E7-99819460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2432304"/>
            <a:ext cx="363931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  <a:defRPr sz="77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7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Retrieve applicable rules by market—e.g., U.S. PMTA materials, EU TPD and local advertising codes—and cite each flag.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CE77CEF7-4DE8-4079-B706-62CA7ECE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063240"/>
            <a:ext cx="5074920" cy="54864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000000">
                <a:alpha val="7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9DBA23D4-920F-403D-A36E-53EAC38A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136392"/>
            <a:ext cx="1188720" cy="402336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DEC7CBD9-6E6D-4FFC-9469-0764241F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320040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8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82913ac9546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204" y="3268980"/>
            <a:ext cx="137160" cy="137160"/>
          </a:xfrm>
          <a:prstGeom xmlns:a="http://schemas.openxmlformats.org/drawingml/2006/main" prst="rect">
            <a:avLst/>
          </a:prstGeom>
        </p:spPr>
      </p:pic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8DE06ADF-0F2C-4BD0-9814-517C8EB7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7863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82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ROUTE</a:t>
            </a:r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ED74AFCB-6072-49D8-A0C7-A06E2C72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3063240"/>
            <a:ext cx="363931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  <a:defRPr sz="77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7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Apply configured approval matrices; parallelise only where policy permits; record reviewer and decision.</a:t>
            </a:r>
          </a:p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0C74538C-FC18-4CA0-AC04-C3A7A14A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694176"/>
            <a:ext cx="5074920" cy="54864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000000">
                <a:alpha val="7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EC45E162-A9DA-48B1-AC9A-7FD4943D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767328"/>
            <a:ext cx="1188720" cy="402336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0B082C87-DBEB-4466-97D0-6C183A04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3831336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9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aa089e54540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204" y="3899916"/>
            <a:ext cx="137160" cy="137160"/>
          </a:xfrm>
          <a:prstGeom xmlns:a="http://schemas.openxmlformats.org/drawingml/2006/main" prst="rect">
            <a:avLst/>
          </a:prstGeom>
        </p:spPr>
      </p:pic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F575745A-6CC9-4345-B221-5EDDDFC1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7863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82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ACTIVATE</a:t>
            </a:r>
          </a:p>
        </p:txBody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A70FEBC4-B169-437B-9014-180F594F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3694176"/>
            <a:ext cx="363931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  <a:defRPr sz="77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7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Publish only approved assets to the confirmed system of record and eligible, age-gated channels.</a:t>
            </a:r>
          </a:p>
        </p:txBody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A81B6B10-1A8A-4308-8A29-67D1FDF0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170432"/>
            <a:ext cx="3337560" cy="3072384"/>
          </a:xfrm>
          <a:prstGeom xmlns:a="http://schemas.openxmlformats.org/drawingml/2006/main" prst="roundRect">
            <a:avLst>
              <a:gd name="adj" fmla="val 24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9764616A-7AAD-40EC-BF6E-79542642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170432"/>
            <a:ext cx="333756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E0A59745-3F7D-4D81-9DC8-34217C5D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61872"/>
            <a:ext cx="2971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CONTROL MODEL</a:t>
            </a:r>
          </a:p>
        </p:txBody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5852CDC4-2525-4BF0-B1C9-F5BCBBAE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F9F4391C-1262-4E97-95D6-3159060A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4883CF58-F597-412E-B902-FDE989B5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1545336"/>
            <a:ext cx="267919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  <a:defRPr sz="77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77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Separate rule sets — Privacy laws and product / marketing rules have different purposes, owners and evidence.</a:t>
            </a:r>
          </a:p>
        </p:txBody>
      </p:sp>
      <p:sp>
        <p:nvSpPr>
          <p:cNvPr id="43" name="Shape 36">
            <a:extLst xmlns:a="http://schemas.openxmlformats.org/drawingml/2006/main">
              <a:ext uri="{FF2B5EF4-FFF2-40B4-BE49-F238E27FC236}">
                <a16:creationId xmlns:a16="http://schemas.microsoft.com/office/drawing/2014/main" id="{C963A7A8-4A1D-496C-91DF-497740DA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222199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7FA243ED-1A26-4E3A-9249-911D7175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222199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A9025517-5731-496C-97CB-51027220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194560"/>
            <a:ext cx="267919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  <a:defRPr sz="77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77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Cite the source — Each flag links to an approved clause, version, effective date and market.</a:t>
            </a:r>
          </a:p>
        </p:txBody>
      </p:sp>
      <p:sp>
        <p:nvSpPr>
          <p:cNvPr id="46" name="Shape 39">
            <a:extLst xmlns:a="http://schemas.openxmlformats.org/drawingml/2006/main">
              <a:ext uri="{FF2B5EF4-FFF2-40B4-BE49-F238E27FC236}">
                <a16:creationId xmlns:a16="http://schemas.microsoft.com/office/drawing/2014/main" id="{6FED110C-49C3-438C-9DC9-4A5F048F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287121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47" name="Text 40">
            <a:extLst xmlns:a="http://schemas.openxmlformats.org/drawingml/2006/main">
              <a:ext uri="{FF2B5EF4-FFF2-40B4-BE49-F238E27FC236}">
                <a16:creationId xmlns:a16="http://schemas.microsoft.com/office/drawing/2014/main" id="{01938CA9-C368-4B74-8F49-BF1989D0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287121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8" name="Text 41">
            <a:extLst xmlns:a="http://schemas.openxmlformats.org/drawingml/2006/main">
              <a:ext uri="{FF2B5EF4-FFF2-40B4-BE49-F238E27FC236}">
                <a16:creationId xmlns:a16="http://schemas.microsoft.com/office/drawing/2014/main" id="{24CF79D5-89F9-4E86-9B27-2E1BA53F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843784"/>
            <a:ext cx="267919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  <a:defRPr sz="77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77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Escalate uncertainty — Low-confidence or conflicting rules go directly to qualified counsel.</a:t>
            </a:r>
          </a:p>
        </p:txBody>
      </p:sp>
      <p:sp>
        <p:nvSpPr>
          <p:cNvPr id="49" name="Shape 42">
            <a:extLst xmlns:a="http://schemas.openxmlformats.org/drawingml/2006/main">
              <a:ext uri="{FF2B5EF4-FFF2-40B4-BE49-F238E27FC236}">
                <a16:creationId xmlns:a16="http://schemas.microsoft.com/office/drawing/2014/main" id="{7EE87A1C-44D0-464E-8A9D-E9367144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352044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50" name="Text 43">
            <a:extLst xmlns:a="http://schemas.openxmlformats.org/drawingml/2006/main">
              <a:ext uri="{FF2B5EF4-FFF2-40B4-BE49-F238E27FC236}">
                <a16:creationId xmlns:a16="http://schemas.microsoft.com/office/drawing/2014/main" id="{1CFFDF37-15D6-44FB-87BD-9F3A2A42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352044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1" name="Text 44">
            <a:extLst xmlns:a="http://schemas.openxmlformats.org/drawingml/2006/main">
              <a:ext uri="{FF2B5EF4-FFF2-40B4-BE49-F238E27FC236}">
                <a16:creationId xmlns:a16="http://schemas.microsoft.com/office/drawing/2014/main" id="{553E5F15-1176-4309-AB93-29CA46D2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493008"/>
            <a:ext cx="267919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  <a:defRPr sz="77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77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Learn under control — Overrides update the knowledge base only through legal-approved governance.</a:t>
            </a:r>
          </a:p>
        </p:txBody>
      </p:sp>
      <p:sp>
        <p:nvSpPr>
          <p:cNvPr id="52" name="Shape 45">
            <a:extLst xmlns:a="http://schemas.openxmlformats.org/drawingml/2006/main">
              <a:ext uri="{FF2B5EF4-FFF2-40B4-BE49-F238E27FC236}">
                <a16:creationId xmlns:a16="http://schemas.microsoft.com/office/drawing/2014/main" id="{9BB65D3B-EA7C-44DE-8EC9-5E080839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352544"/>
            <a:ext cx="8595360" cy="475488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53" name="Text 46">
            <a:extLst xmlns:a="http://schemas.openxmlformats.org/drawingml/2006/main">
              <a:ext uri="{FF2B5EF4-FFF2-40B4-BE49-F238E27FC236}">
                <a16:creationId xmlns:a16="http://schemas.microsoft.com/office/drawing/2014/main" id="{19960179-B5FE-41C5-B575-B19EE280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52544"/>
            <a:ext cx="81381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3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9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MAY TRIAGE, SUMMARISE AND ROUTE—IT DOES NOT APPROVE.   Human approval and evidence are recorded before release.</a:t>
            </a:r>
          </a:p>
        </p:txBody>
      </p:sp>
      <p:sp>
        <p:nvSpPr>
          <p:cNvPr id="54" name="Text 47">
            <a:extLst xmlns:a="http://schemas.openxmlformats.org/drawingml/2006/main">
              <a:ext uri="{FF2B5EF4-FFF2-40B4-BE49-F238E27FC236}">
                <a16:creationId xmlns:a16="http://schemas.microsoft.com/office/drawing/2014/main" id="{C052F859-A882-4CD6-BBAF-C95004EB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928616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1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700" b="1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Coforge   |   Confidential — for PMI discussion</a:t>
            </a:r>
          </a:p>
        </p:txBody>
      </p:sp>
      <p:sp>
        <p:nvSpPr>
          <p:cNvPr id="55" name="Text 48">
            <a:extLst xmlns:a="http://schemas.openxmlformats.org/drawingml/2006/main">
              <a:ext uri="{FF2B5EF4-FFF2-40B4-BE49-F238E27FC236}">
                <a16:creationId xmlns:a16="http://schemas.microsoft.com/office/drawing/2014/main" id="{3934EBF1-9685-4D34-BE25-E8C0DB69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8616"/>
            <a:ext cx="76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638" b="0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6 / 13</a:t>
            </a:r>
          </a:p>
        </p:txBody>
      </p:sp>
    </p:spTree>
    <p:extLst>
      <p:ext uri="{BB962C8B-B14F-4D97-AF65-F5344CB8AC3E}">
        <p14:creationId xmlns:p14="http://schemas.microsoft.com/office/powerpoint/2010/main" val="591337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461CBB-105D-4AFE-8FC8-249F31C5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1CC03D6-2457-47B7-956C-EDE3F723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FA6"/>
          </a:solidFill>
          <a:ln xmlns:a="http://schemas.openxmlformats.org/drawingml/2006/main" w="0">
            <a:solidFill>
              <a:srgbClr val="3F6FA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9FF48EB-E379-4CBB-9EDD-F8F05B67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100584"/>
            <a:ext cx="8503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CHALLENGE 3 · IDENTITY, CONSENT &amp; MEASUREMENT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A2A7232-8B52-434B-BA06-13C2BC1D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92608"/>
            <a:ext cx="8549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172A46"/>
                </a:solidFill>
                <a:latin typeface="Georgia"/>
                <a:ea typeface="Georgia"/>
                <a:cs typeface="Georgia"/>
              </a:defRPr>
            </a:pPr>
            <a:r>
              <a:rPr sz="2000" b="1">
                <a:solidFill>
                  <a:srgbClr val="172A46"/>
                </a:solidFill>
                <a:latin typeface="Georgia"/>
                <a:ea typeface="Georgia"/>
                <a:cs typeface="Georgia"/>
              </a:rPr>
              <a:t>Measurement must become first-party and consent-led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E36F81B-23CC-4238-A3B4-711F2769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841248"/>
            <a:ext cx="8549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64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Build a coherent, purpose-bound view across permitted signals. Treat the 21-day conversion path as a pilot hypothesis—not an established benchmark.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2498104-B5B6-4AC0-992E-64944053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170432"/>
            <a:ext cx="8595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THE APPROACH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9E12522-EF0D-4EE6-86F2-60213BF7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71600"/>
            <a:ext cx="1528877" cy="1078992"/>
          </a:xfrm>
          <a:prstGeom xmlns:a="http://schemas.openxmlformats.org/drawingml/2006/main" prst="roundRect">
            <a:avLst>
              <a:gd name="adj" fmla="val 7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50800" dist="127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A053D37-EE5A-4CA2-AD93-FA622DBD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6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c6ec512f34c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2746" y="1623060"/>
            <a:ext cx="192024" cy="192024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21C22E8-6910-4ED7-B46E-086F9B6A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965960"/>
            <a:ext cx="143743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CAPTURE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475CAC2-2DCB-4FBF-AE4C-D33725EE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148840"/>
            <a:ext cx="1400861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consented first-party</a:t>
            </a:r>
          </a:p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signals; owned first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4928D82-AD42-4017-9A21-EE781542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909" y="1371600"/>
            <a:ext cx="27432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60124E8-ED73-4C01-B2D6-55221E49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941" y="1371600"/>
            <a:ext cx="1528877" cy="1078992"/>
          </a:xfrm>
          <a:prstGeom xmlns:a="http://schemas.openxmlformats.org/drawingml/2006/main" prst="roundRect">
            <a:avLst>
              <a:gd name="adj" fmla="val 7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50800" dist="127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01C1BFE-26AC-45CF-8A3F-0A941F14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779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7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65b5e9da342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9367" y="1623060"/>
            <a:ext cx="192024" cy="192024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8A88D9B-8B53-4076-8855-E4AD11B8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661" y="1965960"/>
            <a:ext cx="143743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RESOLVE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BC4C57EA-19B0-4D8A-9F4D-754EC7F3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2148840"/>
            <a:ext cx="1400861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deterministic first;</a:t>
            </a:r>
          </a:p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probabilistic only if approved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42C83FD-2158-4E7A-9888-D28CA1E8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530" y="1371600"/>
            <a:ext cx="27432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0EE512B4-9108-40D9-9AC2-6CC15118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562" y="1371600"/>
            <a:ext cx="1528877" cy="1078992"/>
          </a:xfrm>
          <a:prstGeom xmlns:a="http://schemas.openxmlformats.org/drawingml/2006/main" prst="roundRect">
            <a:avLst>
              <a:gd name="adj" fmla="val 7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50800" dist="127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1B55E9D-A056-41DC-A89F-A8F75179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8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f1a91e8fc42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5988" y="1623060"/>
            <a:ext cx="192024" cy="192024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2EC11F9-80DF-407D-9ED0-C482AD22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282" y="1965960"/>
            <a:ext cx="143743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UNIFY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01187040-3BD1-427C-9FEC-DB535A10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570" y="2148840"/>
            <a:ext cx="1400861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product + channel views</a:t>
            </a:r>
          </a:p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under permitted purposes</a:t>
            </a:r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109F5F4C-E189-4AF1-9DF6-7DBDD24A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150" y="1371600"/>
            <a:ext cx="27432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95C9BCA3-8D05-400A-9CD3-F4260F02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182" y="1371600"/>
            <a:ext cx="1528877" cy="1078992"/>
          </a:xfrm>
          <a:prstGeom xmlns:a="http://schemas.openxmlformats.org/drawingml/2006/main" prst="roundRect">
            <a:avLst>
              <a:gd name="adj" fmla="val 7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50800" dist="127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315FDEAC-2807-484E-A51C-DFA7E824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021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8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a9c94198d45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2609" y="1623060"/>
            <a:ext cx="192024" cy="192024"/>
          </a:xfrm>
          <a:prstGeom xmlns:a="http://schemas.openxmlformats.org/drawingml/2006/main" prst="rect">
            <a:avLst/>
          </a:prstGeom>
        </p:spPr>
      </p:pic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D68F7BFE-E1F7-47E7-AD32-A33654C6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902" y="1965960"/>
            <a:ext cx="143743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MODEL</a:t>
            </a:r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0F780212-51C1-454F-ACE7-2E006A2A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190" y="2148840"/>
            <a:ext cx="1400861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transparent propensity</a:t>
            </a:r>
          </a:p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and value measures</a:t>
            </a:r>
          </a:p>
        </p:txBody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829726BB-AADA-4F28-A57D-104D073E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771" y="1371600"/>
            <a:ext cx="27432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9719A2C7-3AE1-4506-876A-8DCA3815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803" y="1371600"/>
            <a:ext cx="1528877" cy="1078992"/>
          </a:xfrm>
          <a:prstGeom xmlns:a="http://schemas.openxmlformats.org/drawingml/2006/main" prst="roundRect">
            <a:avLst>
              <a:gd name="adj" fmla="val 7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50800" dist="127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ED29B0D8-F842-4F1E-9358-E46D5796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6642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pic>
        <p:nvPicPr>
          <p:cNvPr id="9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7e704290445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9230" y="1623060"/>
            <a:ext cx="192024" cy="192024"/>
          </a:xfrm>
          <a:prstGeom xmlns:a="http://schemas.openxmlformats.org/drawingml/2006/main" prst="rect">
            <a:avLst/>
          </a:prstGeom>
        </p:spPr>
      </p:pic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F618F963-9A67-42B1-9135-8592747F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523" y="1965960"/>
            <a:ext cx="143743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MEASURE</a:t>
            </a:r>
          </a:p>
        </p:txBody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9363F5DC-AAD0-40D1-ADB2-AA922AC7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811" y="2148840"/>
            <a:ext cx="1400861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server-side controls +</a:t>
            </a:r>
          </a:p>
          <a:p xmlns:a="http://schemas.openxmlformats.org/drawingml/2006/main">
            <a:pPr marL="0" indent="0" algn="l">
              <a:lnSpc>
                <a:spcPct val="92000"/>
              </a:lnSpc>
              <a:buNone/>
              <a:defRPr sz="6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6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privacy-aware reporting</a:t>
            </a:r>
          </a:p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80F3BD36-8FA7-41E4-89D7-C79BD750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615184"/>
            <a:ext cx="8595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REPORTED CURRENT STACK · CONFIRM TENANTS, LICENCES AND SCOPE</a:t>
            </a:r>
          </a:p>
        </p:txBody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1A891DE3-3A54-4D8D-A1BD-A6D40E5D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798064"/>
            <a:ext cx="8595360" cy="658368"/>
          </a:xfrm>
          <a:prstGeom xmlns:a="http://schemas.openxmlformats.org/drawingml/2006/main" prst="roundRect">
            <a:avLst>
              <a:gd name="adj" fmla="val 8681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06E7E850-60F5-4A2A-ACAF-9770D73F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98064"/>
            <a:ext cx="8138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9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Proposed pattern on confirmed Snowflake and Salesforce components, with server-side tagging, a governed identity service and consent enforcement. Google documents server-side tagging benefits for data quality and privacy control; it does not remove browser, consent or platform constraints.</a:t>
            </a:r>
          </a:p>
        </p:txBody>
      </p:sp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028F6FE4-AF3F-4B39-9E5C-03D4D421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621024"/>
            <a:ext cx="8595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PILOT SUCCESS MEASURES · BASELINE AND TARGET IN MOBILISATION</a:t>
            </a:r>
          </a:p>
        </p:txBody>
      </p:sp>
      <p:sp>
        <p:nvSpPr>
          <p:cNvPr id="41" name="Shape 34">
            <a:extLst xmlns:a="http://schemas.openxmlformats.org/drawingml/2006/main">
              <a:ext uri="{FF2B5EF4-FFF2-40B4-BE49-F238E27FC236}">
                <a16:creationId xmlns:a16="http://schemas.microsoft.com/office/drawing/2014/main" id="{E76E74A3-CA94-49C3-B35C-BF040984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803904"/>
            <a:ext cx="859536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8690558C-3B00-4DDB-88EE-EF84F56C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877056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Consented coverage</a:t>
            </a:r>
          </a:p>
        </p:txBody>
      </p:sp>
      <p:sp>
        <p:nvSpPr>
          <p:cNvPr id="43" name="Text 36">
            <a:extLst xmlns:a="http://schemas.openxmlformats.org/drawingml/2006/main">
              <a:ext uri="{FF2B5EF4-FFF2-40B4-BE49-F238E27FC236}">
                <a16:creationId xmlns:a16="http://schemas.microsoft.com/office/drawing/2014/main" id="{43D2DA9B-23E1-481A-B1FA-BC2645C4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169664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7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3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% of eligible profiles and events</a:t>
            </a:r>
          </a:p>
        </p:txBody>
      </p:sp>
      <p:sp>
        <p:nvSpPr>
          <p:cNvPr id="44" name="Shape 37">
            <a:extLst xmlns:a="http://schemas.openxmlformats.org/drawingml/2006/main">
              <a:ext uri="{FF2B5EF4-FFF2-40B4-BE49-F238E27FC236}">
                <a16:creationId xmlns:a16="http://schemas.microsoft.com/office/drawing/2014/main" id="{8AD19AAB-9CCE-4369-A07E-492DB86B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93192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EAF70AFF-E65C-43D2-9635-D0EC8045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77056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Identity quality</a:t>
            </a:r>
          </a:p>
        </p:txBody>
      </p:sp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72756286-A49E-4EA5-A858-422BCE95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69664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7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3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match confidence and collision rate</a:t>
            </a:r>
          </a:p>
        </p:txBody>
      </p:sp>
      <p:sp>
        <p:nvSpPr>
          <p:cNvPr id="47" name="Shape 40">
            <a:extLst xmlns:a="http://schemas.openxmlformats.org/drawingml/2006/main">
              <a:ext uri="{FF2B5EF4-FFF2-40B4-BE49-F238E27FC236}">
                <a16:creationId xmlns:a16="http://schemas.microsoft.com/office/drawing/2014/main" id="{8876CD71-CAFB-4529-A7D3-A5A05D53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3192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48" name="Text 41">
            <a:extLst xmlns:a="http://schemas.openxmlformats.org/drawingml/2006/main">
              <a:ext uri="{FF2B5EF4-FFF2-40B4-BE49-F238E27FC236}">
                <a16:creationId xmlns:a16="http://schemas.microsoft.com/office/drawing/2014/main" id="{610E0D9F-DFBA-40B7-A364-440A6739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877056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Journey outcome</a:t>
            </a:r>
          </a:p>
        </p:txBody>
      </p:sp>
      <p:sp>
        <p:nvSpPr>
          <p:cNvPr id="49" name="Text 42">
            <a:extLst xmlns:a="http://schemas.openxmlformats.org/drawingml/2006/main">
              <a:ext uri="{FF2B5EF4-FFF2-40B4-BE49-F238E27FC236}">
                <a16:creationId xmlns:a16="http://schemas.microsoft.com/office/drawing/2014/main" id="{1EE77E20-2E98-494E-8DE0-2D365E82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169664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7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3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agreed 21-day conversion definition</a:t>
            </a:r>
          </a:p>
        </p:txBody>
      </p:sp>
      <p:sp>
        <p:nvSpPr>
          <p:cNvPr id="50" name="Shape 43">
            <a:extLst xmlns:a="http://schemas.openxmlformats.org/drawingml/2006/main">
              <a:ext uri="{FF2B5EF4-FFF2-40B4-BE49-F238E27FC236}">
                <a16:creationId xmlns:a16="http://schemas.microsoft.com/office/drawing/2014/main" id="{34A040BD-CD6E-4CF4-ABEB-8494DE55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93192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51" name="Text 44">
            <a:extLst xmlns:a="http://schemas.openxmlformats.org/drawingml/2006/main">
              <a:ext uri="{FF2B5EF4-FFF2-40B4-BE49-F238E27FC236}">
                <a16:creationId xmlns:a16="http://schemas.microsoft.com/office/drawing/2014/main" id="{5990EF8F-4D13-44B6-B7BD-62A09082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877056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Signal durability</a:t>
            </a:r>
          </a:p>
        </p:txBody>
      </p:sp>
      <p:sp>
        <p:nvSpPr>
          <p:cNvPr id="52" name="Text 45">
            <a:extLst xmlns:a="http://schemas.openxmlformats.org/drawingml/2006/main">
              <a:ext uri="{FF2B5EF4-FFF2-40B4-BE49-F238E27FC236}">
                <a16:creationId xmlns:a16="http://schemas.microsoft.com/office/drawing/2014/main" id="{B33D5F60-DC67-447C-86A8-3852AD20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169664"/>
            <a:ext cx="1965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7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3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attribution completeness by channel</a:t>
            </a:r>
          </a:p>
        </p:txBody>
      </p:sp>
      <p:sp>
        <p:nvSpPr>
          <p:cNvPr id="53" name="Text 46">
            <a:extLst xmlns:a="http://schemas.openxmlformats.org/drawingml/2006/main">
              <a:ext uri="{FF2B5EF4-FFF2-40B4-BE49-F238E27FC236}">
                <a16:creationId xmlns:a16="http://schemas.microsoft.com/office/drawing/2014/main" id="{1750A82B-5ED2-43B1-A549-2A1E9C56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928616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1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700" b="1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Coforge   |   Confidential — for PMI discussion</a:t>
            </a:r>
          </a:p>
        </p:txBody>
      </p:sp>
      <p:sp>
        <p:nvSpPr>
          <p:cNvPr id="54" name="Text 47">
            <a:extLst xmlns:a="http://schemas.openxmlformats.org/drawingml/2006/main">
              <a:ext uri="{FF2B5EF4-FFF2-40B4-BE49-F238E27FC236}">
                <a16:creationId xmlns:a16="http://schemas.microsoft.com/office/drawing/2014/main" id="{E222F661-49FF-4A5E-AA52-BB18E381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8616"/>
            <a:ext cx="76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638" b="0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7 / 13</a:t>
            </a:r>
          </a:p>
        </p:txBody>
      </p:sp>
    </p:spTree>
    <p:extLst>
      <p:ext uri="{BB962C8B-B14F-4D97-AF65-F5344CB8AC3E}">
        <p14:creationId xmlns:p14="http://schemas.microsoft.com/office/powerpoint/2010/main" val="15133464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FEE605-1539-4A8A-B895-B41187FF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93A50C-CCAB-4B36-90CD-2AFDA0FE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FA6"/>
          </a:solidFill>
          <a:ln xmlns:a="http://schemas.openxmlformats.org/drawingml/2006/main" w="0">
            <a:solidFill>
              <a:srgbClr val="3F6FA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E354319-2BA5-4DEA-A2F8-6C32EF2B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100584"/>
            <a:ext cx="8503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SOLUTION DEEP-DIVE · CHALLENGE 3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267523-5C1D-4A3B-AA7B-11F1EF93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92608"/>
            <a:ext cx="8549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172A46"/>
                </a:solidFill>
                <a:latin typeface="Georgia"/>
                <a:ea typeface="Georgia"/>
                <a:cs typeface="Georgia"/>
              </a:defRPr>
            </a:pPr>
            <a:r>
              <a:rPr sz="2000" b="1">
                <a:solidFill>
                  <a:srgbClr val="172A46"/>
                </a:solidFill>
                <a:latin typeface="Georgia"/>
                <a:ea typeface="Georgia"/>
                <a:cs typeface="Georgia"/>
              </a:rPr>
              <a:t>Unify permitted signals—do not promise universal identity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2D3DAD-91C2-46A9-9B09-D68AD69F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822960"/>
            <a:ext cx="8549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1000" b="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Four controls turn fragmented first-party data into a measurable view while respecting consent, age eligibility and local policy.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42774E5-3933-423E-A799-6E93DC73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170432"/>
            <a:ext cx="4206240" cy="146304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7554614-B4CC-4F89-A624-8243D316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170432"/>
            <a:ext cx="420624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BFCBF7D-528D-468E-9D17-8D3CCABB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1289304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0fa7505aa4e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776" y="1362456"/>
            <a:ext cx="146304" cy="146304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09458BF-EC13-44B2-8B58-5ADD1DBD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280160"/>
            <a:ext cx="35295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1 · CONSENTED CAPTURE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4021D05-64C4-434F-B33E-BD0DE1F5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5920"/>
            <a:ext cx="384048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Prioritise owned and first-party signals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Use server-side collection to control routing and improve data quality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Use clean rooms only for approved, privacy-safe collaboration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07DFCBB-CF81-485F-8C3B-D45D7475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170432"/>
            <a:ext cx="4206240" cy="146304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59EC74C-5B26-462B-A603-6548C546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170432"/>
            <a:ext cx="420624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C6885690-EF04-42CE-BA5B-1E153588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1289304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93fd8fc2b4d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2896" y="1362456"/>
            <a:ext cx="146304" cy="146304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10A6E1F-54AB-4818-B55D-3A6D2334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280160"/>
            <a:ext cx="35295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2 · CONSENT &amp; IDENTITY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F4910DAA-A9D0-4557-9B4F-70C96B2B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645920"/>
            <a:ext cx="384048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Version consent state and purpose; enforce at use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Prefer deterministic keys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Use probabilistic linkage only with policy, legal and risk approval</a:t>
            </a:r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7D47D7B-A716-4725-B72E-187EAE74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743200"/>
            <a:ext cx="4206240" cy="146304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163C4B8D-6B5B-452C-A7F9-613949A9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743200"/>
            <a:ext cx="420624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D651E4B-6F7B-4E1D-AD1C-E8E07933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286207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f6697423741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776" y="2935224"/>
            <a:ext cx="146304" cy="146304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B9ACEF0D-08EA-40C9-BF7C-B09BC05F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852928"/>
            <a:ext cx="35295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3 · CUSTOMER INTELLIGENCE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956B4BC6-7D7F-459D-AEB1-2A6BEEE9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8688"/>
            <a:ext cx="384048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Define the 21-day outcome and eligible population with PMI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Train explainable models on permitted features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Measure bias, drift and business lift before activation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53DC8384-EA62-4AE6-B6E7-388FC074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43200"/>
            <a:ext cx="4206240" cy="146304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C94D2A82-F933-4E51-8389-F4A0D55F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43200"/>
            <a:ext cx="420624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36C348C8-FE23-4C16-B192-ED234F89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286207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5e2d18bdb4e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2896" y="2935224"/>
            <a:ext cx="146304" cy="146304"/>
          </a:xfrm>
          <a:prstGeom xmlns:a="http://schemas.openxmlformats.org/drawingml/2006/main" prst="rect">
            <a:avLst/>
          </a:prstGeom>
        </p:spPr>
      </p:pic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4F3C675-8FBE-4D8C-A85F-4E774F18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852928"/>
            <a:ext cx="35295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4 · ACTIVATION &amp; MEASUREMENT</a:t>
            </a:r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3D38F809-D897-48C2-9137-38443E42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18688"/>
            <a:ext cx="384048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Activate only eligible audiences into confirmed journeys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Check age and purpose at every egress</a:t>
            </a:r>
          </a:p>
          <a:p xmlns:a="http://schemas.openxmlformats.org/drawingml/2006/main">
            <a:pPr marL="127000" indent="-127000" algn="l">
              <a:lnSpc>
                <a:spcPct val="100000"/>
              </a:lnSpc>
              <a:spcAft>
                <a:spcPts val="4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Use platform APIs to improve signal completeness—not guarantee attribution</a:t>
            </a:r>
          </a:p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C7CF8211-2CDD-41CE-9CA7-31091AAA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370832"/>
            <a:ext cx="859536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AB9B37F9-DD24-4891-BE44-B582AD60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70832"/>
            <a:ext cx="8138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3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9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THE ELIGIBLE CUSTOMER—DO NOT TRACK EVERY CLICK.   The target is a purpose-bound view with measurable confidence and auditability.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E74A273-73BA-4003-8BF1-4F32D6EA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928616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1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700" b="1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Coforge   |   Confidential — for PMI discussion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7101D6A8-86CC-47DF-9766-DFF2AEFB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8616"/>
            <a:ext cx="76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638" b="0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8 / 13</a:t>
            </a:r>
          </a:p>
        </p:txBody>
      </p:sp>
    </p:spTree>
    <p:extLst>
      <p:ext uri="{BB962C8B-B14F-4D97-AF65-F5344CB8AC3E}">
        <p14:creationId xmlns:p14="http://schemas.microsoft.com/office/powerpoint/2010/main" val="12738048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227EFFC-78AB-43DB-983C-85F18106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41C5743-88A6-4510-813F-F6FDF3D0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FA6"/>
          </a:solidFill>
          <a:ln xmlns:a="http://schemas.openxmlformats.org/drawingml/2006/main" w="0">
            <a:solidFill>
              <a:srgbClr val="3F6FA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AE91216-AC2E-4C69-9E71-5B82D2DE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100584"/>
            <a:ext cx="8503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TARGET STATE · ONE FOUNDATION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47FDC18-5C52-4659-BFE2-A74BC8AD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92608"/>
            <a:ext cx="8549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100" b="1">
                <a:solidFill>
                  <a:srgbClr val="172A4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A46"/>
                </a:solidFill>
                <a:latin typeface="Georgia"/>
                <a:ea typeface="Georgia"/>
                <a:cs typeface="Georgia"/>
              </a:rPr>
              <a:t>Extend confirmed platforms—avoid premature lock-in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7D93763-722D-4BCA-9816-EE251D64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822960"/>
            <a:ext cx="8549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1000" b="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Five layers describe the target pattern. Product choices remain candidates until tenants, licences, regions and integration constraints are validated.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113B092-DC64-4100-B4BF-4251957D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170432"/>
            <a:ext cx="8595360" cy="566928"/>
          </a:xfrm>
          <a:prstGeom xmlns:a="http://schemas.openxmlformats.org/drawingml/2006/main" prst="roundRect">
            <a:avLst>
              <a:gd name="adj" fmla="val 134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000000">
                <a:alpha val="7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6664AA8-B563-4727-88E7-831336A5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252728"/>
            <a:ext cx="1737360" cy="402336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4495438-44BC-42AF-A947-C40F40D4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252728"/>
            <a:ext cx="17373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1430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73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7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L5  ·  </a:t>
            </a:r>
            <a:r>
              <a:rPr sz="7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CONSUMPTION &amp; ACTIVATION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C2356C6-7D76-40C0-8AC0-016886E7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1170432"/>
            <a:ext cx="6492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82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2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CMO cockpit · governed ask-your-data · conversion cockpit · eligible journeys via confirmed Salesforce / Adobe services · feedback to HQ strategy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CEED200-D791-4877-8E42-FB000BD2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0"/>
            <a:ext cx="8595360" cy="566928"/>
          </a:xfrm>
          <a:prstGeom xmlns:a="http://schemas.openxmlformats.org/drawingml/2006/main" prst="roundRect">
            <a:avLst>
              <a:gd name="adj" fmla="val 134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000000">
                <a:alpha val="7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026299C-9108-40F7-8F10-C6B2893D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911096"/>
            <a:ext cx="1737360" cy="402336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C1CA32E-E3CD-4426-B1B2-2096AE76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911096"/>
            <a:ext cx="17373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1430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73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7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L4  ·  </a:t>
            </a:r>
            <a:r>
              <a:rPr sz="7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AGENTIC AI LAYER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8DD857F-19F9-4092-A850-6083A39C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1828800"/>
            <a:ext cx="6492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82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2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Compliance retrieval and routing · anomaly and Text2SQL agents · identity and propensity services · human oversight and model controls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309EE5A-679F-4CD1-B2D8-D12768D7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487168"/>
            <a:ext cx="8595360" cy="566928"/>
          </a:xfrm>
          <a:prstGeom xmlns:a="http://schemas.openxmlformats.org/drawingml/2006/main" prst="roundRect">
            <a:avLst>
              <a:gd name="adj" fmla="val 10081"/>
            </a:avLst>
          </a:prstGeom>
          <a:solidFill xmlns:a="http://schemas.openxmlformats.org/drawingml/2006/main">
            <a:srgbClr val="E8EFF7"/>
          </a:solidFill>
          <a:ln xmlns:a="http://schemas.openxmlformats.org/drawingml/2006/main" w="5715">
            <a:solidFill>
              <a:srgbClr val="D7DEE8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3072410-4869-493C-B365-B7618C0C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569464"/>
            <a:ext cx="1737360" cy="402336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EA5F8FD-B218-49CA-BBBB-F7621C5E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569464"/>
            <a:ext cx="17373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1430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73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7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L3  ·  </a:t>
            </a:r>
            <a:r>
              <a:rPr sz="7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GOVERNED DATA PRODUCTS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0E5CF31-EEE1-4D69-B0B7-C6979D79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2487168"/>
            <a:ext cx="6492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82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2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Marketing 360 · Toolkit Adoption · Legal-Age Customer 360 · Content Hub / transcreation memory · Consent Ledger — on the validated enterprise data platform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6440A36-7137-46F6-A150-D8DC6E5D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145536"/>
            <a:ext cx="8595360" cy="566928"/>
          </a:xfrm>
          <a:prstGeom xmlns:a="http://schemas.openxmlformats.org/drawingml/2006/main" prst="roundRect">
            <a:avLst>
              <a:gd name="adj" fmla="val 134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000000">
                <a:alpha val="7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D18D845-4706-47E2-8755-22C50CFA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227832"/>
            <a:ext cx="1737360" cy="402336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1B59153-17FB-42A1-8AB6-94F1F9B5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227832"/>
            <a:ext cx="17373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1430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73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7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L2  ·  </a:t>
            </a:r>
            <a:r>
              <a:rPr sz="7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INGESTION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7F4FC60-7497-4B43-87A1-73878011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3145536"/>
            <a:ext cx="6492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82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2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Approved-source connectors · existing ELT where fit · server-side consented events · phased Datorama transition after parity checks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0C0BB9D-768D-4F0A-A0CC-23E58970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803904"/>
            <a:ext cx="8595360" cy="566928"/>
          </a:xfrm>
          <a:prstGeom xmlns:a="http://schemas.openxmlformats.org/drawingml/2006/main" prst="roundRect">
            <a:avLst>
              <a:gd name="adj" fmla="val 134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000000">
                <a:alpha val="7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0F253B9-6EAD-4402-AA45-210A1102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886200"/>
            <a:ext cx="1737360" cy="402336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5808C94-DFD0-4BF1-8ADC-14713DFF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886200"/>
            <a:ext cx="17373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1430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73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7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L1  ·  </a:t>
            </a:r>
            <a:r>
              <a:rPr sz="7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SOURCES &amp; CONSENT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C52FEB8-F2C7-4273-B2A8-7F776C28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3803904"/>
            <a:ext cx="6492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82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2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Client source inventory · owned-channel signals · product/platform data where lawful · DAM/CRM · market rulebooks · consent and age-eligibility signals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1F9F262-2D5B-4E79-96A2-70A4D080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4480560"/>
            <a:ext cx="8549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5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5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CROSS-CUTTING   Privacy: GDPR / CCPA and local law  ·  Product / marketing: PMTA / EU TPD / local codes  ·  lineage  ·  auditability  ·  brand and age controls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CAFEBA4-1022-4236-95BB-4B87B2B5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928616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1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700" b="1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Coforge   |   Confidential — for PMI discussion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66CA0C0-D7E6-4F6A-9D85-70A989E9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8616"/>
            <a:ext cx="76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638" b="0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9 / 13</a:t>
            </a:r>
          </a:p>
        </p:txBody>
      </p:sp>
    </p:spTree>
    <p:extLst>
      <p:ext uri="{BB962C8B-B14F-4D97-AF65-F5344CB8AC3E}">
        <p14:creationId xmlns:p14="http://schemas.microsoft.com/office/powerpoint/2010/main" val="1739980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76D5C02-9FAA-4AC9-AC9D-ED348046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C56DA96-9FE0-4C33-A5E4-4CCB82AE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FA6"/>
          </a:solidFill>
          <a:ln xmlns:a="http://schemas.openxmlformats.org/drawingml/2006/main" w="0">
            <a:solidFill>
              <a:srgbClr val="3F6FA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EBE5951-CA5E-4023-BBF1-3C97780D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100584"/>
            <a:ext cx="8503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CROSS-CUTTING · CONTROL FRAMEWORK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CD10158-FF93-4C16-B9D2-0D197132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92608"/>
            <a:ext cx="8549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172A46"/>
                </a:solidFill>
                <a:latin typeface="Georgia"/>
                <a:ea typeface="Georgia"/>
                <a:cs typeface="Georgia"/>
              </a:defRPr>
            </a:pPr>
            <a:r>
              <a:rPr sz="2000" b="1">
                <a:solidFill>
                  <a:srgbClr val="172A46"/>
                </a:solidFill>
                <a:latin typeface="Georgia"/>
                <a:ea typeface="Georgia"/>
                <a:cs typeface="Georgia"/>
              </a:rPr>
              <a:t>Governance separates privacy, content and model risk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E5C6F07-3BF1-45CF-9B33-06B7A311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822960"/>
            <a:ext cx="8549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1000" b="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Six guardrails span the architecture, but each has a distinct owner, evidence standard and enforcement point.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683AB56-4FF6-4111-8B14-17327110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188720"/>
            <a:ext cx="2743200" cy="1389888"/>
          </a:xfrm>
          <a:prstGeom xmlns:a="http://schemas.openxmlformats.org/drawingml/2006/main" prst="roundRect">
            <a:avLst>
              <a:gd name="adj" fmla="val 54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A290745-D1B5-41DA-AFA4-7A08EB35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1316736"/>
            <a:ext cx="36576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9795e8f8d4b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064" y="1408176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0FDB1A4-294A-4F80-85AB-DCD0CEEF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1737360"/>
            <a:ext cx="24505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Privacy purpose controls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1CE3204-1AAD-48F4-915E-5FF6FE76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1975104"/>
            <a:ext cx="24505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7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Apply GDPR / CCPA and local requirements to collection, use, sharing, retention and deletion. TPD is handled separately.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78E99CD-47E7-456F-8406-71674440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88720"/>
            <a:ext cx="2743200" cy="1389888"/>
          </a:xfrm>
          <a:prstGeom xmlns:a="http://schemas.openxmlformats.org/drawingml/2006/main" prst="roundRect">
            <a:avLst>
              <a:gd name="adj" fmla="val 54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21773D0-B720-4FE2-89EA-58019061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1316736"/>
            <a:ext cx="36576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667b2d2044f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38144" y="1408176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CD494722-7C6A-49BA-BDC9-17922FCC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1737360"/>
            <a:ext cx="24505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Catalog &amp; lineage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493E4392-9D7C-4EA4-BB46-B54FE148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1975104"/>
            <a:ext cx="24505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7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Trace every KPI, audience and model feature to its source, definition, owner and freshness.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6F334441-9500-4355-89C9-746A01E7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188720"/>
            <a:ext cx="2743200" cy="1389888"/>
          </a:xfrm>
          <a:prstGeom xmlns:a="http://schemas.openxmlformats.org/drawingml/2006/main" prst="roundRect">
            <a:avLst>
              <a:gd name="adj" fmla="val 54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A8D417C4-D7B7-466E-BE39-461470C1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316736"/>
            <a:ext cx="36576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6cbd0501246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4224" y="1408176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57C24F1-DD32-4FC8-B0D3-663D28D8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737360"/>
            <a:ext cx="24505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Identity &amp; age eligibility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080D3D89-DCBF-4E59-99AA-1317DDF7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75104"/>
            <a:ext cx="24505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7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Use governed customer and product records; confirm CIAM and age-verification controls by market.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5523C5F-FF47-4253-8C01-97B01802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706624"/>
            <a:ext cx="2743200" cy="1389888"/>
          </a:xfrm>
          <a:prstGeom xmlns:a="http://schemas.openxmlformats.org/drawingml/2006/main" prst="roundRect">
            <a:avLst>
              <a:gd name="adj" fmla="val 54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00DA8BB3-173E-4439-9914-462AF2C6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2834640"/>
            <a:ext cx="36576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a018a9d854f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064" y="2926080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FA969A16-21F6-49C9-80FC-DCAE0B6F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3255264"/>
            <a:ext cx="24505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Security &amp; access</a:t>
            </a:r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5D3C764D-FE48-436A-B5BE-0C937C46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3493008"/>
            <a:ext cx="24505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7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Apply least privilege and approved identity providers. Hosting, tenancy and key management require confirmation.</a:t>
            </a:r>
          </a:p>
        </p:txBody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DB59F130-B0C4-4260-AC36-208A3E3C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06624"/>
            <a:ext cx="2743200" cy="1389888"/>
          </a:xfrm>
          <a:prstGeom xmlns:a="http://schemas.openxmlformats.org/drawingml/2006/main" prst="roundRect">
            <a:avLst>
              <a:gd name="adj" fmla="val 54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CE0CCE77-70BD-43C6-B7FE-1512C7C5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2834640"/>
            <a:ext cx="36576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pic>
        <p:nvPicPr>
          <p:cNvPr id="7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bd02c74fa4d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38144" y="2926080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59A19B7F-6FEE-45FC-A8A8-857EF087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3255264"/>
            <a:ext cx="24505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Auditability</a:t>
            </a:r>
          </a:p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4F79B96-FFA3-48FC-9CA0-42F45E21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3493008"/>
            <a:ext cx="24505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7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Log model version, context, evidence, reviewer, decision and release. Define retention and immutability controls.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F9E77AD7-EADF-4EDF-8F8C-5959C3CA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706624"/>
            <a:ext cx="2743200" cy="1389888"/>
          </a:xfrm>
          <a:prstGeom xmlns:a="http://schemas.openxmlformats.org/drawingml/2006/main" prst="roundRect">
            <a:avLst>
              <a:gd name="adj" fmla="val 54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8A15F61D-8E0B-497E-9B48-FBC12AFE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834640"/>
            <a:ext cx="36576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pic>
        <p:nvPicPr>
          <p:cNvPr id="7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a8436483a41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4224" y="2926080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02EE0276-EC47-43E7-B524-861717BA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255264"/>
            <a:ext cx="24505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Brand &amp; market rules</a:t>
            </a:r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7990999D-4F13-4BDC-8503-B5435991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493008"/>
            <a:ext cx="24505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7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Check approved brand rules and applicable product / marketing restrictions before release; counsel remains accountable.</a:t>
            </a:r>
          </a:p>
        </p:txBody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357376DD-B63A-4465-B7C9-A35F6B83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261104"/>
            <a:ext cx="8595360" cy="493776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0B08A5A-B9A0-44E4-8B58-6F9E9A7B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61104"/>
            <a:ext cx="81381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3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9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COMPLIANCE IS A CONTROL SYSTEM, NOT A CLAIM.   Policies, evidence, ownership and exceptions must be testable in the pilot.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D19BEDFD-CC95-4221-9A2D-B2ECDED6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928616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1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700" b="1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Coforge   |   Confidential — for PMI discussion</a:t>
            </a:r>
          </a:p>
        </p:txBody>
      </p:sp>
      <p:sp>
        <p:nvSpPr>
          <p:cNvPr id="40" name="Text 32">
            <a:extLst xmlns:a="http://schemas.openxmlformats.org/drawingml/2006/main">
              <a:ext uri="{FF2B5EF4-FFF2-40B4-BE49-F238E27FC236}">
                <a16:creationId xmlns:a16="http://schemas.microsoft.com/office/drawing/2014/main" id="{3D365C1A-9AA7-4E44-B30A-DBF77665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8616"/>
            <a:ext cx="76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638" b="0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11911920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7C5E2D9-6FAD-4C51-A6FC-C56A0E32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4F37DA8-BBE4-44DA-ACE9-66D70BBE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FA6"/>
          </a:solidFill>
          <a:ln xmlns:a="http://schemas.openxmlformats.org/drawingml/2006/main" w="0">
            <a:solidFill>
              <a:srgbClr val="3F6FA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A5B1E3E-00F4-4F54-8A37-CF1BA811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100584"/>
            <a:ext cx="8503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CLOSING THE LOOP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58FD44B-7881-4841-878A-17958C39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92608"/>
            <a:ext cx="8549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100" b="1">
                <a:solidFill>
                  <a:srgbClr val="172A4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A46"/>
                </a:solidFill>
                <a:latin typeface="Georgia"/>
                <a:ea typeface="Georgia"/>
                <a:cs typeface="Georgia"/>
              </a:rPr>
              <a:t>Close the loop through governed activation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224DA1-F860-4D4A-B4AF-9CCB70E0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822960"/>
            <a:ext cx="8549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1000" b="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The operating model closes the loop without assuming a platform entitlement or a guaranteed outcome.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5EBA5D0-2305-4577-8351-76EF170A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207008"/>
            <a:ext cx="27432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CC6451B-8001-43DE-9DC1-7900BE4C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207008"/>
            <a:ext cx="27432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62E8D19-078D-4A3A-A0B1-CCD4DBD6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1353312"/>
            <a:ext cx="274320" cy="2743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F280738-F4F7-4BEF-A473-302764FE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1353312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013E51D-3C2E-4FD8-9FC2-CA1A1E10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32588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Governed data → activation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6D87F55-684A-42D3-A292-7579E8ED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5376"/>
            <a:ext cx="2377440" cy="1956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27000" indent="-127000" algn="l">
              <a:lnSpc>
                <a:spcPct val="102000"/>
              </a:lnSpc>
              <a:spcAft>
                <a:spcPts val="6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Use Salesforce Data 360 zero-copy with Snowflake only where supported and approved</a:t>
            </a:r>
          </a:p>
          <a:p xmlns:a="http://schemas.openxmlformats.org/drawingml/2006/main">
            <a:pPr marL="127000" indent="-127000" algn="l">
              <a:lnSpc>
                <a:spcPct val="102000"/>
              </a:lnSpc>
              <a:spcAft>
                <a:spcPts val="6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Expose governed audiences, offers and scores through contracts and APIs</a:t>
            </a:r>
          </a:p>
          <a:p xmlns:a="http://schemas.openxmlformats.org/drawingml/2006/main">
            <a:pPr marL="127000" indent="-127000" algn="l">
              <a:lnSpc>
                <a:spcPct val="102000"/>
              </a:lnSpc>
              <a:spcAft>
                <a:spcPts val="6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Trigger journeys from consented events with defined latency and failure handling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2A0F605-0182-43DC-B28D-7DDF0CA9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207008"/>
            <a:ext cx="27432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0000ACB-EC19-48E8-99E3-A66D88F4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207008"/>
            <a:ext cx="27432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96C90EA-D858-4C61-A327-F4B05B3A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1353312"/>
            <a:ext cx="274320" cy="2743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7B8C921-E114-4196-9F22-3FC80CA7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1353312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E576A77-A46C-4D54-B7E3-CB30E8B4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132588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AI-assisted content → Adobe workflow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207CBB2-6D50-4063-8840-6165E077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865376"/>
            <a:ext cx="2377440" cy="1956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27000" indent="-127000" algn="l">
              <a:lnSpc>
                <a:spcPct val="102000"/>
              </a:lnSpc>
              <a:spcAft>
                <a:spcPts val="6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Use confirmed GenStudio, Firefly, Workfront and AEM capabilities</a:t>
            </a:r>
          </a:p>
          <a:p xmlns:a="http://schemas.openxmlformats.org/drawingml/2006/main">
            <a:pPr marL="127000" indent="-127000" algn="l">
              <a:lnSpc>
                <a:spcPct val="102000"/>
              </a:lnSpc>
              <a:spcAft>
                <a:spcPts val="6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Tag assets to the approved taxonomy and retain provenance</a:t>
            </a:r>
          </a:p>
          <a:p xmlns:a="http://schemas.openxmlformats.org/drawingml/2006/main">
            <a:pPr marL="127000" indent="-127000" algn="l">
              <a:lnSpc>
                <a:spcPct val="102000"/>
              </a:lnSpc>
              <a:spcAft>
                <a:spcPts val="6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Run the proposed regulatory pre-check before human review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ADE675-23D7-47B1-9FC2-F2788FCA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207008"/>
            <a:ext cx="27432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D57EF18-EC82-48D7-AA8E-5959EF81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207008"/>
            <a:ext cx="27432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D169970-653B-4502-962C-656A8654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353312"/>
            <a:ext cx="274320" cy="2743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F955C52-76CD-46A1-96BB-F5042774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353312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33F8107-8E08-4D5F-82A2-94D8C53D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132588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95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5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Eligible journeys → measurable outcomes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E99A1D3-1364-467A-8E89-7FD7ACC8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65376"/>
            <a:ext cx="2377440" cy="1956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27000" indent="-127000" algn="l">
              <a:lnSpc>
                <a:spcPct val="102000"/>
              </a:lnSpc>
              <a:spcAft>
                <a:spcPts val="6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Compose audiences from approved attributes and model scores</a:t>
            </a:r>
          </a:p>
          <a:p xmlns:a="http://schemas.openxmlformats.org/drawingml/2006/main">
            <a:pPr marL="127000" indent="-127000" algn="l">
              <a:lnSpc>
                <a:spcPct val="102000"/>
              </a:lnSpc>
              <a:spcAft>
                <a:spcPts val="6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Apply age and purpose gates before every activation</a:t>
            </a:r>
          </a:p>
          <a:p xmlns:a="http://schemas.openxmlformats.org/drawingml/2006/main">
            <a:pPr marL="127000" indent="-127000" algn="l">
              <a:lnSpc>
                <a:spcPct val="102000"/>
              </a:lnSpc>
              <a:spcAft>
                <a:spcPts val="600"/>
              </a:spcAft>
              <a:buChar char="•"/>
              <a:defRPr sz="79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9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Return delivery and conversion events to agreed KPI definitions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C472A70-EF66-402D-B03F-9C18062B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133088"/>
            <a:ext cx="8595360" cy="621792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7811C16-53EE-4FE7-82BE-75029BAA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197096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5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Activation latency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B407FF0-0E46-496A-85CE-F7638D48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62272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72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approved audience → channel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46F00FF-C8BC-4FF5-A506-E9B89C72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242816"/>
            <a:ext cx="0" cy="4023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A6E8546-6596-49F1-84C4-224C99AE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97096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5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movement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A2BD09B-59C5-4426-A25C-BD0317E2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62272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72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zero-copy where supported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3C8852A-C070-4E38-9D6A-2E851C8B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42816"/>
            <a:ext cx="0" cy="4023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08E0D0C-22B0-4DA3-BF65-84E58342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197096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5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Control coverage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31AE201-6916-44C7-8852-CF308608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462272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72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age, purpose and approval gates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D05DCA16-C56E-4163-904F-4DAF23D4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242816"/>
            <a:ext cx="0" cy="4023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D4E54D6-98F8-481F-A2EE-B50F5357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197096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5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Platform fit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E42397E-79ED-4CE0-9321-174D6FC9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462272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72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confirmed licences and regions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61A1131-FAC7-44DF-86B4-FE77A46C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928616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1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700" b="1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Coforge   |   Confidential — for PMI discussion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76DA23E-D436-4F70-97EA-A594F6AE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8616"/>
            <a:ext cx="76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638" b="0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9329533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DF8741-9F0F-473B-B62A-749D7D26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113115-1953-4619-820A-80BC62DE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FA6"/>
          </a:solidFill>
          <a:ln xmlns:a="http://schemas.openxmlformats.org/drawingml/2006/main" w="0">
            <a:solidFill>
              <a:srgbClr val="3F6FA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41D6333-37E3-4C62-8399-F4EE3D8F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100584"/>
            <a:ext cx="8503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PROPOSED PILOT PLAN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3E3EE6D-AFD0-4894-8B81-DA8B87F4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92608"/>
            <a:ext cx="8549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100" b="1">
                <a:solidFill>
                  <a:srgbClr val="172A4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A46"/>
                </a:solidFill>
                <a:latin typeface="Georgia"/>
                <a:ea typeface="Georgia"/>
                <a:cs typeface="Georgia"/>
              </a:rPr>
              <a:t>Decision-ready pilot by week 12; scale proof by week 20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9C27B0F-51DB-413E-9002-89D4A10C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932688"/>
            <a:ext cx="1066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5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5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M1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EB92189-4A66-4339-8814-556A3565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932688"/>
            <a:ext cx="1066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5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5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M2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21428C8-95E3-4BDD-8B65-01840DC4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932688"/>
            <a:ext cx="1066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5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5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M3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699AA6C-C29E-4F46-B84F-41A4D019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932688"/>
            <a:ext cx="1066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5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5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M4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7508FA5-EF74-45B0-9E9C-D64E7C86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080" y="932688"/>
            <a:ext cx="1066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5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5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M5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7EA0C4E-0104-4B54-8CFB-66B859EE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932688"/>
            <a:ext cx="1066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5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5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M6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FCDDFDC-4CBB-4BEA-98AF-7ACB771E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152144"/>
            <a:ext cx="0" cy="2505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A33C9E2-E66A-4B59-81EB-697015EE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1152144"/>
            <a:ext cx="0" cy="2505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BFB8F0E-F29F-41A7-B1BC-9E3BCDAE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152144"/>
            <a:ext cx="0" cy="2505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045AE0D-FD32-4165-9044-16AD42E9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152144"/>
            <a:ext cx="0" cy="2505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E80737D-FFC7-4430-BB2A-AA8CEE44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080" y="1152144"/>
            <a:ext cx="0" cy="2505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D49C959-5AB9-424F-A6DE-920BE5F5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52144"/>
            <a:ext cx="0" cy="2505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610BF06-F327-43CB-8147-9FE22D87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152144"/>
            <a:ext cx="0" cy="2505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8D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1D4FEDF-B0A3-4E60-A6A6-5A899245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188720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8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8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Mobilise, inventory &amp; architecture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FA0ADDA-1E92-4B6C-9F7F-296C629C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252728"/>
            <a:ext cx="1011936" cy="201168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61FDA23-6268-48D0-B1DC-870EE078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68" y="1188720"/>
            <a:ext cx="53157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00" b="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scope and control sign-off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D310C8F-DA7A-4318-B5D4-4A73BD6F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60934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8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8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PoV 1 · Governed intelligence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785D58E-E4C1-4601-B0B8-AF0F5421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673352"/>
            <a:ext cx="3145536" cy="201168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DD1762B-132F-4744-B829-55E5C736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568" y="1609344"/>
            <a:ext cx="3182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00" b="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first decision workflow · wk 12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AA39D03-AC7F-49AE-9949-62AC9DA4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029968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8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8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PoV 2 · Content controls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6EBAF20-B8F4-48D6-B065-A02B4056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2093976"/>
            <a:ext cx="3145536" cy="201168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ECCE7F9-CA76-46A8-9604-AEFB3D4E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4368" y="2029968"/>
            <a:ext cx="21153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00" b="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review workflow · wk 16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E0195C1-B432-4378-AF5E-48327A86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4505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8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8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PoV 3 · Consent-led view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30AE2526-A9AB-4BE9-AD25-C4F77D28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2514600"/>
            <a:ext cx="3678936" cy="201168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6F93BC"/>
          </a:solidFill>
          <a:ln xmlns:a="http://schemas.openxmlformats.org/drawingml/2006/main" w="0">
            <a:solidFill>
              <a:srgbClr val="6F93BC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A5510EF-252C-444C-903D-B85FFADF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450592"/>
            <a:ext cx="15819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00" b="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pilot customer view · wk 18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A8C7853-48AB-4AD5-90B4-E22DCEF0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871216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8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8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Activation integration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58B1A09A-E894-4956-9F7E-386B15AF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935224"/>
            <a:ext cx="1545336" cy="201168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F6FA6"/>
          </a:solidFill>
          <a:ln xmlns:a="http://schemas.openxmlformats.org/drawingml/2006/main" w="0">
            <a:solidFill>
              <a:srgbClr val="3F6FA6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4BA7766-966F-4021-BED7-5E0B3FFB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871216"/>
            <a:ext cx="15819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00" b="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approved interfaces · wk 20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A0F86C5-6195-48DE-B1BE-CD6BA37B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91840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8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8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Readout &amp; scale decision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4671BF57-0BF0-4002-BBF3-60D16C22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3355848"/>
            <a:ext cx="1011936" cy="201168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3BE8186-A23B-415F-A56B-F272C6A3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3355848"/>
            <a:ext cx="1011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decision gate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2F2EA3F1-AE3C-415A-B896-FC1B2175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3730752"/>
            <a:ext cx="8549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2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◆ GATES   M1 data / licence / regulatory scope  ·  M3 first decision workflow  ·  M5 controlled activation  ·  M6 scale recommendation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FEE3606-30CB-4224-A4D0-37A51224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023360"/>
            <a:ext cx="4206240" cy="841248"/>
          </a:xfrm>
          <a:prstGeom xmlns:a="http://schemas.openxmlformats.org/drawingml/2006/main" prst="roundRect">
            <a:avLst>
              <a:gd name="adj" fmla="val 6793"/>
            </a:avLst>
          </a:prstGeom>
          <a:solidFill xmlns:a="http://schemas.openxmlformats.org/drawingml/2006/main">
            <a:srgbClr val="E8EFF7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02C1B3C-458C-4DF2-AE9C-75B6B787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4096512"/>
            <a:ext cx="39136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0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0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THE ASK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691AE374-49AE-42AE-A052-0B3CEA2C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4270248"/>
            <a:ext cx="39136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8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3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Nominate one pilot market and a joint product, data, marketing, privacy and legal team. Mobilisation target: within two weeks of go-ahead, subject to access and stakeholder availability.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7F6841B3-FD4A-4833-B16D-973B873D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023360"/>
            <a:ext cx="4206240" cy="841248"/>
          </a:xfrm>
          <a:prstGeom xmlns:a="http://schemas.openxmlformats.org/drawingml/2006/main" prst="roundRect">
            <a:avLst>
              <a:gd name="adj" fmla="val 90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CAA2F171-B145-4242-888B-33F1CE23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4096512"/>
            <a:ext cx="39136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00" b="1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00" b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SIZED AFTER THE VALIDATED PILOT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FCB23E1-108B-43A0-AB30-7A7C968B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4270248"/>
            <a:ext cx="391363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83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83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Historical migration / Datorama decommissioning · organisation and market rollout · MMM / attribution scale-out · managed run model · commerce / POS integration.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46ACB170-8124-4334-83E6-1492D351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928616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1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700" b="1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Coforge   |   Confidential — for PMI discussion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DB3F7453-ADE7-4E24-AA7C-2DE877DD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8616"/>
            <a:ext cx="76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638" b="0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15982741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76D5C02-9FAA-4AC9-AC9D-ED348046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C56DA96-9FE0-4C33-A5E4-4CCB82AE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FA6"/>
          </a:solidFill>
          <a:ln xmlns:a="http://schemas.openxmlformats.org/drawingml/2006/main" w="0">
            <a:solidFill>
              <a:srgbClr val="3F6FA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EBE5951-CA5E-4023-BBF1-3C97780D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100584"/>
            <a:ext cx="8503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3F6FA6"/>
                </a:solidFill>
                <a:latin typeface="Calibri"/>
                <a:ea typeface="Calibri"/>
                <a:cs typeface="Calibri"/>
              </a:rPr>
              <a:t>APPENDIX · VALIDATION REGISTER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CD10158-FF93-4C16-B9D2-0D197132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92608"/>
            <a:ext cx="8549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00" b="1">
                <a:solidFill>
                  <a:srgbClr val="172A46"/>
                </a:solidFill>
                <a:latin typeface="Georgia"/>
                <a:ea typeface="Georgia"/>
                <a:cs typeface="Georgia"/>
              </a:defRPr>
            </a:pPr>
            <a:r>
              <a:rPr sz="2000" b="1">
                <a:solidFill>
                  <a:srgbClr val="172A46"/>
                </a:solidFill>
                <a:latin typeface="Georgia"/>
                <a:ea typeface="Georgia"/>
                <a:cs typeface="Georgia"/>
              </a:rPr>
              <a:t>What is verified—and what must still be confirmed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E5C6F07-3BF1-45CF-9B33-06B7A311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822960"/>
            <a:ext cx="8549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0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1000" b="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This PoV distinguishes public evidence, client inputs, proposed capabilities and pilot targets so no assumption is presented as a proven outcome.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683AB56-4FF6-4111-8B14-17327110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188720"/>
            <a:ext cx="2743200" cy="1389888"/>
          </a:xfrm>
          <a:prstGeom xmlns:a="http://schemas.openxmlformats.org/drawingml/2006/main" prst="roundRect">
            <a:avLst>
              <a:gd name="adj" fmla="val 54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A290745-D1B5-41DA-AFA4-7A08EB35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1316736"/>
            <a:ext cx="36576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8981f8cd144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064" y="1408176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0FDB1A4-294A-4F80-85AB-DCD0CEEF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1737360"/>
            <a:ext cx="24505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PMI scale · verified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1CE3204-1AAD-48F4-915E-5FF6FE76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1975104"/>
            <a:ext cx="24505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7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2025 Annual Report: products sold in approximately 170 markets; smoke-free products in 106 markets at year-end 2025.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78E99CD-47E7-456F-8406-71674440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88720"/>
            <a:ext cx="2743200" cy="1389888"/>
          </a:xfrm>
          <a:prstGeom xmlns:a="http://schemas.openxmlformats.org/drawingml/2006/main" prst="roundRect">
            <a:avLst>
              <a:gd name="adj" fmla="val 54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21773D0-B720-4FE2-89EA-58019061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1316736"/>
            <a:ext cx="36576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3bc4d049c48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38144" y="1408176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CD494722-7C6A-49BA-BDC9-17922FCC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1737360"/>
            <a:ext cx="24505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Portfolio · verified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493E4392-9D7C-4EA4-BB46-B54FE148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1975104"/>
            <a:ext cx="24505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7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PMI identifies IQOS, ZYN and VEEV as leading smoke-free brands.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6F334441-9500-4355-89C9-746A01E7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188720"/>
            <a:ext cx="2743200" cy="1389888"/>
          </a:xfrm>
          <a:prstGeom xmlns:a="http://schemas.openxmlformats.org/drawingml/2006/main" prst="roundRect">
            <a:avLst>
              <a:gd name="adj" fmla="val 54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A8D417C4-D7B7-466E-BE39-461470C1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316736"/>
            <a:ext cx="36576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3677d792e4e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4224" y="1408176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57C24F1-DD32-4FC8-B0D3-663D28D8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737360"/>
            <a:ext cx="24505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Adobe capability · verified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080D3D89-DCBF-4E59-99AA-1317DDF7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75104"/>
            <a:ext cx="24505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7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Adobe documents GenStudio integration with Workfront and Experience Manager Assets; Firefly supports scaled creation.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5523C5F-FF47-4253-8C01-97B01802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706624"/>
            <a:ext cx="2743200" cy="1389888"/>
          </a:xfrm>
          <a:prstGeom xmlns:a="http://schemas.openxmlformats.org/drawingml/2006/main" prst="roundRect">
            <a:avLst>
              <a:gd name="adj" fmla="val 54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00DA8BB3-173E-4439-9914-462AF2C6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2834640"/>
            <a:ext cx="36576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3f25cd76c4f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064" y="2926080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FA969A16-21F6-49C9-80FC-DCAE0B6F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3255264"/>
            <a:ext cx="24505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Data federation · verified</a:t>
            </a:r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5D3C764D-FE48-436A-B5BE-0C937C46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3493008"/>
            <a:ext cx="24505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7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Salesforce and Snowflake document zero-copy federation. Applicability depends on PMI regions, editions and configuration.</a:t>
            </a:r>
          </a:p>
        </p:txBody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DB59F130-B0C4-4260-AC36-208A3E3C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06624"/>
            <a:ext cx="2743200" cy="1389888"/>
          </a:xfrm>
          <a:prstGeom xmlns:a="http://schemas.openxmlformats.org/drawingml/2006/main" prst="roundRect">
            <a:avLst>
              <a:gd name="adj" fmla="val 54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CE0CCE77-70BD-43C6-B7FE-1512C7C5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2834640"/>
            <a:ext cx="36576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pic>
        <p:nvPicPr>
          <p:cNvPr id="7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4426e301f41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38144" y="2926080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59A19B7F-6FEE-45FC-A8A8-857EF087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3255264"/>
            <a:ext cx="24505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Client inputs · confirm</a:t>
            </a:r>
          </a:p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4F79B96-FFA3-48FC-9CA0-42F45E21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3493008"/>
            <a:ext cx="24505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7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16+ channels / ~900 interfaces, Datorama scope, platform ownership, Data Ocean and the 21-day journey.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F9E77AD7-EADF-4EDF-8F8C-5959C3CA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706624"/>
            <a:ext cx="2743200" cy="1389888"/>
          </a:xfrm>
          <a:prstGeom xmlns:a="http://schemas.openxmlformats.org/drawingml/2006/main" prst="roundRect">
            <a:avLst>
              <a:gd name="adj" fmla="val 54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  <a:effectLst xmlns:a="http://schemas.openxmlformats.org/drawingml/2006/main">
            <a:outerShdw blurRad="63500" dist="25400" dir="54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8A15F61D-8E0B-497E-9B48-FBC12AFE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834640"/>
            <a:ext cx="36576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</p:spPr>
      </p:sp>
      <p:pic>
        <p:nvPicPr>
          <p:cNvPr id="7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9df1ce61042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4224" y="2926080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02EE0276-EC47-43E7-B524-861717BA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255264"/>
            <a:ext cx="24505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72A4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2A46"/>
                </a:solidFill>
                <a:latin typeface="Calibri"/>
                <a:ea typeface="Calibri"/>
                <a:cs typeface="Calibri"/>
              </a:rPr>
              <a:t>Pilot outcomes · baseline</a:t>
            </a:r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7990999D-4F13-4BDC-8503-B5435991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493008"/>
            <a:ext cx="24505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780" b="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780" b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Cost, speed, review effort, identity quality, conversion and activation KPIs require baselines before targets are approved.</a:t>
            </a:r>
          </a:p>
        </p:txBody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357376DD-B63A-4465-B7C9-A35F6B83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261104"/>
            <a:ext cx="8595360" cy="493776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243B5A"/>
          </a:solidFill>
          <a:ln xmlns:a="http://schemas.openxmlformats.org/drawingml/2006/main" w="0">
            <a:solidFill>
              <a:srgbClr val="243B5A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0B08A5A-B9A0-44E4-8B58-6F9E9A7B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61104"/>
            <a:ext cx="81381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30" b="1">
                <a:solidFill>
                  <a:srgbClr val="3F6FA6"/>
                </a:solidFill>
                <a:latin typeface="Calibri"/>
                <a:ea typeface="Calibri"/>
                <a:cs typeface="Calibri"/>
              </a:defRPr>
            </a:pPr>
            <a:r>
              <a:rPr sz="93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REGULATORY CORRECTION   GDPR / CCPA govern personal data; PMTA / EU TPD / local codes govern product and marketing obligations. Official sources are in the notes.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D19BEDFD-CC95-4221-9A2D-B2ECDED6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928616"/>
            <a:ext cx="7315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00" b="1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700" b="1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Coforge   |   Confidential — for PMI discussion</a:t>
            </a:r>
          </a:p>
        </p:txBody>
      </p:sp>
      <p:sp>
        <p:nvSpPr>
          <p:cNvPr id="40" name="Text 32">
            <a:extLst xmlns:a="http://schemas.openxmlformats.org/drawingml/2006/main">
              <a:ext uri="{FF2B5EF4-FFF2-40B4-BE49-F238E27FC236}">
                <a16:creationId xmlns:a16="http://schemas.microsoft.com/office/drawing/2014/main" id="{3D365C1A-9AA7-4E44-B30A-DBF77665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8616"/>
            <a:ext cx="76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638" b="0">
                <a:solidFill>
                  <a:srgbClr val="6B778C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6B778C"/>
                </a:solidFill>
                <a:latin typeface="Calibri"/>
                <a:ea typeface="Calibri"/>
                <a:cs typeface="Calibri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119119202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2026-07-22T07:20:59.3580000Z</dcterms:created>
  <dcterms:modified xsi:type="dcterms:W3CDTF">2026-07-22T07:20:59.3580000Z</dcterms:modified>
</coreProperties>
</file>